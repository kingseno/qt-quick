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21" r:id="rId2"/>
  </p:sldMasterIdLst>
  <p:notesMasterIdLst>
    <p:notesMasterId r:id="rId85"/>
  </p:notesMasterIdLst>
  <p:sldIdLst>
    <p:sldId id="257" r:id="rId3"/>
    <p:sldId id="258" r:id="rId4"/>
    <p:sldId id="364" r:id="rId5"/>
    <p:sldId id="365" r:id="rId6"/>
    <p:sldId id="366" r:id="rId7"/>
    <p:sldId id="368" r:id="rId8"/>
    <p:sldId id="367" r:id="rId9"/>
    <p:sldId id="369" r:id="rId10"/>
    <p:sldId id="370" r:id="rId11"/>
    <p:sldId id="371" r:id="rId12"/>
    <p:sldId id="372" r:id="rId13"/>
    <p:sldId id="373" r:id="rId14"/>
    <p:sldId id="374" r:id="rId15"/>
    <p:sldId id="375" r:id="rId16"/>
    <p:sldId id="376" r:id="rId17"/>
    <p:sldId id="401" r:id="rId18"/>
    <p:sldId id="377" r:id="rId19"/>
    <p:sldId id="378" r:id="rId20"/>
    <p:sldId id="379" r:id="rId21"/>
    <p:sldId id="381" r:id="rId22"/>
    <p:sldId id="380" r:id="rId23"/>
    <p:sldId id="382" r:id="rId24"/>
    <p:sldId id="383" r:id="rId25"/>
    <p:sldId id="384" r:id="rId26"/>
    <p:sldId id="385" r:id="rId27"/>
    <p:sldId id="386" r:id="rId28"/>
    <p:sldId id="387" r:id="rId29"/>
    <p:sldId id="388" r:id="rId30"/>
    <p:sldId id="389" r:id="rId31"/>
    <p:sldId id="390" r:id="rId32"/>
    <p:sldId id="436" r:id="rId33"/>
    <p:sldId id="437" r:id="rId34"/>
    <p:sldId id="438" r:id="rId35"/>
    <p:sldId id="439" r:id="rId36"/>
    <p:sldId id="440" r:id="rId37"/>
    <p:sldId id="441" r:id="rId38"/>
    <p:sldId id="442" r:id="rId39"/>
    <p:sldId id="391" r:id="rId40"/>
    <p:sldId id="392" r:id="rId41"/>
    <p:sldId id="393" r:id="rId42"/>
    <p:sldId id="394" r:id="rId43"/>
    <p:sldId id="395" r:id="rId44"/>
    <p:sldId id="396" r:id="rId45"/>
    <p:sldId id="397" r:id="rId46"/>
    <p:sldId id="398" r:id="rId47"/>
    <p:sldId id="399" r:id="rId48"/>
    <p:sldId id="400" r:id="rId49"/>
    <p:sldId id="402" r:id="rId50"/>
    <p:sldId id="403" r:id="rId51"/>
    <p:sldId id="404" r:id="rId52"/>
    <p:sldId id="405" r:id="rId53"/>
    <p:sldId id="406" r:id="rId54"/>
    <p:sldId id="407" r:id="rId55"/>
    <p:sldId id="408" r:id="rId56"/>
    <p:sldId id="409" r:id="rId57"/>
    <p:sldId id="410" r:id="rId58"/>
    <p:sldId id="411" r:id="rId59"/>
    <p:sldId id="412" r:id="rId60"/>
    <p:sldId id="413" r:id="rId61"/>
    <p:sldId id="414" r:id="rId62"/>
    <p:sldId id="415" r:id="rId63"/>
    <p:sldId id="416" r:id="rId64"/>
    <p:sldId id="417" r:id="rId65"/>
    <p:sldId id="418" r:id="rId66"/>
    <p:sldId id="419" r:id="rId67"/>
    <p:sldId id="420" r:id="rId68"/>
    <p:sldId id="421" r:id="rId69"/>
    <p:sldId id="422" r:id="rId70"/>
    <p:sldId id="423" r:id="rId71"/>
    <p:sldId id="424" r:id="rId72"/>
    <p:sldId id="425" r:id="rId73"/>
    <p:sldId id="426" r:id="rId74"/>
    <p:sldId id="427" r:id="rId75"/>
    <p:sldId id="428" r:id="rId76"/>
    <p:sldId id="429" r:id="rId77"/>
    <p:sldId id="430" r:id="rId78"/>
    <p:sldId id="431" r:id="rId79"/>
    <p:sldId id="432" r:id="rId80"/>
    <p:sldId id="433" r:id="rId81"/>
    <p:sldId id="434" r:id="rId82"/>
    <p:sldId id="435" r:id="rId83"/>
    <p:sldId id="291"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130" autoAdjust="0"/>
  </p:normalViewPr>
  <p:slideViewPr>
    <p:cSldViewPr snapToGrid="0">
      <p:cViewPr varScale="1">
        <p:scale>
          <a:sx n="85" d="100"/>
          <a:sy n="85" d="100"/>
        </p:scale>
        <p:origin x="15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AEC7F-C272-42D8-A261-3DCF875DE68D}" type="datetimeFigureOut">
              <a:rPr lang="en-US" smtClean="0"/>
              <a:t>11/3/2020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B06D3D-660E-4CC6-B139-9A7EE3679EAA}" type="slidenum">
              <a:rPr lang="en-US" smtClean="0"/>
              <a:t>‹#›</a:t>
            </a:fld>
            <a:endParaRPr lang="en-US"/>
          </a:p>
        </p:txBody>
      </p:sp>
    </p:spTree>
    <p:extLst>
      <p:ext uri="{BB962C8B-B14F-4D97-AF65-F5344CB8AC3E}">
        <p14:creationId xmlns:p14="http://schemas.microsoft.com/office/powerpoint/2010/main" val="3249876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561743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135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1079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0067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3471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891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5987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4429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7377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433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236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506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536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8116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324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9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5780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299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859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8046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1598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0932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462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1638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0938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5455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14115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925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289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7897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8211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66822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03808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6310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66969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60535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5817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84505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316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252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17005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0811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80235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2767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41099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0401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68395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7683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668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7129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77265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just">
              <a:spcBef>
                <a:spcPts val="600"/>
              </a:spcBef>
              <a:spcAft>
                <a:spcPts val="600"/>
              </a:spcAft>
            </a:pPr>
            <a:r>
              <a:rPr lang="en-US" dirty="0" smtClean="0"/>
              <a:t>The workflow of Unit Testing is:</a:t>
            </a:r>
          </a:p>
          <a:p>
            <a:pPr algn="just">
              <a:spcBef>
                <a:spcPts val="600"/>
              </a:spcBef>
              <a:spcAft>
                <a:spcPts val="600"/>
              </a:spcAft>
            </a:pPr>
            <a:r>
              <a:rPr lang="en-US" dirty="0" smtClean="0"/>
              <a:t>1. Create Test Cases </a:t>
            </a:r>
          </a:p>
          <a:p>
            <a:pPr algn="just">
              <a:spcBef>
                <a:spcPts val="600"/>
              </a:spcBef>
              <a:spcAft>
                <a:spcPts val="600"/>
              </a:spcAft>
            </a:pPr>
            <a:r>
              <a:rPr lang="en-US" dirty="0" smtClean="0"/>
              <a:t>2. Review/Rework </a:t>
            </a:r>
          </a:p>
          <a:p>
            <a:pPr algn="just">
              <a:spcBef>
                <a:spcPts val="600"/>
              </a:spcBef>
              <a:spcAft>
                <a:spcPts val="600"/>
              </a:spcAft>
            </a:pPr>
            <a:r>
              <a:rPr lang="en-US" dirty="0" smtClean="0"/>
              <a:t>3. Baseline </a:t>
            </a:r>
          </a:p>
          <a:p>
            <a:pPr algn="just">
              <a:spcBef>
                <a:spcPts val="600"/>
              </a:spcBef>
              <a:spcAft>
                <a:spcPts val="600"/>
              </a:spcAft>
            </a:pPr>
            <a:r>
              <a:rPr lang="en-US" dirty="0" smtClean="0"/>
              <a:t>4. Execute Test Cases.</a:t>
            </a:r>
          </a:p>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62975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45419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44939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039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02637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74239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0292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8527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61110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1828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1860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4634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31215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81177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7641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19652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05100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3692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50902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19632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278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71734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26557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8012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81655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54238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25372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3019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43804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50000"/>
              </a:lnSpc>
              <a:spcBef>
                <a:spcPts val="600"/>
              </a:spcBef>
              <a:spcAft>
                <a:spcPts val="600"/>
              </a:spcAft>
              <a:buNone/>
            </a:pPr>
            <a:endParaRPr dirty="0"/>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97533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719430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2"/>
        <p:cNvGrpSpPr/>
        <p:nvPr/>
      </p:nvGrpSpPr>
      <p:grpSpPr>
        <a:xfrm>
          <a:off x="0" y="0"/>
          <a:ext cx="0" cy="0"/>
          <a:chOff x="0" y="0"/>
          <a:chExt cx="0" cy="0"/>
        </a:xfrm>
      </p:grpSpPr>
      <p:pic>
        <p:nvPicPr>
          <p:cNvPr id="13" name="Google Shape;13;p3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38"/>
          <p:cNvSpPr txBox="1">
            <a:spLocks noGrp="1"/>
          </p:cNvSpPr>
          <p:nvPr>
            <p:ph type="ctrTitle"/>
          </p:nvPr>
        </p:nvSpPr>
        <p:spPr>
          <a:xfrm>
            <a:off x="4636643" y="4898876"/>
            <a:ext cx="7162800" cy="70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3000"/>
              <a:buFont typeface="Roboto Condensed"/>
              <a:buNone/>
              <a:defRPr sz="4000">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38"/>
          <p:cNvSpPr txBox="1">
            <a:spLocks noGrp="1"/>
          </p:cNvSpPr>
          <p:nvPr>
            <p:ph type="subTitle" idx="1"/>
          </p:nvPr>
        </p:nvSpPr>
        <p:spPr>
          <a:xfrm>
            <a:off x="4664268" y="5432447"/>
            <a:ext cx="7125600" cy="4508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1067"/>
              </a:spcBef>
              <a:spcAft>
                <a:spcPts val="0"/>
              </a:spcAft>
              <a:buClr>
                <a:schemeClr val="dk1"/>
              </a:buClr>
              <a:buSzPts val="1700"/>
              <a:buFont typeface="Roboto Condensed"/>
              <a:buNone/>
              <a:defRPr sz="2267">
                <a:latin typeface="Roboto Condensed"/>
                <a:ea typeface="Roboto Condensed"/>
                <a:cs typeface="Roboto Condensed"/>
                <a:sym typeface="Roboto Condensed"/>
              </a:defRPr>
            </a:lvl1pPr>
            <a:lvl2pPr lvl="1" algn="ctr">
              <a:lnSpc>
                <a:spcPct val="90000"/>
              </a:lnSpc>
              <a:spcBef>
                <a:spcPts val="533"/>
              </a:spcBef>
              <a:spcAft>
                <a:spcPts val="0"/>
              </a:spcAft>
              <a:buClr>
                <a:schemeClr val="dk1"/>
              </a:buClr>
              <a:buSzPts val="1500"/>
              <a:buFont typeface="Roboto Condensed"/>
              <a:buNone/>
              <a:defRPr sz="2000">
                <a:latin typeface="Roboto Condensed"/>
                <a:ea typeface="Roboto Condensed"/>
                <a:cs typeface="Roboto Condensed"/>
                <a:sym typeface="Roboto Condensed"/>
              </a:defRPr>
            </a:lvl2pPr>
            <a:lvl3pPr lvl="2" algn="ctr">
              <a:lnSpc>
                <a:spcPct val="90000"/>
              </a:lnSpc>
              <a:spcBef>
                <a:spcPts val="533"/>
              </a:spcBef>
              <a:spcAft>
                <a:spcPts val="0"/>
              </a:spcAft>
              <a:buClr>
                <a:schemeClr val="dk1"/>
              </a:buClr>
              <a:buSzPts val="1400"/>
              <a:buFont typeface="Roboto Condensed"/>
              <a:buNone/>
              <a:defRPr sz="1867">
                <a:latin typeface="Roboto Condensed"/>
                <a:ea typeface="Roboto Condensed"/>
                <a:cs typeface="Roboto Condensed"/>
                <a:sym typeface="Roboto Condensed"/>
              </a:defRPr>
            </a:lvl3pPr>
            <a:lvl4pPr lvl="3"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4pPr>
            <a:lvl5pPr lvl="4"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5pPr>
            <a:lvl6pPr lvl="5"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6pPr>
            <a:lvl7pPr lvl="6"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7pPr>
            <a:lvl8pPr lvl="7"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8pPr>
            <a:lvl9pPr lvl="8"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483324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BG]" preserve="1">
  <p:cSld name="Title and Body [BG]">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39"/>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4800"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18" name="Google Shape;18;p39"/>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Tree>
    <p:extLst>
      <p:ext uri="{BB962C8B-B14F-4D97-AF65-F5344CB8AC3E}">
        <p14:creationId xmlns:p14="http://schemas.microsoft.com/office/powerpoint/2010/main" val="1362047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BG]" preserve="1">
  <p:cSld name="Blank [BG]">
    <p:bg>
      <p:bgPr>
        <a:blipFill>
          <a:blip r:embed="rId2">
            <a:alphaModFix/>
          </a:blip>
          <a:stretch>
            <a:fillRect/>
          </a:stretch>
        </a:blipFill>
        <a:effectLst/>
      </p:bgPr>
    </p:bg>
    <p:spTree>
      <p:nvGrpSpPr>
        <p:cNvPr id="1" name="Shape 19"/>
        <p:cNvGrpSpPr/>
        <p:nvPr/>
      </p:nvGrpSpPr>
      <p:grpSpPr>
        <a:xfrm>
          <a:off x="0" y="0"/>
          <a:ext cx="0" cy="0"/>
          <a:chOff x="0" y="0"/>
          <a:chExt cx="0" cy="0"/>
        </a:xfrm>
      </p:grpSpPr>
    </p:spTree>
    <p:extLst>
      <p:ext uri="{BB962C8B-B14F-4D97-AF65-F5344CB8AC3E}">
        <p14:creationId xmlns:p14="http://schemas.microsoft.com/office/powerpoint/2010/main" val="467894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4" preserve="1">
  <p:cSld name="Section header 4">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43"/>
          <p:cNvSpPr txBox="1">
            <a:spLocks noGrp="1"/>
          </p:cNvSpPr>
          <p:nvPr>
            <p:ph type="ctrTitle"/>
          </p:nvPr>
        </p:nvSpPr>
        <p:spPr>
          <a:xfrm>
            <a:off x="1685100" y="1745933"/>
            <a:ext cx="8876400" cy="20184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rgbClr val="FFFFFF"/>
              </a:buClr>
              <a:buSzPts val="3800"/>
              <a:buFont typeface="Roboto Condensed"/>
              <a:buNone/>
              <a:defRPr>
                <a:solidFill>
                  <a:srgbClr val="FFFFFF"/>
                </a:solidFill>
                <a:latin typeface="Roboto Condensed"/>
                <a:ea typeface="Roboto Condensed"/>
                <a:cs typeface="Roboto Condensed"/>
                <a:sym typeface="Roboto Condensed"/>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95723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 Highlight 2" preserve="1">
  <p:cSld name="Title and Body - Highlight 2">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4"/>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4800"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24" name="Google Shape;24;p44"/>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
        <p:nvSpPr>
          <p:cNvPr id="25" name="Google Shape;25;p44"/>
          <p:cNvSpPr/>
          <p:nvPr/>
        </p:nvSpPr>
        <p:spPr>
          <a:xfrm rot="5400000">
            <a:off x="-293000" y="650100"/>
            <a:ext cx="686800" cy="100800"/>
          </a:xfrm>
          <a:prstGeom prst="rect">
            <a:avLst/>
          </a:prstGeom>
          <a:solidFill>
            <a:srgbClr val="EFC41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1939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 Right" preserve="1">
  <p:cSld name="One Column - Right">
    <p:spTree>
      <p:nvGrpSpPr>
        <p:cNvPr id="1" name="Shape 26"/>
        <p:cNvGrpSpPr/>
        <p:nvPr/>
      </p:nvGrpSpPr>
      <p:grpSpPr>
        <a:xfrm>
          <a:off x="0" y="0"/>
          <a:ext cx="0" cy="0"/>
          <a:chOff x="0" y="0"/>
          <a:chExt cx="0" cy="0"/>
        </a:xfrm>
      </p:grpSpPr>
      <p:sp>
        <p:nvSpPr>
          <p:cNvPr id="27" name="Google Shape;27;p45"/>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28" name="Google Shape;28;p45"/>
          <p:cNvSpPr txBox="1">
            <a:spLocks noGrp="1"/>
          </p:cNvSpPr>
          <p:nvPr>
            <p:ph type="body" idx="1"/>
          </p:nvPr>
        </p:nvSpPr>
        <p:spPr>
          <a:xfrm>
            <a:off x="6306533"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167374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 Left" preserve="1">
  <p:cSld name="One column - Left">
    <p:spTree>
      <p:nvGrpSpPr>
        <p:cNvPr id="1" name="Shape 29"/>
        <p:cNvGrpSpPr/>
        <p:nvPr/>
      </p:nvGrpSpPr>
      <p:grpSpPr>
        <a:xfrm>
          <a:off x="0" y="0"/>
          <a:ext cx="0" cy="0"/>
          <a:chOff x="0" y="0"/>
          <a:chExt cx="0" cy="0"/>
        </a:xfrm>
      </p:grpSpPr>
      <p:sp>
        <p:nvSpPr>
          <p:cNvPr id="30" name="Google Shape;30;p46"/>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31" name="Google Shape;31;p46"/>
          <p:cNvSpPr txBox="1">
            <a:spLocks noGrp="1"/>
          </p:cNvSpPr>
          <p:nvPr>
            <p:ph type="body" idx="1"/>
          </p:nvPr>
        </p:nvSpPr>
        <p:spPr>
          <a:xfrm>
            <a:off x="436600"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139733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e end" preserve="1">
  <p:cSld name="The end">
    <p:spTree>
      <p:nvGrpSpPr>
        <p:cNvPr id="1" name="Shape 32"/>
        <p:cNvGrpSpPr/>
        <p:nvPr/>
      </p:nvGrpSpPr>
      <p:grpSpPr>
        <a:xfrm>
          <a:off x="0" y="0"/>
          <a:ext cx="0" cy="0"/>
          <a:chOff x="0" y="0"/>
          <a:chExt cx="0" cy="0"/>
        </a:xfrm>
      </p:grpSpPr>
      <p:pic>
        <p:nvPicPr>
          <p:cNvPr id="33" name="Google Shape;33;p4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4" name="Google Shape;34;p47"/>
          <p:cNvSpPr txBox="1">
            <a:spLocks noGrp="1"/>
          </p:cNvSpPr>
          <p:nvPr>
            <p:ph type="title"/>
          </p:nvPr>
        </p:nvSpPr>
        <p:spPr>
          <a:xfrm>
            <a:off x="372767" y="2838433"/>
            <a:ext cx="11446400" cy="20144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6000"/>
              <a:buFont typeface="Roboto Condensed"/>
              <a:buNone/>
              <a:defRPr sz="8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210770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BG]" preserve="1">
  <p:cSld name="Title Only [BG]">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48"/>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103451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end" preserve="1">
  <p:cSld name="The end">
    <p:spTree>
      <p:nvGrpSpPr>
        <p:cNvPr id="1" name="Shape 40"/>
        <p:cNvGrpSpPr/>
        <p:nvPr/>
      </p:nvGrpSpPr>
      <p:grpSpPr>
        <a:xfrm>
          <a:off x="0" y="0"/>
          <a:ext cx="0" cy="0"/>
          <a:chOff x="0" y="0"/>
          <a:chExt cx="0" cy="0"/>
        </a:xfrm>
      </p:grpSpPr>
      <p:pic>
        <p:nvPicPr>
          <p:cNvPr id="41" name="Google Shape;41;p4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2" name="Google Shape;42;p41"/>
          <p:cNvSpPr txBox="1">
            <a:spLocks noGrp="1"/>
          </p:cNvSpPr>
          <p:nvPr>
            <p:ph type="title"/>
          </p:nvPr>
        </p:nvSpPr>
        <p:spPr>
          <a:xfrm>
            <a:off x="372767" y="2838433"/>
            <a:ext cx="11446400" cy="20144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6000"/>
              <a:buFont typeface="Roboto Condensed"/>
              <a:buNone/>
              <a:defRPr sz="8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3103508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43"/>
        <p:cNvGrpSpPr/>
        <p:nvPr/>
      </p:nvGrpSpPr>
      <p:grpSpPr>
        <a:xfrm>
          <a:off x="0" y="0"/>
          <a:ext cx="0" cy="0"/>
          <a:chOff x="0" y="0"/>
          <a:chExt cx="0" cy="0"/>
        </a:xfrm>
      </p:grpSpPr>
      <p:pic>
        <p:nvPicPr>
          <p:cNvPr id="44" name="Google Shape;44;p4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 name="Google Shape;45;p49"/>
          <p:cNvSpPr txBox="1">
            <a:spLocks noGrp="1"/>
          </p:cNvSpPr>
          <p:nvPr>
            <p:ph type="ctrTitle"/>
          </p:nvPr>
        </p:nvSpPr>
        <p:spPr>
          <a:xfrm>
            <a:off x="4636643" y="4898876"/>
            <a:ext cx="7162800" cy="70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3000"/>
              <a:buFont typeface="Roboto Condensed"/>
              <a:buNone/>
              <a:defRPr sz="4000">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49"/>
          <p:cNvSpPr txBox="1">
            <a:spLocks noGrp="1"/>
          </p:cNvSpPr>
          <p:nvPr>
            <p:ph type="subTitle" idx="1"/>
          </p:nvPr>
        </p:nvSpPr>
        <p:spPr>
          <a:xfrm>
            <a:off x="4664268" y="5432447"/>
            <a:ext cx="7125600" cy="4508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1067"/>
              </a:spcBef>
              <a:spcAft>
                <a:spcPts val="0"/>
              </a:spcAft>
              <a:buClr>
                <a:schemeClr val="dk1"/>
              </a:buClr>
              <a:buSzPts val="1700"/>
              <a:buFont typeface="Roboto Condensed"/>
              <a:buNone/>
              <a:defRPr sz="2267">
                <a:latin typeface="Roboto Condensed"/>
                <a:ea typeface="Roboto Condensed"/>
                <a:cs typeface="Roboto Condensed"/>
                <a:sym typeface="Roboto Condensed"/>
              </a:defRPr>
            </a:lvl1pPr>
            <a:lvl2pPr lvl="1" algn="ctr">
              <a:lnSpc>
                <a:spcPct val="90000"/>
              </a:lnSpc>
              <a:spcBef>
                <a:spcPts val="533"/>
              </a:spcBef>
              <a:spcAft>
                <a:spcPts val="0"/>
              </a:spcAft>
              <a:buClr>
                <a:schemeClr val="dk1"/>
              </a:buClr>
              <a:buSzPts val="1500"/>
              <a:buFont typeface="Roboto Condensed"/>
              <a:buNone/>
              <a:defRPr sz="2000">
                <a:latin typeface="Roboto Condensed"/>
                <a:ea typeface="Roboto Condensed"/>
                <a:cs typeface="Roboto Condensed"/>
                <a:sym typeface="Roboto Condensed"/>
              </a:defRPr>
            </a:lvl2pPr>
            <a:lvl3pPr lvl="2" algn="ctr">
              <a:lnSpc>
                <a:spcPct val="90000"/>
              </a:lnSpc>
              <a:spcBef>
                <a:spcPts val="533"/>
              </a:spcBef>
              <a:spcAft>
                <a:spcPts val="0"/>
              </a:spcAft>
              <a:buClr>
                <a:schemeClr val="dk1"/>
              </a:buClr>
              <a:buSzPts val="1400"/>
              <a:buFont typeface="Roboto Condensed"/>
              <a:buNone/>
              <a:defRPr sz="1867">
                <a:latin typeface="Roboto Condensed"/>
                <a:ea typeface="Roboto Condensed"/>
                <a:cs typeface="Roboto Condensed"/>
                <a:sym typeface="Roboto Condensed"/>
              </a:defRPr>
            </a:lvl3pPr>
            <a:lvl4pPr lvl="3"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4pPr>
            <a:lvl5pPr lvl="4"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5pPr>
            <a:lvl6pPr lvl="5"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6pPr>
            <a:lvl7pPr lvl="6"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7pPr>
            <a:lvl8pPr lvl="7"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8pPr>
            <a:lvl9pPr lvl="8"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3754581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BG]" preserve="1">
  <p:cSld name="Blank [BG]">
    <p:bg>
      <p:bgPr>
        <a:blipFill>
          <a:blip r:embed="rId2">
            <a:alphaModFix/>
          </a:blip>
          <a:stretch>
            <a:fillRect/>
          </a:stretch>
        </a:blipFill>
        <a:effectLst/>
      </p:bgPr>
    </p:bg>
    <p:spTree>
      <p:nvGrpSpPr>
        <p:cNvPr id="1" name="Shape 47"/>
        <p:cNvGrpSpPr/>
        <p:nvPr/>
      </p:nvGrpSpPr>
      <p:grpSpPr>
        <a:xfrm>
          <a:off x="0" y="0"/>
          <a:ext cx="0" cy="0"/>
          <a:chOff x="0" y="0"/>
          <a:chExt cx="0" cy="0"/>
        </a:xfrm>
      </p:grpSpPr>
    </p:spTree>
    <p:extLst>
      <p:ext uri="{BB962C8B-B14F-4D97-AF65-F5344CB8AC3E}">
        <p14:creationId xmlns:p14="http://schemas.microsoft.com/office/powerpoint/2010/main" val="42345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4" preserve="1">
  <p:cSld name="Section header 4">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51"/>
          <p:cNvSpPr txBox="1">
            <a:spLocks noGrp="1"/>
          </p:cNvSpPr>
          <p:nvPr>
            <p:ph type="ctrTitle"/>
          </p:nvPr>
        </p:nvSpPr>
        <p:spPr>
          <a:xfrm>
            <a:off x="1685100" y="1745933"/>
            <a:ext cx="8876400" cy="20184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rgbClr val="FFFFFF"/>
              </a:buClr>
              <a:buSzPts val="3800"/>
              <a:buFont typeface="Roboto Condensed"/>
              <a:buNone/>
              <a:defRPr>
                <a:solidFill>
                  <a:srgbClr val="FFFFFF"/>
                </a:solidFill>
                <a:latin typeface="Roboto Condensed"/>
                <a:ea typeface="Roboto Condensed"/>
                <a:cs typeface="Roboto Condensed"/>
                <a:sym typeface="Roboto Condensed"/>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4092193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BG]" preserve="1">
  <p:cSld name="Title and Body [BG]">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52"/>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2" name="Google Shape;52;p52"/>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Tree>
    <p:extLst>
      <p:ext uri="{BB962C8B-B14F-4D97-AF65-F5344CB8AC3E}">
        <p14:creationId xmlns:p14="http://schemas.microsoft.com/office/powerpoint/2010/main" val="1622310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 Highlight 2" preserve="1">
  <p:cSld name="Title and Body - Highlight 2">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53"/>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5" name="Google Shape;55;p53"/>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
        <p:nvSpPr>
          <p:cNvPr id="56" name="Google Shape;56;p53"/>
          <p:cNvSpPr/>
          <p:nvPr/>
        </p:nvSpPr>
        <p:spPr>
          <a:xfrm rot="5400000">
            <a:off x="-293000" y="650100"/>
            <a:ext cx="686800" cy="100800"/>
          </a:xfrm>
          <a:prstGeom prst="rect">
            <a:avLst/>
          </a:prstGeom>
          <a:solidFill>
            <a:srgbClr val="EFC41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50953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 Right" preserve="1">
  <p:cSld name="One Column - Right">
    <p:spTree>
      <p:nvGrpSpPr>
        <p:cNvPr id="1" name="Shape 57"/>
        <p:cNvGrpSpPr/>
        <p:nvPr/>
      </p:nvGrpSpPr>
      <p:grpSpPr>
        <a:xfrm>
          <a:off x="0" y="0"/>
          <a:ext cx="0" cy="0"/>
          <a:chOff x="0" y="0"/>
          <a:chExt cx="0" cy="0"/>
        </a:xfrm>
      </p:grpSpPr>
      <p:sp>
        <p:nvSpPr>
          <p:cNvPr id="58" name="Google Shape;58;p54"/>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9" name="Google Shape;59;p54"/>
          <p:cNvSpPr txBox="1">
            <a:spLocks noGrp="1"/>
          </p:cNvSpPr>
          <p:nvPr>
            <p:ph type="body" idx="1"/>
          </p:nvPr>
        </p:nvSpPr>
        <p:spPr>
          <a:xfrm>
            <a:off x="6306533"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3848500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 Left" preserve="1">
  <p:cSld name="One column - Left">
    <p:spTree>
      <p:nvGrpSpPr>
        <p:cNvPr id="1" name="Shape 60"/>
        <p:cNvGrpSpPr/>
        <p:nvPr/>
      </p:nvGrpSpPr>
      <p:grpSpPr>
        <a:xfrm>
          <a:off x="0" y="0"/>
          <a:ext cx="0" cy="0"/>
          <a:chOff x="0" y="0"/>
          <a:chExt cx="0" cy="0"/>
        </a:xfrm>
      </p:grpSpPr>
      <p:sp>
        <p:nvSpPr>
          <p:cNvPr id="61" name="Google Shape;61;p55"/>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62" name="Google Shape;62;p55"/>
          <p:cNvSpPr txBox="1">
            <a:spLocks noGrp="1"/>
          </p:cNvSpPr>
          <p:nvPr>
            <p:ph type="body" idx="1"/>
          </p:nvPr>
        </p:nvSpPr>
        <p:spPr>
          <a:xfrm>
            <a:off x="436600"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8729500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BG]" preserve="1">
  <p:cSld name="Title Only [BG]">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6"/>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Tree>
    <p:extLst>
      <p:ext uri="{BB962C8B-B14F-4D97-AF65-F5344CB8AC3E}">
        <p14:creationId xmlns:p14="http://schemas.microsoft.com/office/powerpoint/2010/main" val="93611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800"/>
              <a:buFont typeface="Roboto Condensed"/>
              <a:buNone/>
              <a:defRPr sz="3800" b="1" i="0" u="none" strike="noStrike" cap="none">
                <a:solidFill>
                  <a:schemeClr val="dk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1" name="Google Shape;11;p37"/>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just" rtl="0">
              <a:lnSpc>
                <a:spcPct val="114000"/>
              </a:lnSpc>
              <a:spcBef>
                <a:spcPts val="0"/>
              </a:spcBef>
              <a:spcAft>
                <a:spcPts val="0"/>
              </a:spcAft>
              <a:buClr>
                <a:schemeClr val="dk1"/>
              </a:buClr>
              <a:buSzPts val="1500"/>
              <a:buFont typeface="Roboto Condensed"/>
              <a:buNone/>
              <a:defRPr sz="1500" b="0" i="0" u="none" strike="noStrike" cap="none">
                <a:solidFill>
                  <a:schemeClr val="dk1"/>
                </a:solidFill>
                <a:latin typeface="Roboto Condensed"/>
                <a:ea typeface="Roboto Condensed"/>
                <a:cs typeface="Roboto Condensed"/>
                <a:sym typeface="Roboto Condensed"/>
              </a:defRPr>
            </a:lvl1pPr>
            <a:lvl2pPr marL="914400" marR="0" lvl="1" indent="-311150" algn="just" rtl="0">
              <a:lnSpc>
                <a:spcPct val="115000"/>
              </a:lnSpc>
              <a:spcBef>
                <a:spcPts val="10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2pPr>
            <a:lvl3pPr marL="1371600" marR="0" lvl="2"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3pPr>
            <a:lvl4pPr marL="1828800" marR="0" lvl="3"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4pPr>
            <a:lvl5pPr marL="2286000" marR="0" lvl="4"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5pPr>
            <a:lvl6pPr marL="2743200" marR="0" lvl="5"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6pPr>
            <a:lvl7pPr marL="3200400" marR="0" lvl="6"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7pPr>
            <a:lvl8pPr marL="3657600" marR="0" lvl="7"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8pPr>
            <a:lvl9pPr marL="4114800" marR="0" lvl="8" indent="-311150" algn="just" rtl="0">
              <a:lnSpc>
                <a:spcPct val="115000"/>
              </a:lnSpc>
              <a:spcBef>
                <a:spcPts val="500"/>
              </a:spcBef>
              <a:spcAft>
                <a:spcPts val="50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9pPr>
          </a:lstStyle>
          <a:p>
            <a:endParaRPr dirty="0"/>
          </a:p>
        </p:txBody>
      </p:sp>
    </p:spTree>
    <p:extLst>
      <p:ext uri="{BB962C8B-B14F-4D97-AF65-F5344CB8AC3E}">
        <p14:creationId xmlns:p14="http://schemas.microsoft.com/office/powerpoint/2010/main" val="1359754240"/>
      </p:ext>
    </p:extLst>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800"/>
              <a:buFont typeface="Roboto Condensed"/>
              <a:buNone/>
              <a:defRPr sz="3800" b="1" i="0" u="none" strike="noStrike" cap="none">
                <a:solidFill>
                  <a:schemeClr val="dk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p40"/>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just" rtl="0">
              <a:lnSpc>
                <a:spcPct val="114000"/>
              </a:lnSpc>
              <a:spcBef>
                <a:spcPts val="0"/>
              </a:spcBef>
              <a:spcAft>
                <a:spcPts val="0"/>
              </a:spcAft>
              <a:buClr>
                <a:schemeClr val="dk1"/>
              </a:buClr>
              <a:buSzPts val="1500"/>
              <a:buFont typeface="Roboto Condensed"/>
              <a:buNone/>
              <a:defRPr sz="1500" b="0" i="0" u="none" strike="noStrike" cap="none">
                <a:solidFill>
                  <a:schemeClr val="dk1"/>
                </a:solidFill>
                <a:latin typeface="Roboto Condensed"/>
                <a:ea typeface="Roboto Condensed"/>
                <a:cs typeface="Roboto Condensed"/>
                <a:sym typeface="Roboto Condensed"/>
              </a:defRPr>
            </a:lvl1pPr>
            <a:lvl2pPr marL="914400" marR="0" lvl="1" indent="-311150" algn="just" rtl="0">
              <a:lnSpc>
                <a:spcPct val="115000"/>
              </a:lnSpc>
              <a:spcBef>
                <a:spcPts val="10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2pPr>
            <a:lvl3pPr marL="1371600" marR="0" lvl="2"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3pPr>
            <a:lvl4pPr marL="1828800" marR="0" lvl="3"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4pPr>
            <a:lvl5pPr marL="2286000" marR="0" lvl="4"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5pPr>
            <a:lvl6pPr marL="2743200" marR="0" lvl="5"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6pPr>
            <a:lvl7pPr marL="3200400" marR="0" lvl="6"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7pPr>
            <a:lvl8pPr marL="3657600" marR="0" lvl="7"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8pPr>
            <a:lvl9pPr marL="4114800" marR="0" lvl="8" indent="-311150" algn="just" rtl="0">
              <a:lnSpc>
                <a:spcPct val="115000"/>
              </a:lnSpc>
              <a:spcBef>
                <a:spcPts val="500"/>
              </a:spcBef>
              <a:spcAft>
                <a:spcPts val="50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933685626"/>
      </p:ext>
    </p:extLst>
  </p:cSld>
  <p:clrMap bg1="lt1" tx1="dk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
          <p:cNvSpPr txBox="1">
            <a:spLocks noGrp="1"/>
          </p:cNvSpPr>
          <p:nvPr>
            <p:ph type="ctrTitle"/>
          </p:nvPr>
        </p:nvSpPr>
        <p:spPr>
          <a:xfrm>
            <a:off x="4636643" y="4898876"/>
            <a:ext cx="7162800" cy="705200"/>
          </a:xfrm>
          <a:prstGeom prst="rect">
            <a:avLst/>
          </a:prstGeom>
          <a:noFill/>
          <a:ln>
            <a:noFill/>
          </a:ln>
        </p:spPr>
        <p:txBody>
          <a:bodyPr spcFirstLastPara="1" wrap="square" lIns="91425" tIns="45700" rIns="91425" bIns="45700" anchor="b" anchorCtr="0">
            <a:noAutofit/>
          </a:bodyPr>
          <a:lstStyle/>
          <a:p>
            <a:pPr lvl="0"/>
            <a:r>
              <a:rPr lang="en-US" dirty="0" smtClean="0"/>
              <a:t>Testing Overview</a:t>
            </a:r>
            <a:endParaRPr dirty="0"/>
          </a:p>
        </p:txBody>
      </p:sp>
      <p:sp>
        <p:nvSpPr>
          <p:cNvPr id="70" name="Google Shape;70;p1"/>
          <p:cNvSpPr txBox="1">
            <a:spLocks noGrp="1"/>
          </p:cNvSpPr>
          <p:nvPr>
            <p:ph type="subTitle" idx="1"/>
          </p:nvPr>
        </p:nvSpPr>
        <p:spPr>
          <a:xfrm>
            <a:off x="4664268" y="5432447"/>
            <a:ext cx="7125600" cy="450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1067"/>
              </a:spcBef>
              <a:spcAft>
                <a:spcPts val="0"/>
              </a:spcAft>
              <a:buSzPts val="1700"/>
              <a:buNone/>
            </a:pPr>
            <a:r>
              <a:rPr lang="en-US" dirty="0" smtClean="0"/>
              <a:t>Oct, </a:t>
            </a:r>
            <a:r>
              <a:rPr lang="en-US" dirty="0"/>
              <a:t>2020</a:t>
            </a:r>
            <a:endParaRPr dirty="0"/>
          </a:p>
        </p:txBody>
      </p:sp>
    </p:spTree>
    <p:extLst>
      <p:ext uri="{BB962C8B-B14F-4D97-AF65-F5344CB8AC3E}">
        <p14:creationId xmlns:p14="http://schemas.microsoft.com/office/powerpoint/2010/main" val="2841809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8" name="Title 1"/>
          <p:cNvSpPr>
            <a:spLocks noGrp="1"/>
          </p:cNvSpPr>
          <p:nvPr>
            <p:ph type="title"/>
          </p:nvPr>
        </p:nvSpPr>
        <p:spPr>
          <a:xfrm>
            <a:off x="1666397" y="866701"/>
            <a:ext cx="8482800" cy="628200"/>
          </a:xfrm>
        </p:spPr>
        <p:txBody>
          <a:bodyPr/>
          <a:lstStyle/>
          <a:p>
            <a:r>
              <a:rPr lang="en-US" dirty="0" smtClean="0"/>
              <a:t>Revision</a:t>
            </a:r>
            <a:endParaRPr lang="en-US" dirty="0"/>
          </a:p>
        </p:txBody>
      </p:sp>
      <p:sp>
        <p:nvSpPr>
          <p:cNvPr id="9" name="Text Placeholder 2"/>
          <p:cNvSpPr>
            <a:spLocks noGrp="1"/>
          </p:cNvSpPr>
          <p:nvPr>
            <p:ph type="body" idx="1"/>
          </p:nvPr>
        </p:nvSpPr>
        <p:spPr>
          <a:xfrm>
            <a:off x="1578474" y="1494901"/>
            <a:ext cx="8816546" cy="4191628"/>
          </a:xfrm>
        </p:spPr>
        <p:txBody>
          <a:bodyPr/>
          <a:lstStyle/>
          <a:p>
            <a:pPr marL="1028700" lvl="2" indent="0">
              <a:buNone/>
            </a:pPr>
            <a:endParaRPr lang="en-US" sz="1600" dirty="0">
              <a:latin typeface="Arial" panose="020B0604020202020204" pitchFamily="34" charset="0"/>
              <a:ea typeface="ＭＳ ゴシック" panose="020B0609070205080204" pitchFamily="49" charset="-128"/>
            </a:endParaRPr>
          </a:p>
          <a:p>
            <a:pPr marL="1314450" lvl="2" indent="-285750">
              <a:buFont typeface="Wingdings" panose="05000000000000000000" pitchFamily="2" charset="2"/>
              <a:buChar char="v"/>
            </a:pPr>
            <a:endParaRPr lang="en-US" sz="1600" dirty="0"/>
          </a:p>
          <a:p>
            <a:pPr marL="1314450" lvl="2" indent="-285750">
              <a:buFont typeface="Wingdings" panose="05000000000000000000" pitchFamily="2" charset="2"/>
              <a:buChar char="v"/>
            </a:pPr>
            <a:endParaRPr lang="en-US" sz="1600" dirty="0">
              <a:latin typeface="Arial" panose="020B0604020202020204" pitchFamily="34" charset="0"/>
              <a:ea typeface="ＭＳ ゴシック" panose="020B0609070205080204" pitchFamily="49" charset="-128"/>
            </a:endParaRPr>
          </a:p>
          <a:p>
            <a:pPr marL="571500" lvl="1" indent="228600">
              <a:buFont typeface="Wingdings" panose="05000000000000000000" pitchFamily="2" charset="2"/>
              <a:buChar char="Ø"/>
            </a:pPr>
            <a:endParaRPr lang="en-US" sz="1600" dirty="0">
              <a:latin typeface="Arial" panose="020B0604020202020204" pitchFamily="34" charset="0"/>
              <a:ea typeface="ＭＳ ゴシック" panose="020B0609070205080204" pitchFamily="49" charset="-128"/>
            </a:endParaRPr>
          </a:p>
          <a:p>
            <a:pPr marL="571500" lvl="1" indent="228600">
              <a:buFont typeface="Wingdings" panose="05000000000000000000" pitchFamily="2" charset="2"/>
              <a:buChar char="Ø"/>
            </a:pPr>
            <a:endParaRPr lang="en-US" sz="1600" dirty="0">
              <a:latin typeface="Arial" panose="020B0604020202020204" pitchFamily="34" charset="0"/>
              <a:ea typeface="ＭＳ ゴシック" panose="020B0609070205080204" pitchFamily="49" charset="-128"/>
            </a:endParaRPr>
          </a:p>
          <a:p>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3102640727"/>
              </p:ext>
            </p:extLst>
          </p:nvPr>
        </p:nvGraphicFramePr>
        <p:xfrm>
          <a:off x="1961681" y="1808161"/>
          <a:ext cx="7646276" cy="1056640"/>
        </p:xfrm>
        <a:graphic>
          <a:graphicData uri="http://schemas.openxmlformats.org/drawingml/2006/table">
            <a:tbl>
              <a:tblPr firstRow="1" bandRow="1"/>
              <a:tblGrid>
                <a:gridCol w="882869">
                  <a:extLst>
                    <a:ext uri="{9D8B030D-6E8A-4147-A177-3AD203B41FA5}">
                      <a16:colId xmlns:a16="http://schemas.microsoft.com/office/drawing/2014/main" val="883905705"/>
                    </a:ext>
                  </a:extLst>
                </a:gridCol>
                <a:gridCol w="1316420">
                  <a:extLst>
                    <a:ext uri="{9D8B030D-6E8A-4147-A177-3AD203B41FA5}">
                      <a16:colId xmlns:a16="http://schemas.microsoft.com/office/drawing/2014/main" val="2778907650"/>
                    </a:ext>
                  </a:extLst>
                </a:gridCol>
                <a:gridCol w="4043856">
                  <a:extLst>
                    <a:ext uri="{9D8B030D-6E8A-4147-A177-3AD203B41FA5}">
                      <a16:colId xmlns:a16="http://schemas.microsoft.com/office/drawing/2014/main" val="4072646334"/>
                    </a:ext>
                  </a:extLst>
                </a:gridCol>
                <a:gridCol w="1403131">
                  <a:extLst>
                    <a:ext uri="{9D8B030D-6E8A-4147-A177-3AD203B41FA5}">
                      <a16:colId xmlns:a16="http://schemas.microsoft.com/office/drawing/2014/main" val="1167527554"/>
                    </a:ext>
                  </a:extLst>
                </a:gridCol>
              </a:tblGrid>
              <a:tr h="370840">
                <a:tc>
                  <a:txBody>
                    <a:bodyPr/>
                    <a:lstStyle/>
                    <a:p>
                      <a:pPr algn="ctr"/>
                      <a:r>
                        <a:rPr lang="en-US" dirty="0" smtClean="0">
                          <a:latin typeface="+mn-lt"/>
                        </a:rPr>
                        <a:t>Version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latin typeface="+mn-lt"/>
                        </a:rPr>
                        <a:t>Date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cap="none" dirty="0" smtClean="0">
                          <a:solidFill>
                            <a:srgbClr val="000000"/>
                          </a:solidFill>
                          <a:effectLst/>
                          <a:latin typeface="+mn-lt"/>
                          <a:ea typeface="Arial"/>
                          <a:cs typeface="Arial"/>
                          <a:sym typeface="Arial"/>
                        </a:rPr>
                        <a:t>Change history</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i="0" u="none" strike="noStrike" cap="none" dirty="0" smtClean="0">
                          <a:solidFill>
                            <a:srgbClr val="000000"/>
                          </a:solidFill>
                          <a:effectLst/>
                          <a:latin typeface="+mn-lt"/>
                          <a:ea typeface="Arial"/>
                          <a:cs typeface="Arial"/>
                          <a:sym typeface="Arial"/>
                        </a:rPr>
                        <a:t>Author</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0082973"/>
                  </a:ext>
                </a:extLst>
              </a:tr>
              <a:tr h="685800">
                <a:tc>
                  <a:txBody>
                    <a:bodyPr/>
                    <a:lstStyle/>
                    <a:p>
                      <a:pPr algn="ctr"/>
                      <a:r>
                        <a:rPr lang="en-US" dirty="0" smtClean="0">
                          <a:latin typeface="+mn-lt"/>
                        </a:rPr>
                        <a:t>1.00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latin typeface="+mn-lt"/>
                        </a:rPr>
                        <a:t>10/2020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latin typeface="+mn-lt"/>
                        </a:rPr>
                        <a:t>Initial</a:t>
                      </a:r>
                      <a:r>
                        <a:rPr lang="en-US" baseline="0" dirty="0" smtClean="0">
                          <a:latin typeface="+mn-lt"/>
                        </a:rPr>
                        <a:t> version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latin typeface="+mn-lt"/>
                        </a:rPr>
                        <a:t>Dinh Pham</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9386538"/>
                  </a:ext>
                </a:extLst>
              </a:tr>
            </a:tbl>
          </a:graphicData>
        </a:graphic>
      </p:graphicFrame>
    </p:spTree>
    <p:extLst>
      <p:ext uri="{BB962C8B-B14F-4D97-AF65-F5344CB8AC3E}">
        <p14:creationId xmlns:p14="http://schemas.microsoft.com/office/powerpoint/2010/main" val="379989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dirty="0"/>
              <a:t>Agenda</a:t>
            </a:r>
            <a:endParaRPr sz="48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latin typeface="+mn-lt"/>
              </a:rPr>
              <a:t>1. Software </a:t>
            </a:r>
            <a:r>
              <a:rPr lang="en-US" dirty="0">
                <a:latin typeface="+mn-lt"/>
              </a:rPr>
              <a:t>Testing Life Cycle (STLC</a:t>
            </a:r>
            <a:r>
              <a:rPr lang="en-US" dirty="0" smtClean="0">
                <a:latin typeface="+mn-lt"/>
              </a:rPr>
              <a:t>)</a:t>
            </a:r>
            <a:endParaRPr lang="en-US" dirty="0">
              <a:latin typeface="+mn-lt"/>
            </a:endParaRPr>
          </a:p>
          <a:p>
            <a:pPr marL="761993" lvl="1" indent="0">
              <a:lnSpc>
                <a:spcPct val="104000"/>
              </a:lnSpc>
              <a:spcBef>
                <a:spcPts val="0"/>
              </a:spcBef>
              <a:buSzPts val="1500"/>
              <a:buNone/>
            </a:pPr>
            <a:r>
              <a:rPr lang="en-US" dirty="0" smtClean="0">
                <a:latin typeface="+mn-lt"/>
              </a:rPr>
              <a:t>2</a:t>
            </a:r>
            <a:r>
              <a:rPr lang="en-US" dirty="0">
                <a:latin typeface="+mn-lt"/>
              </a:rPr>
              <a:t>. Test </a:t>
            </a:r>
            <a:r>
              <a:rPr lang="en-US" dirty="0" smtClean="0">
                <a:latin typeface="+mn-lt"/>
              </a:rPr>
              <a:t>Case</a:t>
            </a:r>
          </a:p>
          <a:p>
            <a:pPr marL="761993" lvl="1" indent="0">
              <a:lnSpc>
                <a:spcPct val="104000"/>
              </a:lnSpc>
              <a:spcBef>
                <a:spcPts val="0"/>
              </a:spcBef>
              <a:buSzPts val="1500"/>
              <a:buNone/>
            </a:pPr>
            <a:r>
              <a:rPr lang="en-US" dirty="0" smtClean="0">
                <a:latin typeface="+mn-lt"/>
              </a:rPr>
              <a:t>3. </a:t>
            </a:r>
            <a:r>
              <a:rPr lang="en-US" dirty="0">
                <a:latin typeface="+mn-lt"/>
              </a:rPr>
              <a:t>Test Suite</a:t>
            </a:r>
          </a:p>
          <a:p>
            <a:pPr marL="761993" lvl="1" indent="0">
              <a:lnSpc>
                <a:spcPct val="104000"/>
              </a:lnSpc>
              <a:spcBef>
                <a:spcPts val="0"/>
              </a:spcBef>
              <a:buSzPts val="1500"/>
              <a:buNone/>
            </a:pPr>
            <a:r>
              <a:rPr lang="en-US" dirty="0" smtClean="0">
                <a:latin typeface="+mn-lt"/>
              </a:rPr>
              <a:t>4. </a:t>
            </a:r>
            <a:r>
              <a:rPr lang="en-US" dirty="0">
                <a:latin typeface="+mn-lt"/>
              </a:rPr>
              <a:t>Test Scenario</a:t>
            </a:r>
          </a:p>
          <a:p>
            <a:pPr marL="761993" lvl="1" indent="0">
              <a:lnSpc>
                <a:spcPct val="104000"/>
              </a:lnSpc>
              <a:spcBef>
                <a:spcPts val="0"/>
              </a:spcBef>
              <a:buSzPts val="1500"/>
              <a:buNone/>
            </a:pPr>
            <a:r>
              <a:rPr lang="en-US" dirty="0">
                <a:latin typeface="+mn-lt"/>
              </a:rPr>
              <a:t>5. </a:t>
            </a:r>
            <a:r>
              <a:rPr lang="en-US" dirty="0" smtClean="0">
                <a:latin typeface="+mn-lt"/>
              </a:rPr>
              <a:t>Defect </a:t>
            </a:r>
            <a:r>
              <a:rPr lang="en-US" dirty="0">
                <a:latin typeface="+mn-lt"/>
              </a:rPr>
              <a:t>Life </a:t>
            </a:r>
            <a:r>
              <a:rPr lang="en-US" dirty="0" smtClean="0">
                <a:latin typeface="+mn-lt"/>
              </a:rPr>
              <a:t>Cycle</a:t>
            </a:r>
            <a:endParaRPr lang="en-US" dirty="0">
              <a:latin typeface="+mn-lt"/>
            </a:endParaRPr>
          </a:p>
          <a:p>
            <a:pPr marL="761993" lvl="1" indent="0">
              <a:lnSpc>
                <a:spcPct val="104000"/>
              </a:lnSpc>
              <a:spcBef>
                <a:spcPts val="0"/>
              </a:spcBef>
              <a:buSzPts val="1500"/>
              <a:buNone/>
            </a:pPr>
            <a:r>
              <a:rPr lang="en-US" dirty="0" smtClean="0">
                <a:latin typeface="+mn-lt"/>
              </a:rPr>
              <a:t>6. Manual Testing</a:t>
            </a:r>
          </a:p>
          <a:p>
            <a:pPr marL="761993" lvl="1" indent="0">
              <a:lnSpc>
                <a:spcPct val="104000"/>
              </a:lnSpc>
              <a:spcBef>
                <a:spcPts val="0"/>
              </a:spcBef>
              <a:buSzPts val="1500"/>
              <a:buNone/>
            </a:pPr>
            <a:r>
              <a:rPr lang="en-US" dirty="0" smtClean="0">
                <a:latin typeface="+mn-lt"/>
              </a:rPr>
              <a:t>7. Automation Testing</a:t>
            </a:r>
          </a:p>
          <a:p>
            <a:pPr marL="761993" lvl="1" indent="0">
              <a:lnSpc>
                <a:spcPct val="104000"/>
              </a:lnSpc>
              <a:spcBef>
                <a:spcPts val="0"/>
              </a:spcBef>
              <a:buSzPts val="1500"/>
              <a:buNone/>
            </a:pPr>
            <a:r>
              <a:rPr lang="en-US" dirty="0">
                <a:latin typeface="+mn-lt"/>
              </a:rPr>
              <a:t>8</a:t>
            </a:r>
            <a:r>
              <a:rPr lang="en-US" dirty="0" smtClean="0">
                <a:latin typeface="+mn-lt"/>
              </a:rPr>
              <a:t>. </a:t>
            </a:r>
            <a:r>
              <a:rPr lang="en-US" dirty="0">
                <a:latin typeface="+mn-lt"/>
              </a:rPr>
              <a:t>Black Box </a:t>
            </a:r>
            <a:r>
              <a:rPr lang="en-US" dirty="0" smtClean="0">
                <a:latin typeface="+mn-lt"/>
              </a:rPr>
              <a:t>Testing</a:t>
            </a:r>
          </a:p>
          <a:p>
            <a:pPr marL="761993" lvl="1" indent="0">
              <a:lnSpc>
                <a:spcPct val="104000"/>
              </a:lnSpc>
              <a:spcBef>
                <a:spcPts val="0"/>
              </a:spcBef>
              <a:buSzPts val="1500"/>
              <a:buNone/>
            </a:pPr>
            <a:r>
              <a:rPr lang="en-US" dirty="0">
                <a:latin typeface="+mn-lt"/>
              </a:rPr>
              <a:t>9</a:t>
            </a:r>
            <a:r>
              <a:rPr lang="en-US" dirty="0" smtClean="0">
                <a:latin typeface="+mn-lt"/>
              </a:rPr>
              <a:t>. </a:t>
            </a:r>
            <a:r>
              <a:rPr lang="en-US" dirty="0">
                <a:latin typeface="+mn-lt"/>
              </a:rPr>
              <a:t>White Box </a:t>
            </a:r>
            <a:r>
              <a:rPr lang="en-US" dirty="0" smtClean="0">
                <a:latin typeface="+mn-lt"/>
              </a:rPr>
              <a:t>Testing</a:t>
            </a:r>
          </a:p>
          <a:p>
            <a:pPr marL="761993" lvl="1" indent="0">
              <a:lnSpc>
                <a:spcPct val="104000"/>
              </a:lnSpc>
              <a:spcBef>
                <a:spcPts val="0"/>
              </a:spcBef>
              <a:buSzPts val="1500"/>
              <a:buNone/>
            </a:pPr>
            <a:r>
              <a:rPr lang="en-US" dirty="0" smtClean="0"/>
              <a:t>10. </a:t>
            </a:r>
            <a:r>
              <a:rPr lang="en-US" dirty="0"/>
              <a:t>Levels of </a:t>
            </a:r>
            <a:r>
              <a:rPr lang="en-US" dirty="0" smtClean="0"/>
              <a:t>Testing</a:t>
            </a:r>
            <a:endParaRPr lang="en-US" dirty="0" smtClean="0">
              <a:latin typeface="+mn-lt"/>
            </a:endParaRPr>
          </a:p>
          <a:p>
            <a:pPr marL="761993" lvl="1" indent="0">
              <a:lnSpc>
                <a:spcPct val="104000"/>
              </a:lnSpc>
              <a:spcBef>
                <a:spcPts val="0"/>
              </a:spcBef>
              <a:buSzPts val="1500"/>
              <a:buNone/>
            </a:pPr>
            <a:r>
              <a:rPr lang="en-US" dirty="0" smtClean="0">
                <a:latin typeface="+mn-lt"/>
              </a:rPr>
              <a:t>11. </a:t>
            </a:r>
            <a:r>
              <a:rPr lang="en-US" dirty="0">
                <a:latin typeface="+mn-lt"/>
              </a:rPr>
              <a:t>Unit </a:t>
            </a:r>
            <a:r>
              <a:rPr lang="en-US" dirty="0" smtClean="0">
                <a:latin typeface="+mn-lt"/>
              </a:rPr>
              <a:t>Testing</a:t>
            </a:r>
          </a:p>
          <a:p>
            <a:pPr marL="761993" lvl="1" indent="0">
              <a:lnSpc>
                <a:spcPct val="104000"/>
              </a:lnSpc>
              <a:spcBef>
                <a:spcPts val="0"/>
              </a:spcBef>
              <a:buSzPts val="1500"/>
              <a:buNone/>
            </a:pPr>
            <a:r>
              <a:rPr lang="en-US" dirty="0" smtClean="0">
                <a:latin typeface="+mn-lt"/>
              </a:rPr>
              <a:t>12. </a:t>
            </a:r>
            <a:r>
              <a:rPr lang="en-US" dirty="0">
                <a:latin typeface="+mn-lt"/>
              </a:rPr>
              <a:t>Integration </a:t>
            </a:r>
            <a:r>
              <a:rPr lang="en-US" dirty="0" smtClean="0">
                <a:latin typeface="+mn-lt"/>
              </a:rPr>
              <a:t>Testing</a:t>
            </a:r>
          </a:p>
          <a:p>
            <a:pPr marL="761993" lvl="1" indent="0">
              <a:lnSpc>
                <a:spcPct val="104000"/>
              </a:lnSpc>
              <a:spcBef>
                <a:spcPts val="0"/>
              </a:spcBef>
              <a:buSzPts val="1500"/>
              <a:buNone/>
            </a:pPr>
            <a:r>
              <a:rPr lang="en-US" dirty="0" smtClean="0">
                <a:latin typeface="+mn-lt"/>
              </a:rPr>
              <a:t>13. System Testing</a:t>
            </a:r>
          </a:p>
          <a:p>
            <a:pPr marL="761993" lvl="1" indent="0">
              <a:lnSpc>
                <a:spcPct val="104000"/>
              </a:lnSpc>
              <a:spcBef>
                <a:spcPts val="0"/>
              </a:spcBef>
              <a:buSzPts val="1500"/>
              <a:buNone/>
            </a:pPr>
            <a:r>
              <a:rPr lang="en-US" dirty="0" smtClean="0">
                <a:latin typeface="+mn-lt"/>
              </a:rPr>
              <a:t>14. </a:t>
            </a:r>
            <a:r>
              <a:rPr lang="en-US" dirty="0">
                <a:latin typeface="+mn-lt"/>
              </a:rPr>
              <a:t>Acceptance </a:t>
            </a:r>
            <a:r>
              <a:rPr lang="en-US" dirty="0" smtClean="0">
                <a:latin typeface="+mn-lt"/>
              </a:rPr>
              <a:t>Testing</a:t>
            </a:r>
          </a:p>
          <a:p>
            <a:pPr marL="761993" lvl="1" indent="0">
              <a:lnSpc>
                <a:spcPct val="104000"/>
              </a:lnSpc>
              <a:spcBef>
                <a:spcPts val="0"/>
              </a:spcBef>
              <a:buSzPts val="1500"/>
              <a:buNone/>
            </a:pPr>
            <a:r>
              <a:rPr lang="en-US" dirty="0" smtClean="0">
                <a:latin typeface="+mn-lt"/>
              </a:rPr>
              <a:t>15. </a:t>
            </a:r>
            <a:r>
              <a:rPr lang="en-US" dirty="0">
                <a:latin typeface="+mn-lt"/>
              </a:rPr>
              <a:t>Regression </a:t>
            </a:r>
            <a:r>
              <a:rPr lang="en-US" dirty="0" smtClean="0">
                <a:latin typeface="+mn-lt"/>
              </a:rPr>
              <a:t>Testing</a:t>
            </a:r>
          </a:p>
          <a:p>
            <a:pPr marL="761993" lvl="1" indent="0">
              <a:lnSpc>
                <a:spcPct val="104000"/>
              </a:lnSpc>
              <a:spcBef>
                <a:spcPts val="0"/>
              </a:spcBef>
              <a:buSzPts val="1500"/>
              <a:buNone/>
            </a:pPr>
            <a:r>
              <a:rPr lang="en-US" dirty="0" smtClean="0">
                <a:latin typeface="+mn-lt"/>
              </a:rPr>
              <a:t>16. Ad hoc Testing</a:t>
            </a:r>
            <a:endParaRPr lang="en-US" dirty="0">
              <a:latin typeface="+mn-lt"/>
            </a:endParaRPr>
          </a:p>
        </p:txBody>
      </p:sp>
    </p:spTree>
    <p:extLst>
      <p:ext uri="{BB962C8B-B14F-4D97-AF65-F5344CB8AC3E}">
        <p14:creationId xmlns:p14="http://schemas.microsoft.com/office/powerpoint/2010/main" val="400314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338943"/>
            <a:ext cx="11016343" cy="3023007"/>
          </a:xfrm>
          <a:prstGeom prst="rect">
            <a:avLst/>
          </a:prstGeom>
          <a:noFill/>
        </p:spPr>
        <p:txBody>
          <a:bodyPr wrap="square" rtlCol="0">
            <a:spAutoFit/>
          </a:bodyPr>
          <a:lstStyle/>
          <a:p>
            <a:pPr marL="304793">
              <a:lnSpc>
                <a:spcPct val="104000"/>
              </a:lnSpc>
              <a:buSzPts val="1500"/>
            </a:pPr>
            <a:r>
              <a:rPr lang="en-US" b="1" dirty="0"/>
              <a:t>What is Software Testing Life Cycle (STLC)?</a:t>
            </a:r>
          </a:p>
          <a:p>
            <a:pPr marL="304793">
              <a:lnSpc>
                <a:spcPct val="104000"/>
              </a:lnSpc>
              <a:buSzPts val="1500"/>
            </a:pPr>
            <a:endParaRPr lang="en-US" b="1" dirty="0"/>
          </a:p>
          <a:p>
            <a:pPr marL="304793" algn="just">
              <a:lnSpc>
                <a:spcPct val="150000"/>
              </a:lnSpc>
              <a:buSzPts val="1500"/>
            </a:pPr>
            <a:r>
              <a:rPr lang="en-US" b="1" dirty="0"/>
              <a:t>	Software Testing Life Cycle (STLC)</a:t>
            </a:r>
            <a:r>
              <a:rPr lang="en-US" dirty="0"/>
              <a:t> is a sequence of specific activities conducted during the testing process to ensure software quality goals are met. STLC involves both verification and validation activities. Contrary to popular belief, Software Testing is not just a single/isolate activity, i.e. testing. It consists of a series of activities carried out methodologically to help certify your software product. STLC stands for Software Testing Life Cycle.</a:t>
            </a:r>
          </a:p>
          <a:p>
            <a:endParaRPr lang="en-US" dirty="0"/>
          </a:p>
        </p:txBody>
      </p:sp>
    </p:spTree>
    <p:extLst>
      <p:ext uri="{BB962C8B-B14F-4D97-AF65-F5344CB8AC3E}">
        <p14:creationId xmlns:p14="http://schemas.microsoft.com/office/powerpoint/2010/main" val="165658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338943"/>
            <a:ext cx="11016343" cy="3554819"/>
          </a:xfrm>
          <a:prstGeom prst="rect">
            <a:avLst/>
          </a:prstGeom>
          <a:noFill/>
        </p:spPr>
        <p:txBody>
          <a:bodyPr wrap="square" rtlCol="0">
            <a:spAutoFit/>
          </a:bodyPr>
          <a:lstStyle/>
          <a:p>
            <a:r>
              <a:rPr lang="en-US" b="1" dirty="0"/>
              <a:t>STLC </a:t>
            </a:r>
            <a:r>
              <a:rPr lang="en-US" b="1" dirty="0" smtClean="0"/>
              <a:t>Phases:</a:t>
            </a:r>
            <a:endParaRPr lang="en-US" b="1" dirty="0"/>
          </a:p>
          <a:p>
            <a:pPr>
              <a:lnSpc>
                <a:spcPct val="150000"/>
              </a:lnSpc>
            </a:pPr>
            <a:r>
              <a:rPr lang="en-US" dirty="0"/>
              <a:t>There are following six major phases in every Software Testing Life Cycle Model (STLC Model):</a:t>
            </a:r>
          </a:p>
          <a:p>
            <a:pPr>
              <a:lnSpc>
                <a:spcPct val="150000"/>
              </a:lnSpc>
            </a:pPr>
            <a:r>
              <a:rPr lang="en-US" dirty="0" smtClean="0"/>
              <a:t>1.1 Requirement </a:t>
            </a:r>
            <a:r>
              <a:rPr lang="en-US" dirty="0"/>
              <a:t>Analysis</a:t>
            </a:r>
          </a:p>
          <a:p>
            <a:pPr>
              <a:lnSpc>
                <a:spcPct val="150000"/>
              </a:lnSpc>
            </a:pPr>
            <a:r>
              <a:rPr lang="en-US" dirty="0" smtClean="0"/>
              <a:t>1.2 Test </a:t>
            </a:r>
            <a:r>
              <a:rPr lang="en-US" dirty="0"/>
              <a:t>Planning</a:t>
            </a:r>
          </a:p>
          <a:p>
            <a:pPr>
              <a:lnSpc>
                <a:spcPct val="150000"/>
              </a:lnSpc>
            </a:pPr>
            <a:r>
              <a:rPr lang="en-US" dirty="0" smtClean="0"/>
              <a:t>1.3 Test </a:t>
            </a:r>
            <a:r>
              <a:rPr lang="en-US" dirty="0"/>
              <a:t>case development</a:t>
            </a:r>
          </a:p>
          <a:p>
            <a:pPr>
              <a:lnSpc>
                <a:spcPct val="150000"/>
              </a:lnSpc>
            </a:pPr>
            <a:r>
              <a:rPr lang="en-US" dirty="0" smtClean="0"/>
              <a:t>1.4 Test </a:t>
            </a:r>
            <a:r>
              <a:rPr lang="en-US" dirty="0"/>
              <a:t>Environment setup</a:t>
            </a:r>
          </a:p>
          <a:p>
            <a:pPr>
              <a:lnSpc>
                <a:spcPct val="150000"/>
              </a:lnSpc>
            </a:pPr>
            <a:r>
              <a:rPr lang="en-US" dirty="0" smtClean="0"/>
              <a:t>1.5 Test </a:t>
            </a:r>
            <a:r>
              <a:rPr lang="en-US" dirty="0"/>
              <a:t>Execution</a:t>
            </a:r>
          </a:p>
          <a:p>
            <a:pPr>
              <a:lnSpc>
                <a:spcPct val="150000"/>
              </a:lnSpc>
            </a:pPr>
            <a:r>
              <a:rPr lang="en-US" dirty="0" smtClean="0"/>
              <a:t>1.6 Test </a:t>
            </a:r>
            <a:r>
              <a:rPr lang="en-US" dirty="0"/>
              <a:t>Cycle closure</a:t>
            </a:r>
          </a:p>
          <a:p>
            <a:endParaRPr lang="en-US" dirty="0"/>
          </a:p>
        </p:txBody>
      </p:sp>
      <p:pic>
        <p:nvPicPr>
          <p:cNvPr id="3" name="Picture 2"/>
          <p:cNvPicPr>
            <a:picLocks noChangeAspect="1"/>
          </p:cNvPicPr>
          <p:nvPr/>
        </p:nvPicPr>
        <p:blipFill>
          <a:blip r:embed="rId3"/>
          <a:stretch>
            <a:fillRect/>
          </a:stretch>
        </p:blipFill>
        <p:spPr>
          <a:xfrm>
            <a:off x="4670340" y="2186509"/>
            <a:ext cx="5336409" cy="2581433"/>
          </a:xfrm>
          <a:prstGeom prst="rect">
            <a:avLst/>
          </a:prstGeom>
        </p:spPr>
      </p:pic>
    </p:spTree>
    <p:extLst>
      <p:ext uri="{BB962C8B-B14F-4D97-AF65-F5344CB8AC3E}">
        <p14:creationId xmlns:p14="http://schemas.microsoft.com/office/powerpoint/2010/main" val="1902849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6047809"/>
          </a:xfrm>
          <a:prstGeom prst="rect">
            <a:avLst/>
          </a:prstGeom>
          <a:noFill/>
        </p:spPr>
        <p:txBody>
          <a:bodyPr wrap="square" rtlCol="0">
            <a:spAutoFit/>
          </a:bodyPr>
          <a:lstStyle/>
          <a:p>
            <a:pPr>
              <a:lnSpc>
                <a:spcPct val="125000"/>
              </a:lnSpc>
            </a:pPr>
            <a:r>
              <a:rPr lang="en-US" b="1" dirty="0" smtClean="0"/>
              <a:t>1.1 Requirement Phase Testing</a:t>
            </a:r>
            <a:endParaRPr lang="en-US" b="1" dirty="0"/>
          </a:p>
          <a:p>
            <a:pPr algn="just">
              <a:lnSpc>
                <a:spcPct val="125000"/>
              </a:lnSpc>
            </a:pPr>
            <a:r>
              <a:rPr lang="en-US" b="1" dirty="0" smtClean="0"/>
              <a:t>	Requirement </a:t>
            </a:r>
            <a:r>
              <a:rPr lang="en-US" b="1" dirty="0"/>
              <a:t>Phase Testing</a:t>
            </a:r>
            <a:r>
              <a:rPr lang="en-US" dirty="0"/>
              <a:t> also known as Requirement Analysis in which test team studies the requirements from a testing point of view to identify testable requirements and the QA team may interact with various stakeholders to understand requirements in detail. Requirements could be either functional or non-functional. Automation feasibility for the testing project is also done in this stage</a:t>
            </a:r>
            <a:r>
              <a:rPr lang="en-US" dirty="0" smtClean="0"/>
              <a:t>.</a:t>
            </a:r>
          </a:p>
          <a:p>
            <a:pPr algn="just">
              <a:lnSpc>
                <a:spcPct val="125000"/>
              </a:lnSpc>
            </a:pPr>
            <a:endParaRPr lang="en-US" dirty="0"/>
          </a:p>
          <a:p>
            <a:pPr>
              <a:lnSpc>
                <a:spcPct val="125000"/>
              </a:lnSpc>
            </a:pPr>
            <a:r>
              <a:rPr lang="en-US" b="1" dirty="0"/>
              <a:t>Activities in Requirement Phase </a:t>
            </a:r>
            <a:r>
              <a:rPr lang="en-US" b="1" dirty="0" smtClean="0"/>
              <a:t>Testing:</a:t>
            </a:r>
            <a:endParaRPr lang="en-US" dirty="0"/>
          </a:p>
          <a:p>
            <a:pPr>
              <a:lnSpc>
                <a:spcPct val="125000"/>
              </a:lnSpc>
            </a:pPr>
            <a:r>
              <a:rPr lang="en-US" dirty="0" smtClean="0"/>
              <a:t>- Identify </a:t>
            </a:r>
            <a:r>
              <a:rPr lang="en-US" dirty="0"/>
              <a:t>types of tests to be performed. </a:t>
            </a:r>
          </a:p>
          <a:p>
            <a:pPr>
              <a:lnSpc>
                <a:spcPct val="125000"/>
              </a:lnSpc>
            </a:pPr>
            <a:r>
              <a:rPr lang="en-US" dirty="0" smtClean="0"/>
              <a:t>- Gather </a:t>
            </a:r>
            <a:r>
              <a:rPr lang="en-US" dirty="0"/>
              <a:t>details about testing priorities and focus.</a:t>
            </a:r>
          </a:p>
          <a:p>
            <a:pPr>
              <a:lnSpc>
                <a:spcPct val="125000"/>
              </a:lnSpc>
            </a:pPr>
            <a:r>
              <a:rPr lang="en-US" dirty="0" smtClean="0"/>
              <a:t>- Prepare</a:t>
            </a:r>
            <a:r>
              <a:rPr lang="en-US" dirty="0"/>
              <a:t> </a:t>
            </a:r>
            <a:r>
              <a:rPr lang="en-US" b="1" dirty="0" smtClean="0"/>
              <a:t>Requirement Traceability Matrix</a:t>
            </a:r>
          </a:p>
          <a:p>
            <a:pPr>
              <a:lnSpc>
                <a:spcPct val="125000"/>
              </a:lnSpc>
            </a:pPr>
            <a:r>
              <a:rPr lang="en-US" dirty="0" smtClean="0"/>
              <a:t>- Identify test environment details where testing is supposed to be carried out. </a:t>
            </a:r>
          </a:p>
          <a:p>
            <a:pPr>
              <a:lnSpc>
                <a:spcPct val="125000"/>
              </a:lnSpc>
            </a:pPr>
            <a:r>
              <a:rPr lang="en-US" dirty="0" smtClean="0"/>
              <a:t>- Automation </a:t>
            </a:r>
            <a:r>
              <a:rPr lang="en-US" dirty="0"/>
              <a:t>feasibility analysis (if required</a:t>
            </a:r>
            <a:r>
              <a:rPr lang="en-US" dirty="0" smtClean="0"/>
              <a:t>).</a:t>
            </a:r>
          </a:p>
          <a:p>
            <a:pPr marL="285750" indent="-285750">
              <a:lnSpc>
                <a:spcPct val="125000"/>
              </a:lnSpc>
              <a:buFontTx/>
              <a:buChar char="-"/>
            </a:pPr>
            <a:endParaRPr lang="en-US" dirty="0"/>
          </a:p>
          <a:p>
            <a:pPr>
              <a:lnSpc>
                <a:spcPct val="125000"/>
              </a:lnSpc>
            </a:pPr>
            <a:r>
              <a:rPr lang="en-US" b="1" dirty="0"/>
              <a:t>Deliverables</a:t>
            </a:r>
            <a:r>
              <a:rPr lang="en-US" b="1" dirty="0" smtClean="0"/>
              <a:t> </a:t>
            </a:r>
            <a:r>
              <a:rPr lang="en-US" b="1" dirty="0"/>
              <a:t>of Requirement Phase Testing</a:t>
            </a:r>
            <a:endParaRPr lang="en-US" dirty="0"/>
          </a:p>
          <a:p>
            <a:pPr>
              <a:lnSpc>
                <a:spcPct val="125000"/>
              </a:lnSpc>
            </a:pPr>
            <a:r>
              <a:rPr lang="en-US" dirty="0" smtClean="0"/>
              <a:t>- RTM</a:t>
            </a:r>
            <a:endParaRPr lang="en-US" dirty="0"/>
          </a:p>
          <a:p>
            <a:pPr>
              <a:lnSpc>
                <a:spcPct val="125000"/>
              </a:lnSpc>
            </a:pPr>
            <a:r>
              <a:rPr lang="en-US" dirty="0" smtClean="0"/>
              <a:t>- Automation </a:t>
            </a:r>
            <a:r>
              <a:rPr lang="en-US" dirty="0"/>
              <a:t>feasibility </a:t>
            </a:r>
            <a:r>
              <a:rPr lang="en-US" dirty="0" smtClean="0"/>
              <a:t>report</a:t>
            </a:r>
            <a:endParaRPr lang="en-US" dirty="0"/>
          </a:p>
          <a:p>
            <a:pPr algn="just">
              <a:lnSpc>
                <a:spcPct val="150000"/>
              </a:lnSpc>
            </a:pPr>
            <a:endParaRPr lang="en-US" dirty="0"/>
          </a:p>
        </p:txBody>
      </p:sp>
    </p:spTree>
    <p:extLst>
      <p:ext uri="{BB962C8B-B14F-4D97-AF65-F5344CB8AC3E}">
        <p14:creationId xmlns:p14="http://schemas.microsoft.com/office/powerpoint/2010/main" val="573968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5978560"/>
          </a:xfrm>
          <a:prstGeom prst="rect">
            <a:avLst/>
          </a:prstGeom>
          <a:noFill/>
        </p:spPr>
        <p:txBody>
          <a:bodyPr wrap="square" rtlCol="0">
            <a:spAutoFit/>
          </a:bodyPr>
          <a:lstStyle/>
          <a:p>
            <a:r>
              <a:rPr lang="en-US" b="1" dirty="0" smtClean="0"/>
              <a:t>1.2 </a:t>
            </a:r>
            <a:r>
              <a:rPr lang="en-US" b="1" dirty="0"/>
              <a:t>Test Planning in STLC</a:t>
            </a:r>
          </a:p>
          <a:p>
            <a:pPr algn="just">
              <a:lnSpc>
                <a:spcPct val="125000"/>
              </a:lnSpc>
            </a:pPr>
            <a:r>
              <a:rPr lang="en-US" b="1" dirty="0" smtClean="0"/>
              <a:t>	Test </a:t>
            </a:r>
            <a:r>
              <a:rPr lang="en-US" b="1" dirty="0"/>
              <a:t>Planning in STLC</a:t>
            </a:r>
            <a:r>
              <a:rPr lang="en-US" dirty="0"/>
              <a:t> is a phase in which a Senior QA manager determines the test plan strategy along with efforts and cost estimates for the project. Moreover, the resources, test environment, test limitations and the testing schedule are also determined. The Test Plan gets prepared and finalized in the same phase</a:t>
            </a:r>
            <a:r>
              <a:rPr lang="en-US" dirty="0" smtClean="0"/>
              <a:t>.</a:t>
            </a:r>
          </a:p>
          <a:p>
            <a:pPr algn="just">
              <a:lnSpc>
                <a:spcPct val="125000"/>
              </a:lnSpc>
            </a:pPr>
            <a:endParaRPr lang="en-US" dirty="0"/>
          </a:p>
          <a:p>
            <a:pPr algn="just">
              <a:lnSpc>
                <a:spcPct val="125000"/>
              </a:lnSpc>
            </a:pPr>
            <a:r>
              <a:rPr lang="en-US" b="1" dirty="0"/>
              <a:t>Test Planning Activities</a:t>
            </a:r>
            <a:endParaRPr lang="en-US" dirty="0"/>
          </a:p>
          <a:p>
            <a:pPr algn="just">
              <a:lnSpc>
                <a:spcPct val="125000"/>
              </a:lnSpc>
            </a:pPr>
            <a:r>
              <a:rPr lang="en-US" dirty="0" smtClean="0"/>
              <a:t>- Preparation </a:t>
            </a:r>
            <a:r>
              <a:rPr lang="en-US" dirty="0"/>
              <a:t>of test plan/strategy document for various types of testing</a:t>
            </a:r>
          </a:p>
          <a:p>
            <a:pPr algn="just">
              <a:lnSpc>
                <a:spcPct val="125000"/>
              </a:lnSpc>
            </a:pPr>
            <a:r>
              <a:rPr lang="en-US" dirty="0" smtClean="0"/>
              <a:t>- Test </a:t>
            </a:r>
            <a:r>
              <a:rPr lang="en-US" dirty="0"/>
              <a:t>tool selection</a:t>
            </a:r>
          </a:p>
          <a:p>
            <a:pPr algn="just">
              <a:lnSpc>
                <a:spcPct val="125000"/>
              </a:lnSpc>
            </a:pPr>
            <a:r>
              <a:rPr lang="en-US" dirty="0" smtClean="0"/>
              <a:t>- Test </a:t>
            </a:r>
            <a:r>
              <a:rPr lang="en-US" dirty="0"/>
              <a:t>effort estimation</a:t>
            </a:r>
          </a:p>
          <a:p>
            <a:pPr algn="just">
              <a:lnSpc>
                <a:spcPct val="125000"/>
              </a:lnSpc>
            </a:pPr>
            <a:r>
              <a:rPr lang="en-US" dirty="0" smtClean="0"/>
              <a:t>- Resource </a:t>
            </a:r>
            <a:r>
              <a:rPr lang="en-US" dirty="0"/>
              <a:t>planning and determining roles and responsibilities.</a:t>
            </a:r>
          </a:p>
          <a:p>
            <a:pPr algn="just">
              <a:lnSpc>
                <a:spcPct val="125000"/>
              </a:lnSpc>
            </a:pPr>
            <a:r>
              <a:rPr lang="en-US" dirty="0" smtClean="0"/>
              <a:t>- Training requirement</a:t>
            </a:r>
          </a:p>
          <a:p>
            <a:pPr marL="285750" indent="-285750" algn="just">
              <a:lnSpc>
                <a:spcPct val="125000"/>
              </a:lnSpc>
              <a:buFontTx/>
              <a:buChar char="-"/>
            </a:pPr>
            <a:endParaRPr lang="en-US" dirty="0"/>
          </a:p>
          <a:p>
            <a:pPr algn="just">
              <a:lnSpc>
                <a:spcPct val="125000"/>
              </a:lnSpc>
            </a:pPr>
            <a:r>
              <a:rPr lang="en-US" b="1" dirty="0"/>
              <a:t>Deliverables</a:t>
            </a:r>
            <a:r>
              <a:rPr lang="en-US" b="1" dirty="0" smtClean="0"/>
              <a:t> of </a:t>
            </a:r>
            <a:r>
              <a:rPr lang="en-US" b="1" dirty="0"/>
              <a:t>Test Planning</a:t>
            </a:r>
            <a:endParaRPr lang="en-US" dirty="0"/>
          </a:p>
          <a:p>
            <a:pPr algn="just">
              <a:lnSpc>
                <a:spcPct val="125000"/>
              </a:lnSpc>
            </a:pPr>
            <a:r>
              <a:rPr lang="en-US" dirty="0" smtClean="0"/>
              <a:t>- Test plan/strategy </a:t>
            </a:r>
            <a:r>
              <a:rPr lang="en-US" dirty="0"/>
              <a:t>document.</a:t>
            </a:r>
          </a:p>
          <a:p>
            <a:pPr algn="just">
              <a:lnSpc>
                <a:spcPct val="125000"/>
              </a:lnSpc>
            </a:pPr>
            <a:r>
              <a:rPr lang="en-US" dirty="0" smtClean="0"/>
              <a:t>- Effort estimation</a:t>
            </a:r>
            <a:r>
              <a:rPr lang="en-US" dirty="0"/>
              <a:t> document.</a:t>
            </a:r>
          </a:p>
          <a:p>
            <a:pPr algn="just">
              <a:lnSpc>
                <a:spcPct val="150000"/>
              </a:lnSpc>
            </a:pPr>
            <a:endParaRPr lang="en-US" dirty="0"/>
          </a:p>
        </p:txBody>
      </p:sp>
    </p:spTree>
    <p:extLst>
      <p:ext uri="{BB962C8B-B14F-4D97-AF65-F5344CB8AC3E}">
        <p14:creationId xmlns:p14="http://schemas.microsoft.com/office/powerpoint/2010/main" val="926903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5286062"/>
          </a:xfrm>
          <a:prstGeom prst="rect">
            <a:avLst/>
          </a:prstGeom>
          <a:noFill/>
        </p:spPr>
        <p:txBody>
          <a:bodyPr wrap="square" rtlCol="0">
            <a:spAutoFit/>
          </a:bodyPr>
          <a:lstStyle/>
          <a:p>
            <a:r>
              <a:rPr lang="en-US" b="1" dirty="0" smtClean="0"/>
              <a:t>1.3 </a:t>
            </a:r>
            <a:r>
              <a:rPr lang="en-US" b="1" dirty="0"/>
              <a:t>Test Case Development Phase</a:t>
            </a:r>
          </a:p>
          <a:p>
            <a:pPr algn="just">
              <a:lnSpc>
                <a:spcPct val="125000"/>
              </a:lnSpc>
            </a:pPr>
            <a:r>
              <a:rPr lang="en-US" dirty="0" smtClean="0"/>
              <a:t>	The</a:t>
            </a:r>
            <a:r>
              <a:rPr lang="en-US" dirty="0"/>
              <a:t> </a:t>
            </a:r>
            <a:r>
              <a:rPr lang="en-US" b="1" dirty="0"/>
              <a:t>Test Case Development Phase</a:t>
            </a:r>
            <a:r>
              <a:rPr lang="en-US" dirty="0"/>
              <a:t> involves the creation, verification and rework of test cases &amp; test scripts after the test plan is ready. Initially, the Test </a:t>
            </a:r>
            <a:r>
              <a:rPr lang="en-US" dirty="0" smtClean="0"/>
              <a:t>data</a:t>
            </a:r>
            <a:r>
              <a:rPr lang="en-US" dirty="0"/>
              <a:t> is identified then created and reviewed and then reworked based on the preconditions. Then the QA team starts the development process of test cases for individual units</a:t>
            </a:r>
            <a:r>
              <a:rPr lang="en-US" dirty="0" smtClean="0"/>
              <a:t>.</a:t>
            </a:r>
          </a:p>
          <a:p>
            <a:pPr algn="just">
              <a:lnSpc>
                <a:spcPct val="125000"/>
              </a:lnSpc>
            </a:pPr>
            <a:endParaRPr lang="en-US" dirty="0"/>
          </a:p>
          <a:p>
            <a:pPr algn="just">
              <a:lnSpc>
                <a:spcPct val="125000"/>
              </a:lnSpc>
            </a:pPr>
            <a:r>
              <a:rPr lang="en-US" b="1" dirty="0"/>
              <a:t>Test Case Development Activities</a:t>
            </a:r>
            <a:endParaRPr lang="en-US" dirty="0"/>
          </a:p>
          <a:p>
            <a:pPr algn="just">
              <a:lnSpc>
                <a:spcPct val="125000"/>
              </a:lnSpc>
            </a:pPr>
            <a:r>
              <a:rPr lang="en-US" dirty="0" smtClean="0"/>
              <a:t>- Create </a:t>
            </a:r>
            <a:r>
              <a:rPr lang="en-US" dirty="0"/>
              <a:t>test cases, automation scripts (if applicable)</a:t>
            </a:r>
          </a:p>
          <a:p>
            <a:pPr algn="just">
              <a:lnSpc>
                <a:spcPct val="125000"/>
              </a:lnSpc>
            </a:pPr>
            <a:r>
              <a:rPr lang="en-US" dirty="0" smtClean="0"/>
              <a:t>- Review </a:t>
            </a:r>
            <a:r>
              <a:rPr lang="en-US" dirty="0"/>
              <a:t>and baseline test cases and scripts</a:t>
            </a:r>
          </a:p>
          <a:p>
            <a:pPr algn="just">
              <a:lnSpc>
                <a:spcPct val="125000"/>
              </a:lnSpc>
            </a:pPr>
            <a:r>
              <a:rPr lang="en-US" dirty="0" smtClean="0"/>
              <a:t>- Create </a:t>
            </a:r>
            <a:r>
              <a:rPr lang="en-US" dirty="0"/>
              <a:t>test data (If Test Environment is available</a:t>
            </a:r>
            <a:r>
              <a:rPr lang="en-US" dirty="0" smtClean="0"/>
              <a:t>)</a:t>
            </a:r>
          </a:p>
          <a:p>
            <a:pPr algn="just">
              <a:lnSpc>
                <a:spcPct val="125000"/>
              </a:lnSpc>
            </a:pPr>
            <a:endParaRPr lang="en-US" dirty="0"/>
          </a:p>
          <a:p>
            <a:pPr algn="just">
              <a:lnSpc>
                <a:spcPct val="125000"/>
              </a:lnSpc>
            </a:pPr>
            <a:r>
              <a:rPr lang="en-US" b="1" dirty="0" smtClean="0"/>
              <a:t>Deliverables of </a:t>
            </a:r>
            <a:r>
              <a:rPr lang="en-US" b="1" dirty="0"/>
              <a:t>Test Case Development</a:t>
            </a:r>
            <a:endParaRPr lang="en-US" dirty="0"/>
          </a:p>
          <a:p>
            <a:pPr algn="just">
              <a:lnSpc>
                <a:spcPct val="125000"/>
              </a:lnSpc>
            </a:pPr>
            <a:r>
              <a:rPr lang="en-US" dirty="0" smtClean="0"/>
              <a:t>- Test </a:t>
            </a:r>
            <a:r>
              <a:rPr lang="en-US" dirty="0"/>
              <a:t>cases/scripts</a:t>
            </a:r>
          </a:p>
          <a:p>
            <a:pPr algn="just">
              <a:lnSpc>
                <a:spcPct val="125000"/>
              </a:lnSpc>
            </a:pPr>
            <a:r>
              <a:rPr lang="en-US" dirty="0" smtClean="0"/>
              <a:t>- Test </a:t>
            </a:r>
            <a:r>
              <a:rPr lang="en-US" dirty="0"/>
              <a:t>data</a:t>
            </a:r>
          </a:p>
          <a:p>
            <a:pPr algn="just">
              <a:lnSpc>
                <a:spcPct val="150000"/>
              </a:lnSpc>
            </a:pPr>
            <a:endParaRPr lang="en-US" dirty="0"/>
          </a:p>
        </p:txBody>
      </p:sp>
    </p:spTree>
    <p:extLst>
      <p:ext uri="{BB962C8B-B14F-4D97-AF65-F5344CB8AC3E}">
        <p14:creationId xmlns:p14="http://schemas.microsoft.com/office/powerpoint/2010/main" val="3794978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P6</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5978560"/>
          </a:xfrm>
          <a:prstGeom prst="rect">
            <a:avLst/>
          </a:prstGeom>
          <a:noFill/>
        </p:spPr>
        <p:txBody>
          <a:bodyPr wrap="square" rtlCol="0">
            <a:spAutoFit/>
          </a:bodyPr>
          <a:lstStyle/>
          <a:p>
            <a:r>
              <a:rPr lang="en-US" b="1" dirty="0" smtClean="0"/>
              <a:t>1.4 </a:t>
            </a:r>
            <a:r>
              <a:rPr lang="en-US" b="1" dirty="0"/>
              <a:t>Test Environment Setup</a:t>
            </a:r>
          </a:p>
          <a:p>
            <a:pPr algn="just">
              <a:lnSpc>
                <a:spcPct val="125000"/>
              </a:lnSpc>
            </a:pPr>
            <a:r>
              <a:rPr lang="en-US" b="1" dirty="0" smtClean="0"/>
              <a:t>	Test </a:t>
            </a:r>
            <a:r>
              <a:rPr lang="en-US" b="1" dirty="0"/>
              <a:t>Environment Setup</a:t>
            </a:r>
            <a:r>
              <a:rPr lang="en-US" dirty="0"/>
              <a:t> decides the software and hardware conditions under which a work product is tested. It is one of the critical aspects of the testing process and can be done in parallel with the Test Case Development Phase. Test team may not be involved in this activity if the development team provides the test environment. The test team is required to do a readiness check (smoke testing) of the given environment</a:t>
            </a:r>
            <a:r>
              <a:rPr lang="en-US" dirty="0" smtClean="0"/>
              <a:t>.</a:t>
            </a:r>
          </a:p>
          <a:p>
            <a:pPr algn="just">
              <a:lnSpc>
                <a:spcPct val="125000"/>
              </a:lnSpc>
            </a:pPr>
            <a:endParaRPr lang="en-US" dirty="0"/>
          </a:p>
          <a:p>
            <a:pPr algn="just">
              <a:lnSpc>
                <a:spcPct val="125000"/>
              </a:lnSpc>
            </a:pPr>
            <a:r>
              <a:rPr lang="en-US" b="1" dirty="0"/>
              <a:t>Test Environment Setup Activities</a:t>
            </a:r>
            <a:endParaRPr lang="en-US" dirty="0"/>
          </a:p>
          <a:p>
            <a:pPr algn="just">
              <a:lnSpc>
                <a:spcPct val="125000"/>
              </a:lnSpc>
            </a:pPr>
            <a:r>
              <a:rPr lang="en-US" dirty="0" smtClean="0"/>
              <a:t> - Understand </a:t>
            </a:r>
            <a:r>
              <a:rPr lang="en-US" dirty="0"/>
              <a:t>the required architecture, environment set-up and prepare hardware and software requirement list for the Test Environment.</a:t>
            </a:r>
          </a:p>
          <a:p>
            <a:pPr algn="just">
              <a:lnSpc>
                <a:spcPct val="125000"/>
              </a:lnSpc>
            </a:pPr>
            <a:r>
              <a:rPr lang="en-US" dirty="0" smtClean="0"/>
              <a:t>- Setup </a:t>
            </a:r>
            <a:r>
              <a:rPr lang="en-US" dirty="0"/>
              <a:t>test Environment and test data</a:t>
            </a:r>
          </a:p>
          <a:p>
            <a:pPr algn="just">
              <a:lnSpc>
                <a:spcPct val="125000"/>
              </a:lnSpc>
            </a:pPr>
            <a:r>
              <a:rPr lang="en-US" dirty="0" smtClean="0"/>
              <a:t>- Perform </a:t>
            </a:r>
            <a:r>
              <a:rPr lang="en-US" dirty="0"/>
              <a:t>smoke test on the </a:t>
            </a:r>
            <a:r>
              <a:rPr lang="en-US" dirty="0" smtClean="0"/>
              <a:t>build</a:t>
            </a:r>
          </a:p>
          <a:p>
            <a:pPr algn="just">
              <a:lnSpc>
                <a:spcPct val="125000"/>
              </a:lnSpc>
            </a:pPr>
            <a:endParaRPr lang="en-US" dirty="0"/>
          </a:p>
          <a:p>
            <a:pPr algn="just">
              <a:lnSpc>
                <a:spcPct val="125000"/>
              </a:lnSpc>
            </a:pPr>
            <a:r>
              <a:rPr lang="en-US" b="1" dirty="0"/>
              <a:t>Deliverables of Test Environment Setup</a:t>
            </a:r>
            <a:endParaRPr lang="en-US" dirty="0"/>
          </a:p>
          <a:p>
            <a:pPr algn="just">
              <a:lnSpc>
                <a:spcPct val="125000"/>
              </a:lnSpc>
            </a:pPr>
            <a:r>
              <a:rPr lang="en-US" dirty="0" smtClean="0"/>
              <a:t>- Environment </a:t>
            </a:r>
            <a:r>
              <a:rPr lang="en-US" dirty="0"/>
              <a:t>ready with test data set up</a:t>
            </a:r>
          </a:p>
          <a:p>
            <a:pPr algn="just">
              <a:lnSpc>
                <a:spcPct val="125000"/>
              </a:lnSpc>
            </a:pPr>
            <a:r>
              <a:rPr lang="en-US" dirty="0" smtClean="0"/>
              <a:t>- Smoke </a:t>
            </a:r>
            <a:r>
              <a:rPr lang="en-US" dirty="0"/>
              <a:t>Test Results.</a:t>
            </a:r>
          </a:p>
          <a:p>
            <a:pPr algn="just">
              <a:lnSpc>
                <a:spcPct val="150000"/>
              </a:lnSpc>
            </a:pPr>
            <a:endParaRPr lang="en-US" dirty="0"/>
          </a:p>
        </p:txBody>
      </p:sp>
    </p:spTree>
    <p:extLst>
      <p:ext uri="{BB962C8B-B14F-4D97-AF65-F5344CB8AC3E}">
        <p14:creationId xmlns:p14="http://schemas.microsoft.com/office/powerpoint/2010/main" val="3422534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P7</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5786199"/>
          </a:xfrm>
          <a:prstGeom prst="rect">
            <a:avLst/>
          </a:prstGeom>
          <a:noFill/>
        </p:spPr>
        <p:txBody>
          <a:bodyPr wrap="square" rtlCol="0">
            <a:spAutoFit/>
          </a:bodyPr>
          <a:lstStyle/>
          <a:p>
            <a:r>
              <a:rPr lang="en-US" b="1" dirty="0" smtClean="0"/>
              <a:t>1.5 </a:t>
            </a:r>
            <a:r>
              <a:rPr lang="en-US" b="1" dirty="0"/>
              <a:t>Test Execution Phase</a:t>
            </a:r>
          </a:p>
          <a:p>
            <a:pPr algn="just">
              <a:lnSpc>
                <a:spcPct val="125000"/>
              </a:lnSpc>
              <a:spcAft>
                <a:spcPts val="600"/>
              </a:spcAft>
            </a:pPr>
            <a:r>
              <a:rPr lang="en-US" b="1" dirty="0" smtClean="0"/>
              <a:t>	Test </a:t>
            </a:r>
            <a:r>
              <a:rPr lang="en-US" b="1" dirty="0"/>
              <a:t>Execution Phase</a:t>
            </a:r>
            <a:r>
              <a:rPr lang="en-US" dirty="0"/>
              <a:t> is carried out by the testers in which testing of the software build is done based on test plans and test cases prepared. The process consists of test script execution, test script maintenance and bug reporting. If bugs are reported then it is reverted back to development team for correction and retesting will be performed</a:t>
            </a:r>
            <a:r>
              <a:rPr lang="en-US" dirty="0" smtClean="0"/>
              <a:t>.</a:t>
            </a:r>
            <a:endParaRPr lang="en-US" dirty="0"/>
          </a:p>
          <a:p>
            <a:pPr algn="just">
              <a:lnSpc>
                <a:spcPct val="125000"/>
              </a:lnSpc>
            </a:pPr>
            <a:r>
              <a:rPr lang="en-US" b="1" dirty="0"/>
              <a:t>Test Execution Activities</a:t>
            </a:r>
            <a:endParaRPr lang="en-US" dirty="0"/>
          </a:p>
          <a:p>
            <a:pPr algn="just">
              <a:lnSpc>
                <a:spcPct val="125000"/>
              </a:lnSpc>
            </a:pPr>
            <a:r>
              <a:rPr lang="en-US" dirty="0" smtClean="0"/>
              <a:t>- Execute </a:t>
            </a:r>
            <a:r>
              <a:rPr lang="en-US" dirty="0"/>
              <a:t>tests as per plan</a:t>
            </a:r>
          </a:p>
          <a:p>
            <a:pPr algn="just">
              <a:lnSpc>
                <a:spcPct val="125000"/>
              </a:lnSpc>
            </a:pPr>
            <a:r>
              <a:rPr lang="en-US" dirty="0" smtClean="0"/>
              <a:t>- Document </a:t>
            </a:r>
            <a:r>
              <a:rPr lang="en-US" dirty="0"/>
              <a:t>test results, and log defects for failed cases</a:t>
            </a:r>
          </a:p>
          <a:p>
            <a:pPr algn="just">
              <a:lnSpc>
                <a:spcPct val="125000"/>
              </a:lnSpc>
            </a:pPr>
            <a:r>
              <a:rPr lang="en-US" dirty="0" smtClean="0"/>
              <a:t>- Map </a:t>
            </a:r>
            <a:r>
              <a:rPr lang="en-US" dirty="0"/>
              <a:t>defects to test cases in RTM</a:t>
            </a:r>
          </a:p>
          <a:p>
            <a:pPr algn="just">
              <a:lnSpc>
                <a:spcPct val="125000"/>
              </a:lnSpc>
            </a:pPr>
            <a:r>
              <a:rPr lang="en-US" dirty="0" smtClean="0"/>
              <a:t>- Retest </a:t>
            </a:r>
            <a:r>
              <a:rPr lang="en-US" dirty="0"/>
              <a:t>the </a:t>
            </a:r>
            <a:r>
              <a:rPr lang="en-US" dirty="0" smtClean="0"/>
              <a:t>Defect fixes</a:t>
            </a:r>
            <a:endParaRPr lang="en-US" dirty="0"/>
          </a:p>
          <a:p>
            <a:pPr algn="just">
              <a:lnSpc>
                <a:spcPct val="125000"/>
              </a:lnSpc>
              <a:spcAft>
                <a:spcPts val="600"/>
              </a:spcAft>
            </a:pPr>
            <a:r>
              <a:rPr lang="en-US" dirty="0" smtClean="0"/>
              <a:t>- Track </a:t>
            </a:r>
            <a:r>
              <a:rPr lang="en-US" dirty="0"/>
              <a:t>the defects to </a:t>
            </a:r>
            <a:r>
              <a:rPr lang="en-US" dirty="0" smtClean="0"/>
              <a:t>closure</a:t>
            </a:r>
            <a:endParaRPr lang="en-US" dirty="0"/>
          </a:p>
          <a:p>
            <a:pPr algn="just">
              <a:lnSpc>
                <a:spcPct val="125000"/>
              </a:lnSpc>
            </a:pPr>
            <a:r>
              <a:rPr lang="en-US" b="1" dirty="0"/>
              <a:t>Deliverables of Test Execution</a:t>
            </a:r>
            <a:endParaRPr lang="en-US" dirty="0"/>
          </a:p>
          <a:p>
            <a:pPr algn="just">
              <a:lnSpc>
                <a:spcPct val="125000"/>
              </a:lnSpc>
            </a:pPr>
            <a:r>
              <a:rPr lang="en-US" dirty="0" smtClean="0"/>
              <a:t>- Completed </a:t>
            </a:r>
            <a:r>
              <a:rPr lang="en-US" dirty="0"/>
              <a:t>RTM with the execution status</a:t>
            </a:r>
          </a:p>
          <a:p>
            <a:pPr algn="just">
              <a:lnSpc>
                <a:spcPct val="125000"/>
              </a:lnSpc>
            </a:pPr>
            <a:r>
              <a:rPr lang="en-US" dirty="0" smtClean="0"/>
              <a:t>- Test </a:t>
            </a:r>
            <a:r>
              <a:rPr lang="en-US" dirty="0"/>
              <a:t>cases updated with results</a:t>
            </a:r>
          </a:p>
          <a:p>
            <a:pPr algn="just">
              <a:lnSpc>
                <a:spcPct val="125000"/>
              </a:lnSpc>
            </a:pPr>
            <a:r>
              <a:rPr lang="en-US" dirty="0" smtClean="0"/>
              <a:t>- Defect </a:t>
            </a:r>
            <a:r>
              <a:rPr lang="en-US" dirty="0"/>
              <a:t>reports</a:t>
            </a:r>
          </a:p>
          <a:p>
            <a:pPr algn="just">
              <a:lnSpc>
                <a:spcPct val="150000"/>
              </a:lnSpc>
            </a:pPr>
            <a:endParaRPr lang="en-US" dirty="0"/>
          </a:p>
        </p:txBody>
      </p:sp>
    </p:spTree>
    <p:extLst>
      <p:ext uri="{BB962C8B-B14F-4D97-AF65-F5344CB8AC3E}">
        <p14:creationId xmlns:p14="http://schemas.microsoft.com/office/powerpoint/2010/main" val="889659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1. Software Testing Life Cycle (STLC</a:t>
            </a:r>
            <a:r>
              <a:rPr lang="en-US" sz="3600" dirty="0" smtClean="0"/>
              <a:t>) – P8</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2" name="TextBox 1"/>
          <p:cNvSpPr txBox="1"/>
          <p:nvPr/>
        </p:nvSpPr>
        <p:spPr>
          <a:xfrm>
            <a:off x="583628" y="1093316"/>
            <a:ext cx="11016343" cy="5493812"/>
          </a:xfrm>
          <a:prstGeom prst="rect">
            <a:avLst/>
          </a:prstGeom>
          <a:noFill/>
        </p:spPr>
        <p:txBody>
          <a:bodyPr wrap="square" rtlCol="0">
            <a:spAutoFit/>
          </a:bodyPr>
          <a:lstStyle/>
          <a:p>
            <a:r>
              <a:rPr lang="en-US" b="1" dirty="0" smtClean="0"/>
              <a:t>1.6 </a:t>
            </a:r>
            <a:r>
              <a:rPr lang="en-US" b="1" dirty="0"/>
              <a:t>Test Cycle Closure</a:t>
            </a:r>
          </a:p>
          <a:p>
            <a:pPr algn="just"/>
            <a:r>
              <a:rPr lang="en-US" b="1" dirty="0" smtClean="0"/>
              <a:t>	Test </a:t>
            </a:r>
            <a:r>
              <a:rPr lang="en-US" b="1" dirty="0"/>
              <a:t>Cycle Closure</a:t>
            </a:r>
            <a:r>
              <a:rPr lang="en-US" dirty="0"/>
              <a:t> phase is completion of test execution which involves several activities like test completion reporting, collection of test completion matrices and test results. Testing team members meet, discuss and analyze testing artifacts to identify strategies that have to be implemented in future, taking lessons from current test cycle. The idea is to remove process bottlenecks for future test cycles</a:t>
            </a:r>
            <a:r>
              <a:rPr lang="en-US" dirty="0" smtClean="0"/>
              <a:t>.</a:t>
            </a:r>
          </a:p>
          <a:p>
            <a:pPr algn="just"/>
            <a:endParaRPr lang="en-US" dirty="0"/>
          </a:p>
          <a:p>
            <a:pPr algn="just"/>
            <a:r>
              <a:rPr lang="en-US" b="1" dirty="0"/>
              <a:t>Test Cycle Closure Activities</a:t>
            </a:r>
            <a:endParaRPr lang="en-US" dirty="0"/>
          </a:p>
          <a:p>
            <a:pPr algn="just"/>
            <a:r>
              <a:rPr lang="en-US" dirty="0" smtClean="0"/>
              <a:t>- Evaluate </a:t>
            </a:r>
            <a:r>
              <a:rPr lang="en-US" dirty="0"/>
              <a:t>cycle completion criteria based on Time, Test coverage, Cost</a:t>
            </a:r>
            <a:r>
              <a:rPr lang="en-US" dirty="0" smtClean="0"/>
              <a:t>, Software</a:t>
            </a:r>
            <a:r>
              <a:rPr lang="en-US" dirty="0"/>
              <a:t>, Critical Business Objectives, Quality</a:t>
            </a:r>
          </a:p>
          <a:p>
            <a:pPr algn="just"/>
            <a:r>
              <a:rPr lang="en-US" dirty="0" smtClean="0"/>
              <a:t>- Prepare </a:t>
            </a:r>
            <a:r>
              <a:rPr lang="en-US" dirty="0"/>
              <a:t>test metrics based on the above parameters.</a:t>
            </a:r>
          </a:p>
          <a:p>
            <a:pPr algn="just"/>
            <a:r>
              <a:rPr lang="en-US" dirty="0" smtClean="0"/>
              <a:t>- Document </a:t>
            </a:r>
            <a:r>
              <a:rPr lang="en-US" dirty="0"/>
              <a:t>the learning out of the project</a:t>
            </a:r>
          </a:p>
          <a:p>
            <a:pPr algn="just"/>
            <a:r>
              <a:rPr lang="en-US" dirty="0" smtClean="0"/>
              <a:t>- Prepare </a:t>
            </a:r>
            <a:r>
              <a:rPr lang="en-US" dirty="0"/>
              <a:t>Test closure report</a:t>
            </a:r>
          </a:p>
          <a:p>
            <a:pPr algn="just"/>
            <a:r>
              <a:rPr lang="en-US" dirty="0" smtClean="0"/>
              <a:t>- Qualitative </a:t>
            </a:r>
            <a:r>
              <a:rPr lang="en-US" dirty="0"/>
              <a:t>and quantitative reporting of quality of the work product to the customer.</a:t>
            </a:r>
          </a:p>
          <a:p>
            <a:pPr algn="just"/>
            <a:r>
              <a:rPr lang="en-US" dirty="0" smtClean="0"/>
              <a:t>-Test </a:t>
            </a:r>
            <a:r>
              <a:rPr lang="en-US" dirty="0"/>
              <a:t>result analysis to find out the defect distribution by type and severity</a:t>
            </a:r>
            <a:r>
              <a:rPr lang="en-US" dirty="0" smtClean="0"/>
              <a:t>.</a:t>
            </a:r>
          </a:p>
          <a:p>
            <a:pPr algn="just"/>
            <a:endParaRPr lang="en-US" dirty="0"/>
          </a:p>
          <a:p>
            <a:pPr algn="just"/>
            <a:r>
              <a:rPr lang="en-US" b="1" dirty="0"/>
              <a:t>Deliverables of Test Cycle Closure</a:t>
            </a:r>
            <a:endParaRPr lang="en-US" dirty="0"/>
          </a:p>
          <a:p>
            <a:pPr algn="just"/>
            <a:r>
              <a:rPr lang="en-US" dirty="0" smtClean="0"/>
              <a:t>- Test </a:t>
            </a:r>
            <a:r>
              <a:rPr lang="en-US" dirty="0"/>
              <a:t>Closure report</a:t>
            </a:r>
          </a:p>
          <a:p>
            <a:pPr algn="just"/>
            <a:r>
              <a:rPr lang="en-US" dirty="0" smtClean="0"/>
              <a:t>- Test </a:t>
            </a:r>
            <a:r>
              <a:rPr lang="en-US" dirty="0"/>
              <a:t>metrics</a:t>
            </a:r>
          </a:p>
          <a:p>
            <a:pPr algn="just">
              <a:lnSpc>
                <a:spcPct val="150000"/>
              </a:lnSpc>
            </a:pPr>
            <a:endParaRPr lang="en-US" dirty="0"/>
          </a:p>
        </p:txBody>
      </p:sp>
    </p:spTree>
    <p:extLst>
      <p:ext uri="{BB962C8B-B14F-4D97-AF65-F5344CB8AC3E}">
        <p14:creationId xmlns:p14="http://schemas.microsoft.com/office/powerpoint/2010/main" val="785190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2. Test Case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pic>
        <p:nvPicPr>
          <p:cNvPr id="3" name="Picture 2"/>
          <p:cNvPicPr>
            <a:picLocks noChangeAspect="1"/>
          </p:cNvPicPr>
          <p:nvPr/>
        </p:nvPicPr>
        <p:blipFill>
          <a:blip r:embed="rId3"/>
          <a:stretch>
            <a:fillRect/>
          </a:stretch>
        </p:blipFill>
        <p:spPr>
          <a:xfrm>
            <a:off x="2375304" y="2951083"/>
            <a:ext cx="7201905" cy="3381847"/>
          </a:xfrm>
          <a:prstGeom prst="rect">
            <a:avLst/>
          </a:prstGeom>
        </p:spPr>
      </p:pic>
      <p:sp>
        <p:nvSpPr>
          <p:cNvPr id="6" name="TextBox 5"/>
          <p:cNvSpPr txBox="1"/>
          <p:nvPr/>
        </p:nvSpPr>
        <p:spPr>
          <a:xfrm>
            <a:off x="583628" y="1093316"/>
            <a:ext cx="11016343" cy="1754326"/>
          </a:xfrm>
          <a:prstGeom prst="rect">
            <a:avLst/>
          </a:prstGeom>
          <a:noFill/>
        </p:spPr>
        <p:txBody>
          <a:bodyPr wrap="square" rtlCol="0">
            <a:spAutoFit/>
          </a:bodyPr>
          <a:lstStyle/>
          <a:p>
            <a:pPr algn="just">
              <a:lnSpc>
                <a:spcPct val="150000"/>
              </a:lnSpc>
            </a:pPr>
            <a:r>
              <a:rPr lang="en-US" dirty="0" smtClean="0"/>
              <a:t>	A</a:t>
            </a:r>
            <a:r>
              <a:rPr lang="en-US" dirty="0"/>
              <a:t> </a:t>
            </a:r>
            <a:r>
              <a:rPr lang="en-US" b="1" dirty="0"/>
              <a:t>TEST CASE</a:t>
            </a:r>
            <a:r>
              <a:rPr lang="en-US" dirty="0"/>
              <a:t> is a documented set of preconditions (prerequisites), procedures (inputs / actions) and </a:t>
            </a:r>
            <a:r>
              <a:rPr lang="en-US" dirty="0" smtClean="0"/>
              <a:t>post conditions </a:t>
            </a:r>
            <a:r>
              <a:rPr lang="en-US" dirty="0"/>
              <a:t>(expected results) which a tester uses to determine whether a system under test satisfies requirements or works correctly. A test case can have one or multiple test scripts and a collection of test cases is called a test </a:t>
            </a:r>
            <a:r>
              <a:rPr lang="en-US" dirty="0" smtClean="0"/>
              <a:t>suite.</a:t>
            </a:r>
            <a:endParaRPr lang="en-US" dirty="0"/>
          </a:p>
        </p:txBody>
      </p:sp>
    </p:spTree>
    <p:extLst>
      <p:ext uri="{BB962C8B-B14F-4D97-AF65-F5344CB8AC3E}">
        <p14:creationId xmlns:p14="http://schemas.microsoft.com/office/powerpoint/2010/main" val="1752046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2. Test Case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6" name="TextBox 5"/>
          <p:cNvSpPr txBox="1"/>
          <p:nvPr/>
        </p:nvSpPr>
        <p:spPr>
          <a:xfrm>
            <a:off x="583628" y="1093316"/>
            <a:ext cx="11016343" cy="3231654"/>
          </a:xfrm>
          <a:prstGeom prst="rect">
            <a:avLst/>
          </a:prstGeom>
          <a:noFill/>
        </p:spPr>
        <p:txBody>
          <a:bodyPr wrap="square" rtlCol="0">
            <a:spAutoFit/>
          </a:bodyPr>
          <a:lstStyle/>
          <a:p>
            <a:pPr algn="just">
              <a:lnSpc>
                <a:spcPct val="150000"/>
              </a:lnSpc>
              <a:spcAft>
                <a:spcPts val="600"/>
              </a:spcAft>
            </a:pPr>
            <a:r>
              <a:rPr lang="en-US" dirty="0"/>
              <a:t>ISTQB </a:t>
            </a:r>
            <a:r>
              <a:rPr lang="en-US" dirty="0" smtClean="0"/>
              <a:t>Definition:</a:t>
            </a:r>
            <a:endParaRPr lang="en-US" dirty="0"/>
          </a:p>
          <a:p>
            <a:pPr algn="just">
              <a:lnSpc>
                <a:spcPct val="150000"/>
              </a:lnSpc>
              <a:spcAft>
                <a:spcPts val="600"/>
              </a:spcAft>
            </a:pPr>
            <a:r>
              <a:rPr lang="en-US" b="1" dirty="0" smtClean="0"/>
              <a:t>- Test </a:t>
            </a:r>
            <a:r>
              <a:rPr lang="en-US" b="1" dirty="0"/>
              <a:t>case:</a:t>
            </a:r>
            <a:r>
              <a:rPr lang="en-US" dirty="0"/>
              <a:t> A set of preconditions, inputs, actions (where applicable), expected results and </a:t>
            </a:r>
            <a:r>
              <a:rPr lang="en-US" dirty="0" smtClean="0"/>
              <a:t>post conditions</a:t>
            </a:r>
            <a:r>
              <a:rPr lang="en-US" dirty="0"/>
              <a:t>, developed based on test conditions.</a:t>
            </a:r>
          </a:p>
          <a:p>
            <a:pPr algn="just">
              <a:lnSpc>
                <a:spcPct val="150000"/>
              </a:lnSpc>
              <a:spcAft>
                <a:spcPts val="600"/>
              </a:spcAft>
            </a:pPr>
            <a:r>
              <a:rPr lang="en-US" b="1" dirty="0" smtClean="0"/>
              <a:t>- High-level </a:t>
            </a:r>
            <a:r>
              <a:rPr lang="en-US" b="1" dirty="0"/>
              <a:t>test case:</a:t>
            </a:r>
            <a:r>
              <a:rPr lang="en-US" dirty="0"/>
              <a:t> A test case with abstract </a:t>
            </a:r>
            <a:r>
              <a:rPr lang="en-US" dirty="0" smtClean="0"/>
              <a:t>pre-conditions</a:t>
            </a:r>
            <a:r>
              <a:rPr lang="en-US" dirty="0"/>
              <a:t>, input data, expected results, </a:t>
            </a:r>
            <a:r>
              <a:rPr lang="en-US" dirty="0" smtClean="0"/>
              <a:t>post-conditions</a:t>
            </a:r>
            <a:r>
              <a:rPr lang="en-US" dirty="0"/>
              <a:t>, and actions (where applicable).</a:t>
            </a:r>
          </a:p>
          <a:p>
            <a:pPr algn="just">
              <a:lnSpc>
                <a:spcPct val="150000"/>
              </a:lnSpc>
              <a:spcAft>
                <a:spcPts val="600"/>
              </a:spcAft>
            </a:pPr>
            <a:r>
              <a:rPr lang="en-US" b="1" dirty="0" smtClean="0"/>
              <a:t>- Low-level </a:t>
            </a:r>
            <a:r>
              <a:rPr lang="en-US" b="1" dirty="0"/>
              <a:t>test case:</a:t>
            </a:r>
            <a:r>
              <a:rPr lang="en-US" dirty="0"/>
              <a:t> A test case with concrete values for preconditions, input data, expected results and </a:t>
            </a:r>
            <a:r>
              <a:rPr lang="en-US" dirty="0" smtClean="0"/>
              <a:t>post conditions </a:t>
            </a:r>
            <a:r>
              <a:rPr lang="en-US" dirty="0"/>
              <a:t>and detailed description of actions (where applicable).</a:t>
            </a:r>
          </a:p>
        </p:txBody>
      </p:sp>
    </p:spTree>
    <p:extLst>
      <p:ext uri="{BB962C8B-B14F-4D97-AF65-F5344CB8AC3E}">
        <p14:creationId xmlns:p14="http://schemas.microsoft.com/office/powerpoint/2010/main" val="2021450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2. Test Case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6" name="TextBox 5"/>
          <p:cNvSpPr txBox="1"/>
          <p:nvPr/>
        </p:nvSpPr>
        <p:spPr>
          <a:xfrm>
            <a:off x="583628" y="1093316"/>
            <a:ext cx="11016343" cy="5386090"/>
          </a:xfrm>
          <a:prstGeom prst="rect">
            <a:avLst/>
          </a:prstGeom>
          <a:noFill/>
        </p:spPr>
        <p:txBody>
          <a:bodyPr wrap="square" rtlCol="0">
            <a:spAutoFit/>
          </a:bodyPr>
          <a:lstStyle/>
          <a:p>
            <a:pPr algn="just"/>
            <a:r>
              <a:rPr lang="en-US" b="1" dirty="0"/>
              <a:t>Test Case </a:t>
            </a:r>
            <a:r>
              <a:rPr lang="en-US" b="1" dirty="0" smtClean="0"/>
              <a:t>Template: </a:t>
            </a:r>
            <a:r>
              <a:rPr lang="en-US" dirty="0" smtClean="0"/>
              <a:t>a </a:t>
            </a:r>
            <a:r>
              <a:rPr lang="en-US" dirty="0"/>
              <a:t>test case can have the following elements. Note, however, that a test management tool is normally used by companies and the format is determined by the tool used</a:t>
            </a:r>
            <a:r>
              <a:rPr lang="en-US" dirty="0" smtClean="0"/>
              <a:t>.</a:t>
            </a:r>
          </a:p>
          <a:p>
            <a:pPr algn="just"/>
            <a:endParaRPr lang="en-US" dirty="0"/>
          </a:p>
          <a:p>
            <a:pPr lvl="0"/>
            <a:r>
              <a:rPr lang="en-US" sz="1600" b="1" dirty="0"/>
              <a:t>A test case includes:</a:t>
            </a:r>
          </a:p>
          <a:p>
            <a:pPr lvl="0"/>
            <a:r>
              <a:rPr lang="en-US" sz="1600" b="1" dirty="0"/>
              <a:t>Test Suite ID: </a:t>
            </a:r>
            <a:r>
              <a:rPr lang="en-US" sz="1600" dirty="0"/>
              <a:t>The ID of the test suite to which this test case belongs.</a:t>
            </a:r>
          </a:p>
          <a:p>
            <a:pPr lvl="0"/>
            <a:r>
              <a:rPr lang="en-US" sz="1600" b="1" dirty="0"/>
              <a:t>Test Case ID: </a:t>
            </a:r>
            <a:r>
              <a:rPr lang="en-US" sz="1600" dirty="0"/>
              <a:t>The ID of the test case.</a:t>
            </a:r>
          </a:p>
          <a:p>
            <a:pPr lvl="0"/>
            <a:r>
              <a:rPr lang="en-US" sz="1600" b="1" dirty="0"/>
              <a:t>Test Case Summary: </a:t>
            </a:r>
            <a:r>
              <a:rPr lang="en-US" sz="1600" dirty="0"/>
              <a:t>The summary / objective of the test case.</a:t>
            </a:r>
          </a:p>
          <a:p>
            <a:pPr lvl="0"/>
            <a:r>
              <a:rPr lang="en-US" sz="1600" b="1" dirty="0"/>
              <a:t>Related Requirement: </a:t>
            </a:r>
            <a:r>
              <a:rPr lang="en-US" sz="1600" dirty="0"/>
              <a:t>The ID of the requirement this test case relates/traces to.</a:t>
            </a:r>
          </a:p>
          <a:p>
            <a:pPr lvl="0"/>
            <a:r>
              <a:rPr lang="en-US" sz="1600" b="1" dirty="0"/>
              <a:t>Prerequisites: </a:t>
            </a:r>
            <a:r>
              <a:rPr lang="en-US" sz="1600" dirty="0"/>
              <a:t>Any prerequisites or preconditions that must be fulfilled prior to executing the test.</a:t>
            </a:r>
          </a:p>
          <a:p>
            <a:pPr lvl="0"/>
            <a:r>
              <a:rPr lang="en-US" sz="1600" b="1" dirty="0"/>
              <a:t>Test Script  / Procedure: </a:t>
            </a:r>
            <a:r>
              <a:rPr lang="en-US" sz="1600" dirty="0"/>
              <a:t>Step-by-step procedure to execute the test.</a:t>
            </a:r>
          </a:p>
          <a:p>
            <a:pPr lvl="0"/>
            <a:r>
              <a:rPr lang="en-US" sz="1600" b="1" dirty="0"/>
              <a:t>Test Data: </a:t>
            </a:r>
            <a:r>
              <a:rPr lang="en-US" sz="1600" dirty="0"/>
              <a:t>The test data, or links to the test data, that are to be used while conducting the test.</a:t>
            </a:r>
          </a:p>
          <a:p>
            <a:pPr lvl="0"/>
            <a:r>
              <a:rPr lang="en-US" sz="1600" b="1" dirty="0"/>
              <a:t>Expected Result: </a:t>
            </a:r>
            <a:r>
              <a:rPr lang="en-US" sz="1600" dirty="0"/>
              <a:t>The expected result of the test.</a:t>
            </a:r>
          </a:p>
          <a:p>
            <a:pPr lvl="0"/>
            <a:r>
              <a:rPr lang="en-US" sz="1600" b="1" dirty="0"/>
              <a:t>Actual Result: </a:t>
            </a:r>
            <a:r>
              <a:rPr lang="en-US" sz="1600" dirty="0"/>
              <a:t>The actual result of the test; to be filled after executing the test.</a:t>
            </a:r>
          </a:p>
          <a:p>
            <a:pPr lvl="0"/>
            <a:r>
              <a:rPr lang="en-US" sz="1600" b="1" dirty="0"/>
              <a:t>Status: </a:t>
            </a:r>
            <a:r>
              <a:rPr lang="en-US" sz="1600" dirty="0"/>
              <a:t>Pass or Fail. Other statuses can be ‘Not Executed’ if testing is not performed and ‘Blocked’ if testing is blocked.</a:t>
            </a:r>
          </a:p>
          <a:p>
            <a:pPr lvl="0"/>
            <a:r>
              <a:rPr lang="en-US" sz="1600" b="1" dirty="0"/>
              <a:t>Remarks: </a:t>
            </a:r>
            <a:r>
              <a:rPr lang="en-US" sz="1600" dirty="0"/>
              <a:t>Any comments on the test case or test execution.</a:t>
            </a:r>
          </a:p>
          <a:p>
            <a:pPr lvl="0"/>
            <a:r>
              <a:rPr lang="en-US" sz="1600" b="1" dirty="0"/>
              <a:t>Created By: </a:t>
            </a:r>
            <a:r>
              <a:rPr lang="en-US" sz="1600" dirty="0"/>
              <a:t>The name of the author of the test case.</a:t>
            </a:r>
          </a:p>
          <a:p>
            <a:pPr lvl="0"/>
            <a:r>
              <a:rPr lang="en-US" sz="1600" b="1" dirty="0"/>
              <a:t>Date of Creation: </a:t>
            </a:r>
            <a:r>
              <a:rPr lang="en-US" sz="1600" dirty="0"/>
              <a:t>The date of creation of the test case.</a:t>
            </a:r>
          </a:p>
          <a:p>
            <a:pPr lvl="0"/>
            <a:r>
              <a:rPr lang="en-US" sz="1600" b="1" dirty="0"/>
              <a:t>Executed By: </a:t>
            </a:r>
            <a:r>
              <a:rPr lang="en-US" sz="1600" dirty="0"/>
              <a:t>The name of the person who executed the test.</a:t>
            </a:r>
          </a:p>
          <a:p>
            <a:pPr lvl="0"/>
            <a:r>
              <a:rPr lang="en-US" sz="1600" b="1" dirty="0"/>
              <a:t>Date of Execution: </a:t>
            </a:r>
            <a:r>
              <a:rPr lang="en-US" sz="1600" dirty="0"/>
              <a:t>The date of execution of the test.</a:t>
            </a:r>
          </a:p>
          <a:p>
            <a:pPr lvl="0"/>
            <a:r>
              <a:rPr lang="en-US" sz="1600" b="1" dirty="0"/>
              <a:t>Test Environment: </a:t>
            </a:r>
            <a:r>
              <a:rPr lang="en-US" sz="1600" dirty="0"/>
              <a:t>The environment (Hardware/Software/Network) in which the test was executed.</a:t>
            </a:r>
          </a:p>
          <a:p>
            <a:pPr algn="just"/>
            <a:endParaRPr lang="en-US" dirty="0"/>
          </a:p>
        </p:txBody>
      </p:sp>
    </p:spTree>
    <p:extLst>
      <p:ext uri="{BB962C8B-B14F-4D97-AF65-F5344CB8AC3E}">
        <p14:creationId xmlns:p14="http://schemas.microsoft.com/office/powerpoint/2010/main" val="1551570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3. Test Suite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6" name="TextBox 5"/>
          <p:cNvSpPr txBox="1"/>
          <p:nvPr/>
        </p:nvSpPr>
        <p:spPr>
          <a:xfrm>
            <a:off x="583628" y="1093316"/>
            <a:ext cx="11016343" cy="2308324"/>
          </a:xfrm>
          <a:prstGeom prst="rect">
            <a:avLst/>
          </a:prstGeom>
          <a:noFill/>
        </p:spPr>
        <p:txBody>
          <a:bodyPr wrap="square" rtlCol="0">
            <a:spAutoFit/>
          </a:bodyPr>
          <a:lstStyle/>
          <a:p>
            <a:pPr marL="285750" indent="-285750" algn="just">
              <a:buFontTx/>
              <a:buChar char="-"/>
            </a:pPr>
            <a:r>
              <a:rPr lang="en-US" dirty="0" smtClean="0"/>
              <a:t>Test </a:t>
            </a:r>
            <a:r>
              <a:rPr lang="en-US" dirty="0"/>
              <a:t>suite is a container that has a set of tests which helps testers in executing and reporting the test execution status. It can take any of the three states namely Active, </a:t>
            </a:r>
            <a:r>
              <a:rPr lang="en-US" dirty="0" err="1"/>
              <a:t>Inprogress</a:t>
            </a:r>
            <a:r>
              <a:rPr lang="en-US" dirty="0"/>
              <a:t> and completed</a:t>
            </a:r>
            <a:r>
              <a:rPr lang="en-US" dirty="0" smtClean="0"/>
              <a:t>.</a:t>
            </a:r>
          </a:p>
          <a:p>
            <a:pPr algn="just"/>
            <a:endParaRPr lang="en-US" dirty="0" smtClean="0"/>
          </a:p>
          <a:p>
            <a:pPr marL="285750" indent="-285750" algn="just">
              <a:buFontTx/>
              <a:buChar char="-"/>
            </a:pPr>
            <a:r>
              <a:rPr lang="en-US" dirty="0" smtClean="0"/>
              <a:t>A </a:t>
            </a:r>
            <a:r>
              <a:rPr lang="en-US" dirty="0"/>
              <a:t>Test case can be added to multiple test suites and test plans. After creating a test plan, test suites are created which in turn can have any number of tests</a:t>
            </a:r>
            <a:r>
              <a:rPr lang="en-US" dirty="0" smtClean="0"/>
              <a:t>.</a:t>
            </a:r>
          </a:p>
          <a:p>
            <a:pPr algn="just"/>
            <a:endParaRPr lang="en-US" dirty="0"/>
          </a:p>
          <a:p>
            <a:pPr algn="just"/>
            <a:r>
              <a:rPr lang="en-US" dirty="0" smtClean="0"/>
              <a:t>-  Test </a:t>
            </a:r>
            <a:r>
              <a:rPr lang="en-US" dirty="0"/>
              <a:t>suites are created based on the cycle or based on the scope. It can contain any type of tests, </a:t>
            </a:r>
            <a:r>
              <a:rPr lang="en-US" dirty="0" smtClean="0"/>
              <a:t>functional </a:t>
            </a:r>
            <a:r>
              <a:rPr lang="en-US" dirty="0"/>
              <a:t>or Non-Functional.</a:t>
            </a:r>
          </a:p>
        </p:txBody>
      </p:sp>
      <p:pic>
        <p:nvPicPr>
          <p:cNvPr id="2" name="Picture 1"/>
          <p:cNvPicPr>
            <a:picLocks noChangeAspect="1"/>
          </p:cNvPicPr>
          <p:nvPr/>
        </p:nvPicPr>
        <p:blipFill>
          <a:blip r:embed="rId3"/>
          <a:stretch>
            <a:fillRect/>
          </a:stretch>
        </p:blipFill>
        <p:spPr>
          <a:xfrm>
            <a:off x="3652747" y="3121596"/>
            <a:ext cx="4878103" cy="3646115"/>
          </a:xfrm>
          <a:prstGeom prst="rect">
            <a:avLst/>
          </a:prstGeom>
        </p:spPr>
      </p:pic>
    </p:spTree>
    <p:extLst>
      <p:ext uri="{BB962C8B-B14F-4D97-AF65-F5344CB8AC3E}">
        <p14:creationId xmlns:p14="http://schemas.microsoft.com/office/powerpoint/2010/main" val="2320138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3. Test Suite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a:t/>
            </a:r>
            <a:br>
              <a:rPr lang="en-US" dirty="0"/>
            </a:br>
            <a:endParaRPr lang="en-US" dirty="0"/>
          </a:p>
        </p:txBody>
      </p:sp>
      <p:sp>
        <p:nvSpPr>
          <p:cNvPr id="6" name="TextBox 5"/>
          <p:cNvSpPr txBox="1"/>
          <p:nvPr/>
        </p:nvSpPr>
        <p:spPr>
          <a:xfrm>
            <a:off x="583628" y="1093316"/>
            <a:ext cx="11016343" cy="5062924"/>
          </a:xfrm>
          <a:prstGeom prst="rect">
            <a:avLst/>
          </a:prstGeom>
          <a:noFill/>
        </p:spPr>
        <p:txBody>
          <a:bodyPr wrap="square" rtlCol="0">
            <a:spAutoFit/>
          </a:bodyPr>
          <a:lstStyle/>
          <a:p>
            <a:pPr algn="just" fontAlgn="base">
              <a:spcBef>
                <a:spcPts val="600"/>
              </a:spcBef>
              <a:spcAft>
                <a:spcPts val="600"/>
              </a:spcAft>
            </a:pPr>
            <a:r>
              <a:rPr lang="en-US" sz="1600" dirty="0" smtClean="0"/>
              <a:t>	Test </a:t>
            </a:r>
            <a:r>
              <a:rPr lang="en-US" sz="1600" dirty="0"/>
              <a:t>suites can identify gaps in a testing effort where the successful completion of one test case must occur before you begin the next test case. For instance, you cannot add new products to a shopping cart before you successfully log in to the application. When you run a test suite in sequential mode, you can choose to stop the suite execution if a single test case does not pass. Stopping the execution is useful if running a test case in a test suite depends on the success of previous test cases.</a:t>
            </a:r>
          </a:p>
          <a:p>
            <a:pPr algn="just" fontAlgn="base">
              <a:spcBef>
                <a:spcPts val="600"/>
              </a:spcBef>
              <a:spcAft>
                <a:spcPts val="600"/>
              </a:spcAft>
            </a:pPr>
            <a:r>
              <a:rPr lang="en-US" sz="1600" dirty="0" smtClean="0"/>
              <a:t>Test </a:t>
            </a:r>
            <a:r>
              <a:rPr lang="en-US" sz="1600" dirty="0"/>
              <a:t>suites are also useful for the following types of tests</a:t>
            </a:r>
            <a:r>
              <a:rPr lang="en-US" sz="1600" dirty="0" smtClean="0"/>
              <a:t>:</a:t>
            </a:r>
          </a:p>
          <a:p>
            <a:pPr algn="just" fontAlgn="base">
              <a:spcBef>
                <a:spcPts val="600"/>
              </a:spcBef>
              <a:spcAft>
                <a:spcPts val="600"/>
              </a:spcAft>
            </a:pPr>
            <a:r>
              <a:rPr lang="en-US" sz="1600" dirty="0" smtClean="0"/>
              <a:t>- Build </a:t>
            </a:r>
            <a:r>
              <a:rPr lang="en-US" sz="1600" dirty="0"/>
              <a:t>verification tests: A collection of test cases that perform a basic validation of most the functional areas in the product. The tests are executed after each product build and before the build is promoted for use by a larger audience.</a:t>
            </a:r>
          </a:p>
          <a:p>
            <a:pPr algn="just" fontAlgn="base">
              <a:spcBef>
                <a:spcPts val="600"/>
              </a:spcBef>
              <a:spcAft>
                <a:spcPts val="600"/>
              </a:spcAft>
            </a:pPr>
            <a:r>
              <a:rPr lang="en-US" sz="1600" dirty="0" smtClean="0"/>
              <a:t>- Smoke </a:t>
            </a:r>
            <a:r>
              <a:rPr lang="en-US" sz="1600" dirty="0"/>
              <a:t>tests: A collection of test cases that ensure basic product functionality. Typically, smoke tests are the first level of testing that is performed after changes are made to the system under test.</a:t>
            </a:r>
          </a:p>
          <a:p>
            <a:pPr algn="just" fontAlgn="base">
              <a:spcBef>
                <a:spcPts val="600"/>
              </a:spcBef>
              <a:spcAft>
                <a:spcPts val="600"/>
              </a:spcAft>
            </a:pPr>
            <a:r>
              <a:rPr lang="en-US" sz="1600" dirty="0" smtClean="0"/>
              <a:t>- End-to-End </a:t>
            </a:r>
            <a:r>
              <a:rPr lang="en-US" sz="1600" dirty="0"/>
              <a:t>integration tests: A collection of test cases that cross product boundaries and ensure that the integration points between products are exercised and validated.</a:t>
            </a:r>
          </a:p>
          <a:p>
            <a:pPr algn="just" fontAlgn="base">
              <a:spcBef>
                <a:spcPts val="600"/>
              </a:spcBef>
              <a:spcAft>
                <a:spcPts val="600"/>
              </a:spcAft>
            </a:pPr>
            <a:r>
              <a:rPr lang="en-US" sz="1600" dirty="0" smtClean="0"/>
              <a:t>- Functional </a:t>
            </a:r>
            <a:r>
              <a:rPr lang="en-US" sz="1600" dirty="0"/>
              <a:t>verification tests: A collection of test cases that focus on a specific product function. Executing this type of test with a test suite ensures that several aspects of a specific feature are tested.</a:t>
            </a:r>
          </a:p>
          <a:p>
            <a:pPr algn="just" fontAlgn="base">
              <a:spcBef>
                <a:spcPts val="600"/>
              </a:spcBef>
              <a:spcAft>
                <a:spcPts val="600"/>
              </a:spcAft>
            </a:pPr>
            <a:r>
              <a:rPr lang="en-US" sz="1600" dirty="0" smtClean="0"/>
              <a:t>- Regression </a:t>
            </a:r>
            <a:r>
              <a:rPr lang="en-US" sz="1600" dirty="0"/>
              <a:t>tests: A collection of test cases that are used to make a regression pass over functional product areas.</a:t>
            </a:r>
          </a:p>
          <a:p>
            <a:pPr algn="just"/>
            <a:endParaRPr lang="en-US" dirty="0"/>
          </a:p>
        </p:txBody>
      </p:sp>
    </p:spTree>
    <p:extLst>
      <p:ext uri="{BB962C8B-B14F-4D97-AF65-F5344CB8AC3E}">
        <p14:creationId xmlns:p14="http://schemas.microsoft.com/office/powerpoint/2010/main" val="300493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4. Test Scenario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978560"/>
          </a:xfrm>
          <a:prstGeom prst="rect">
            <a:avLst/>
          </a:prstGeom>
          <a:noFill/>
        </p:spPr>
        <p:txBody>
          <a:bodyPr wrap="square" rtlCol="0">
            <a:spAutoFit/>
          </a:bodyPr>
          <a:lstStyle/>
          <a:p>
            <a:pPr algn="just">
              <a:lnSpc>
                <a:spcPct val="125000"/>
              </a:lnSpc>
            </a:pPr>
            <a:r>
              <a:rPr lang="en-US" dirty="0" smtClean="0"/>
              <a:t>	A</a:t>
            </a:r>
            <a:r>
              <a:rPr lang="en-US" dirty="0"/>
              <a:t> </a:t>
            </a:r>
            <a:r>
              <a:rPr lang="en-US" b="1" dirty="0"/>
              <a:t>TEST SCENARIO</a:t>
            </a:r>
            <a:r>
              <a:rPr lang="en-US" dirty="0"/>
              <a:t> is defined as any functionality that can be tested. It is also called </a:t>
            </a:r>
            <a:r>
              <a:rPr lang="en-US" i="1" dirty="0"/>
              <a:t>Test Condition</a:t>
            </a:r>
            <a:r>
              <a:rPr lang="en-US" dirty="0"/>
              <a:t> or </a:t>
            </a:r>
            <a:r>
              <a:rPr lang="en-US" i="1" dirty="0"/>
              <a:t>Test Possibility</a:t>
            </a:r>
            <a:r>
              <a:rPr lang="en-US" dirty="0"/>
              <a:t>. As a tester, you should put yourself in the end user’s shoes and figure out the real-world scenarios and use cases of the Application Under Test</a:t>
            </a:r>
            <a:r>
              <a:rPr lang="en-US" dirty="0" smtClean="0"/>
              <a:t>.</a:t>
            </a:r>
          </a:p>
          <a:p>
            <a:pPr algn="just">
              <a:lnSpc>
                <a:spcPct val="125000"/>
              </a:lnSpc>
            </a:pPr>
            <a:endParaRPr lang="en-US" dirty="0" smtClean="0"/>
          </a:p>
          <a:p>
            <a:pPr>
              <a:lnSpc>
                <a:spcPct val="125000"/>
              </a:lnSpc>
            </a:pPr>
            <a:r>
              <a:rPr lang="en-US" b="1" dirty="0"/>
              <a:t>How to Write Test Scenarios</a:t>
            </a:r>
          </a:p>
          <a:p>
            <a:pPr>
              <a:lnSpc>
                <a:spcPct val="125000"/>
              </a:lnSpc>
            </a:pPr>
            <a:r>
              <a:rPr lang="en-US" b="1" dirty="0" smtClean="0"/>
              <a:t>- Step </a:t>
            </a:r>
            <a:r>
              <a:rPr lang="en-US" b="1" dirty="0"/>
              <a:t>1</a:t>
            </a:r>
            <a:r>
              <a:rPr lang="en-US" dirty="0"/>
              <a:t>: Read the Requirement Documents like BRS, SRS, FRS, of the System Under Test (SUT).  You could also refer uses cases, books, manuals, etc. of the application to be tested.</a:t>
            </a:r>
          </a:p>
          <a:p>
            <a:pPr>
              <a:lnSpc>
                <a:spcPct val="125000"/>
              </a:lnSpc>
            </a:pPr>
            <a:r>
              <a:rPr lang="en-US" b="1" dirty="0" smtClean="0"/>
              <a:t>- Step </a:t>
            </a:r>
            <a:r>
              <a:rPr lang="en-US" b="1" dirty="0"/>
              <a:t>2</a:t>
            </a:r>
            <a:r>
              <a:rPr lang="en-US" dirty="0"/>
              <a:t>: For each requirement, figure out possible users actions and objectives. Determine the technical </a:t>
            </a:r>
            <a:r>
              <a:rPr lang="en-US" dirty="0" smtClean="0"/>
              <a:t>-  aspects </a:t>
            </a:r>
            <a:r>
              <a:rPr lang="en-US" dirty="0"/>
              <a:t>of the requirement. Ascertain possible scenarios of system abuse and evaluate users with hacker's mindset.</a:t>
            </a:r>
          </a:p>
          <a:p>
            <a:pPr>
              <a:lnSpc>
                <a:spcPct val="125000"/>
              </a:lnSpc>
            </a:pPr>
            <a:r>
              <a:rPr lang="en-US" b="1" dirty="0" smtClean="0"/>
              <a:t>- Step </a:t>
            </a:r>
            <a:r>
              <a:rPr lang="en-US" b="1" dirty="0"/>
              <a:t>3:</a:t>
            </a:r>
            <a:r>
              <a:rPr lang="en-US" dirty="0"/>
              <a:t> After reading the Requirements Document and doing your due Analysis, list out different test scenarios that verify each feature of the software.</a:t>
            </a:r>
          </a:p>
          <a:p>
            <a:pPr>
              <a:lnSpc>
                <a:spcPct val="125000"/>
              </a:lnSpc>
            </a:pPr>
            <a:r>
              <a:rPr lang="en-US" b="1" dirty="0" smtClean="0"/>
              <a:t>- Step </a:t>
            </a:r>
            <a:r>
              <a:rPr lang="en-US" b="1" dirty="0"/>
              <a:t>4:</a:t>
            </a:r>
            <a:r>
              <a:rPr lang="en-US" dirty="0"/>
              <a:t> Once you have listed all possible Test Scenarios, a Traceability Matrix is created to verify that each &amp; every requirement has a corresponding Test Scenario</a:t>
            </a:r>
          </a:p>
          <a:p>
            <a:pPr>
              <a:lnSpc>
                <a:spcPct val="125000"/>
              </a:lnSpc>
            </a:pPr>
            <a:r>
              <a:rPr lang="en-US" b="1" dirty="0" smtClean="0"/>
              <a:t>- Step </a:t>
            </a:r>
            <a:r>
              <a:rPr lang="en-US" b="1" dirty="0"/>
              <a:t>5: </a:t>
            </a:r>
            <a:r>
              <a:rPr lang="en-US" dirty="0"/>
              <a:t>The scenarios created are reviewed by your supervisor. Later, they are also reviewed by other Stakeholders in the project.</a:t>
            </a:r>
          </a:p>
          <a:p>
            <a:pPr algn="just">
              <a:lnSpc>
                <a:spcPct val="125000"/>
              </a:lnSpc>
            </a:pPr>
            <a:endParaRPr lang="en-US" dirty="0"/>
          </a:p>
        </p:txBody>
      </p:sp>
    </p:spTree>
    <p:extLst>
      <p:ext uri="{BB962C8B-B14F-4D97-AF65-F5344CB8AC3E}">
        <p14:creationId xmlns:p14="http://schemas.microsoft.com/office/powerpoint/2010/main" val="3679425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smtClean="0"/>
              <a:t>4. Test Scenario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2482090"/>
          </a:xfrm>
          <a:prstGeom prst="rect">
            <a:avLst/>
          </a:prstGeom>
          <a:noFill/>
        </p:spPr>
        <p:txBody>
          <a:bodyPr wrap="square" rtlCol="0">
            <a:spAutoFit/>
          </a:bodyPr>
          <a:lstStyle/>
          <a:p>
            <a:pPr algn="just">
              <a:lnSpc>
                <a:spcPct val="125000"/>
              </a:lnSpc>
            </a:pPr>
            <a:r>
              <a:rPr lang="en-US" b="1" dirty="0" smtClean="0"/>
              <a:t>Example: </a:t>
            </a:r>
            <a:r>
              <a:rPr lang="en-US" b="1" dirty="0"/>
              <a:t> Test Scenarios for a Banking </a:t>
            </a:r>
            <a:r>
              <a:rPr lang="en-US" b="1" dirty="0" smtClean="0"/>
              <a:t>Site</a:t>
            </a:r>
          </a:p>
          <a:p>
            <a:pPr algn="just">
              <a:lnSpc>
                <a:spcPct val="125000"/>
              </a:lnSpc>
            </a:pPr>
            <a:endParaRPr lang="en-US" b="1" dirty="0"/>
          </a:p>
          <a:p>
            <a:pPr algn="just">
              <a:lnSpc>
                <a:spcPct val="125000"/>
              </a:lnSpc>
            </a:pPr>
            <a:r>
              <a:rPr lang="en-US" b="1" dirty="0"/>
              <a:t>Test Scenario 1</a:t>
            </a:r>
            <a:r>
              <a:rPr lang="en-US" dirty="0"/>
              <a:t>: Check the Login and Authentication Functionality</a:t>
            </a:r>
          </a:p>
          <a:p>
            <a:pPr algn="just">
              <a:lnSpc>
                <a:spcPct val="125000"/>
              </a:lnSpc>
            </a:pPr>
            <a:r>
              <a:rPr lang="en-US" b="1" dirty="0"/>
              <a:t>Test Scenario 2</a:t>
            </a:r>
            <a:r>
              <a:rPr lang="en-US" dirty="0"/>
              <a:t>: Check Money Transfer can be done</a:t>
            </a:r>
          </a:p>
          <a:p>
            <a:pPr algn="just">
              <a:lnSpc>
                <a:spcPct val="125000"/>
              </a:lnSpc>
            </a:pPr>
            <a:r>
              <a:rPr lang="en-US" b="1" dirty="0"/>
              <a:t>Test Scenario 3</a:t>
            </a:r>
            <a:r>
              <a:rPr lang="en-US" dirty="0"/>
              <a:t>: Check Account Statement can be viewed</a:t>
            </a:r>
          </a:p>
          <a:p>
            <a:pPr algn="just">
              <a:lnSpc>
                <a:spcPct val="125000"/>
              </a:lnSpc>
            </a:pPr>
            <a:r>
              <a:rPr lang="en-US" b="1" dirty="0"/>
              <a:t>Test Scenario 4</a:t>
            </a:r>
            <a:r>
              <a:rPr lang="en-US" dirty="0"/>
              <a:t>: Check Fixed Deposit/Recurring Deposit can be created</a:t>
            </a:r>
          </a:p>
          <a:p>
            <a:pPr algn="just">
              <a:lnSpc>
                <a:spcPct val="125000"/>
              </a:lnSpc>
            </a:pPr>
            <a:endParaRPr lang="en-US" dirty="0"/>
          </a:p>
        </p:txBody>
      </p:sp>
    </p:spTree>
    <p:extLst>
      <p:ext uri="{BB962C8B-B14F-4D97-AF65-F5344CB8AC3E}">
        <p14:creationId xmlns:p14="http://schemas.microsoft.com/office/powerpoint/2010/main" val="171269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2862322"/>
          </a:xfrm>
          <a:prstGeom prst="rect">
            <a:avLst/>
          </a:prstGeom>
          <a:noFill/>
        </p:spPr>
        <p:txBody>
          <a:bodyPr wrap="square" rtlCol="0">
            <a:spAutoFit/>
          </a:bodyPr>
          <a:lstStyle/>
          <a:p>
            <a:pPr algn="just">
              <a:lnSpc>
                <a:spcPct val="125000"/>
              </a:lnSpc>
            </a:pPr>
            <a:r>
              <a:rPr lang="en-US" b="1" dirty="0" smtClean="0"/>
              <a:t>	Defect </a:t>
            </a:r>
            <a:r>
              <a:rPr lang="en-US" b="1" dirty="0"/>
              <a:t>Life Cycle</a:t>
            </a:r>
            <a:r>
              <a:rPr lang="en-US" dirty="0"/>
              <a:t> or Bug Life Cycle in software testing is the specific set of states that defect or bug goes through in its entire life. The purpose of Defect life cycle is to easily coordinate and communicate current status of defect which changes to various assignees and make the defect fixing process systematic and efficient</a:t>
            </a:r>
            <a:r>
              <a:rPr lang="en-US" dirty="0" smtClean="0"/>
              <a:t>.</a:t>
            </a:r>
          </a:p>
          <a:p>
            <a:pPr algn="just">
              <a:lnSpc>
                <a:spcPct val="125000"/>
              </a:lnSpc>
            </a:pPr>
            <a:endParaRPr lang="en-US" dirty="0"/>
          </a:p>
          <a:p>
            <a:pPr algn="just">
              <a:lnSpc>
                <a:spcPct val="125000"/>
              </a:lnSpc>
            </a:pPr>
            <a:r>
              <a:rPr lang="en-US" b="1" dirty="0" smtClean="0"/>
              <a:t>	Defect </a:t>
            </a:r>
            <a:r>
              <a:rPr lang="en-US" b="1" dirty="0"/>
              <a:t>Status</a:t>
            </a:r>
            <a:r>
              <a:rPr lang="en-US" dirty="0"/>
              <a:t> or Bug Status in defect life cycle is the present state from which the defect or a bug is currently undergoing. The goal of defect status is to precisely convey the current state or progress of a defect or bug in order to better track and understand the actual progress of the defect life cycle.</a:t>
            </a:r>
          </a:p>
        </p:txBody>
      </p:sp>
    </p:spTree>
    <p:extLst>
      <p:ext uri="{BB962C8B-B14F-4D97-AF65-F5344CB8AC3E}">
        <p14:creationId xmlns:p14="http://schemas.microsoft.com/office/powerpoint/2010/main" val="3515822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784830"/>
          </a:xfrm>
          <a:prstGeom prst="rect">
            <a:avLst/>
          </a:prstGeom>
          <a:noFill/>
        </p:spPr>
        <p:txBody>
          <a:bodyPr wrap="square" rtlCol="0">
            <a:spAutoFit/>
          </a:bodyPr>
          <a:lstStyle/>
          <a:p>
            <a:pPr algn="just">
              <a:lnSpc>
                <a:spcPct val="125000"/>
              </a:lnSpc>
            </a:pPr>
            <a:r>
              <a:rPr lang="en-US" dirty="0"/>
              <a:t>Below lifecycle diagram, covers </a:t>
            </a:r>
            <a:r>
              <a:rPr lang="en-US" b="1" dirty="0"/>
              <a:t>all possible </a:t>
            </a:r>
            <a:r>
              <a:rPr lang="en-US" b="1" dirty="0" smtClean="0"/>
              <a:t>states</a:t>
            </a:r>
            <a:r>
              <a:rPr lang="en-US" dirty="0" smtClean="0"/>
              <a:t>:</a:t>
            </a:r>
          </a:p>
          <a:p>
            <a:pPr algn="just">
              <a:lnSpc>
                <a:spcPct val="125000"/>
              </a:lnSpc>
            </a:pPr>
            <a:endParaRPr lang="en-US" b="1" dirty="0"/>
          </a:p>
        </p:txBody>
      </p:sp>
      <p:pic>
        <p:nvPicPr>
          <p:cNvPr id="2" name="Picture 1"/>
          <p:cNvPicPr>
            <a:picLocks noChangeAspect="1"/>
          </p:cNvPicPr>
          <p:nvPr/>
        </p:nvPicPr>
        <p:blipFill>
          <a:blip r:embed="rId3"/>
          <a:stretch>
            <a:fillRect/>
          </a:stretch>
        </p:blipFill>
        <p:spPr>
          <a:xfrm>
            <a:off x="6748726" y="255716"/>
            <a:ext cx="4420015" cy="6042103"/>
          </a:xfrm>
          <a:prstGeom prst="rect">
            <a:avLst/>
          </a:prstGeom>
        </p:spPr>
      </p:pic>
    </p:spTree>
    <p:extLst>
      <p:ext uri="{BB962C8B-B14F-4D97-AF65-F5344CB8AC3E}">
        <p14:creationId xmlns:p14="http://schemas.microsoft.com/office/powerpoint/2010/main" val="4023136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482911"/>
          </a:xfrm>
          <a:prstGeom prst="rect">
            <a:avLst/>
          </a:prstGeom>
          <a:noFill/>
        </p:spPr>
        <p:txBody>
          <a:bodyPr wrap="square" rtlCol="0">
            <a:spAutoFit/>
          </a:bodyPr>
          <a:lstStyle/>
          <a:p>
            <a:pPr algn="just">
              <a:lnSpc>
                <a:spcPct val="125000"/>
              </a:lnSpc>
            </a:pPr>
            <a:r>
              <a:rPr lang="en-US" b="1" dirty="0" smtClean="0"/>
              <a:t>States of a defect:</a:t>
            </a:r>
            <a:endParaRPr lang="en-US" b="1" dirty="0"/>
          </a:p>
          <a:p>
            <a:pPr algn="just">
              <a:lnSpc>
                <a:spcPct val="125000"/>
              </a:lnSpc>
              <a:spcBef>
                <a:spcPts val="600"/>
              </a:spcBef>
              <a:spcAft>
                <a:spcPts val="600"/>
              </a:spcAft>
            </a:pPr>
            <a:r>
              <a:rPr lang="en-US" b="1" dirty="0" smtClean="0"/>
              <a:t>- New</a:t>
            </a:r>
            <a:r>
              <a:rPr lang="en-US" b="1" dirty="0"/>
              <a:t>:</a:t>
            </a:r>
            <a:r>
              <a:rPr lang="en-US" dirty="0"/>
              <a:t> When a new defect is logged and posted for the first time. It is assigned a status as NEW.</a:t>
            </a:r>
          </a:p>
          <a:p>
            <a:pPr algn="just">
              <a:lnSpc>
                <a:spcPct val="125000"/>
              </a:lnSpc>
              <a:spcBef>
                <a:spcPts val="600"/>
              </a:spcBef>
              <a:spcAft>
                <a:spcPts val="600"/>
              </a:spcAft>
            </a:pPr>
            <a:r>
              <a:rPr lang="en-US" b="1" dirty="0" smtClean="0"/>
              <a:t>- Assigned</a:t>
            </a:r>
            <a:r>
              <a:rPr lang="en-US" b="1" dirty="0"/>
              <a:t>:</a:t>
            </a:r>
            <a:r>
              <a:rPr lang="en-US" dirty="0"/>
              <a:t> Once the bug is posted by the tester, the lead of the tester approves the bug and assigns the bug to the developer team</a:t>
            </a:r>
          </a:p>
          <a:p>
            <a:pPr algn="just">
              <a:lnSpc>
                <a:spcPct val="125000"/>
              </a:lnSpc>
              <a:spcBef>
                <a:spcPts val="600"/>
              </a:spcBef>
              <a:spcAft>
                <a:spcPts val="600"/>
              </a:spcAft>
            </a:pPr>
            <a:r>
              <a:rPr lang="en-US" b="1" dirty="0" smtClean="0"/>
              <a:t>- Open</a:t>
            </a:r>
            <a:r>
              <a:rPr lang="en-US" dirty="0"/>
              <a:t>: The developer starts analyzing and works on the defect fix</a:t>
            </a:r>
          </a:p>
          <a:p>
            <a:pPr algn="just">
              <a:lnSpc>
                <a:spcPct val="125000"/>
              </a:lnSpc>
              <a:spcBef>
                <a:spcPts val="600"/>
              </a:spcBef>
              <a:spcAft>
                <a:spcPts val="600"/>
              </a:spcAft>
            </a:pPr>
            <a:r>
              <a:rPr lang="en-US" b="1" dirty="0" smtClean="0"/>
              <a:t>- Fixed</a:t>
            </a:r>
            <a:r>
              <a:rPr lang="en-US" dirty="0"/>
              <a:t>: When a developer makes a necessary code change and verifies the change, he or she can make bug status as "Fixed."</a:t>
            </a:r>
          </a:p>
          <a:p>
            <a:pPr algn="just">
              <a:lnSpc>
                <a:spcPct val="125000"/>
              </a:lnSpc>
              <a:spcBef>
                <a:spcPts val="600"/>
              </a:spcBef>
              <a:spcAft>
                <a:spcPts val="600"/>
              </a:spcAft>
            </a:pPr>
            <a:r>
              <a:rPr lang="en-US" b="1" dirty="0" smtClean="0"/>
              <a:t>- Pending </a:t>
            </a:r>
            <a:r>
              <a:rPr lang="en-US" b="1" dirty="0"/>
              <a:t>retest</a:t>
            </a:r>
            <a:r>
              <a:rPr lang="en-US" dirty="0"/>
              <a:t>: Once the defect is fixed the developer gives a particular code for retesting the code to the tester. Since the software testing remains pending from the testers end, the status assigned is "pending retest."</a:t>
            </a:r>
          </a:p>
          <a:p>
            <a:pPr algn="just">
              <a:lnSpc>
                <a:spcPct val="125000"/>
              </a:lnSpc>
              <a:spcBef>
                <a:spcPts val="600"/>
              </a:spcBef>
              <a:spcAft>
                <a:spcPts val="600"/>
              </a:spcAft>
            </a:pPr>
            <a:r>
              <a:rPr lang="en-US" b="1" dirty="0" smtClean="0"/>
              <a:t>- Retest</a:t>
            </a:r>
            <a:r>
              <a:rPr lang="en-US" dirty="0"/>
              <a:t>: Tester does the retesting of the code at this stage to check whether the defect is fixed by the developer or not and changes the status to "Re-test."</a:t>
            </a:r>
          </a:p>
          <a:p>
            <a:pPr algn="just">
              <a:lnSpc>
                <a:spcPct val="125000"/>
              </a:lnSpc>
            </a:pPr>
            <a:endParaRPr lang="en-US" b="1" dirty="0"/>
          </a:p>
        </p:txBody>
      </p:sp>
    </p:spTree>
    <p:extLst>
      <p:ext uri="{BB962C8B-B14F-4D97-AF65-F5344CB8AC3E}">
        <p14:creationId xmlns:p14="http://schemas.microsoft.com/office/powerpoint/2010/main" val="4241945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6017032"/>
          </a:xfrm>
          <a:prstGeom prst="rect">
            <a:avLst/>
          </a:prstGeom>
          <a:noFill/>
        </p:spPr>
        <p:txBody>
          <a:bodyPr wrap="square" rtlCol="0">
            <a:spAutoFit/>
          </a:bodyPr>
          <a:lstStyle/>
          <a:p>
            <a:pPr algn="just">
              <a:lnSpc>
                <a:spcPct val="125000"/>
              </a:lnSpc>
            </a:pPr>
            <a:r>
              <a:rPr lang="en-US" b="1" dirty="0" smtClean="0"/>
              <a:t>Remain States of a defect:</a:t>
            </a:r>
            <a:endParaRPr lang="en-US" b="1" dirty="0"/>
          </a:p>
          <a:p>
            <a:pPr algn="just">
              <a:lnSpc>
                <a:spcPct val="125000"/>
              </a:lnSpc>
              <a:spcBef>
                <a:spcPts val="600"/>
              </a:spcBef>
              <a:spcAft>
                <a:spcPts val="600"/>
              </a:spcAft>
            </a:pPr>
            <a:r>
              <a:rPr lang="en-US" b="1" dirty="0" smtClean="0"/>
              <a:t>- Verified</a:t>
            </a:r>
            <a:r>
              <a:rPr lang="en-US" dirty="0"/>
              <a:t>: The tester re-tests the bug after it got fixed by the developer. If there is no bug detected in the software, then the bug is fixed and the status assigned is "verified."</a:t>
            </a:r>
          </a:p>
          <a:p>
            <a:pPr algn="just">
              <a:lnSpc>
                <a:spcPct val="125000"/>
              </a:lnSpc>
              <a:spcBef>
                <a:spcPts val="600"/>
              </a:spcBef>
              <a:spcAft>
                <a:spcPts val="600"/>
              </a:spcAft>
            </a:pPr>
            <a:r>
              <a:rPr lang="en-US" b="1" dirty="0" smtClean="0"/>
              <a:t>- Reopen</a:t>
            </a:r>
            <a:r>
              <a:rPr lang="en-US" dirty="0"/>
              <a:t>: If the bug persists even after the developer has fixed the bug, the tester changes the status to "reopened". Once again the bug goes through the life cycle.</a:t>
            </a:r>
          </a:p>
          <a:p>
            <a:pPr algn="just">
              <a:lnSpc>
                <a:spcPct val="125000"/>
              </a:lnSpc>
              <a:spcBef>
                <a:spcPts val="600"/>
              </a:spcBef>
              <a:spcAft>
                <a:spcPts val="600"/>
              </a:spcAft>
            </a:pPr>
            <a:r>
              <a:rPr lang="en-US" b="1" dirty="0" smtClean="0"/>
              <a:t>- Closed</a:t>
            </a:r>
            <a:r>
              <a:rPr lang="en-US" dirty="0"/>
              <a:t>: If the bug is no longer exists then tester assigns the status "Closed." </a:t>
            </a:r>
          </a:p>
          <a:p>
            <a:pPr algn="just">
              <a:lnSpc>
                <a:spcPct val="125000"/>
              </a:lnSpc>
              <a:spcBef>
                <a:spcPts val="600"/>
              </a:spcBef>
              <a:spcAft>
                <a:spcPts val="600"/>
              </a:spcAft>
            </a:pPr>
            <a:r>
              <a:rPr lang="en-US" b="1" dirty="0" smtClean="0"/>
              <a:t>- Duplicate</a:t>
            </a:r>
            <a:r>
              <a:rPr lang="en-US" dirty="0"/>
              <a:t>: If the defect is repeated twice or the defect corresponds to the same concept of the bug, the status is changed to "duplicate."</a:t>
            </a:r>
          </a:p>
          <a:p>
            <a:pPr algn="just">
              <a:lnSpc>
                <a:spcPct val="125000"/>
              </a:lnSpc>
              <a:spcBef>
                <a:spcPts val="600"/>
              </a:spcBef>
              <a:spcAft>
                <a:spcPts val="600"/>
              </a:spcAft>
            </a:pPr>
            <a:r>
              <a:rPr lang="en-US" b="1" dirty="0" smtClean="0"/>
              <a:t>- Rejected</a:t>
            </a:r>
            <a:r>
              <a:rPr lang="en-US" dirty="0"/>
              <a:t>: If the developer feels the defect is not a genuine defect then it changes the defect to "rejected."</a:t>
            </a:r>
          </a:p>
          <a:p>
            <a:pPr algn="just">
              <a:lnSpc>
                <a:spcPct val="125000"/>
              </a:lnSpc>
              <a:spcBef>
                <a:spcPts val="600"/>
              </a:spcBef>
              <a:spcAft>
                <a:spcPts val="600"/>
              </a:spcAft>
            </a:pPr>
            <a:r>
              <a:rPr lang="en-US" b="1" dirty="0" smtClean="0"/>
              <a:t>- Deferred</a:t>
            </a:r>
            <a:r>
              <a:rPr lang="en-US" dirty="0"/>
              <a:t>: If the present bug is not of a prime priority and if it is expected to get fixed in the next release, then status "Deferred" is assigned to such bugs</a:t>
            </a:r>
          </a:p>
          <a:p>
            <a:pPr algn="just">
              <a:lnSpc>
                <a:spcPct val="125000"/>
              </a:lnSpc>
              <a:spcBef>
                <a:spcPts val="600"/>
              </a:spcBef>
              <a:spcAft>
                <a:spcPts val="600"/>
              </a:spcAft>
            </a:pPr>
            <a:r>
              <a:rPr lang="en-US" b="1" dirty="0" smtClean="0"/>
              <a:t>- Not </a:t>
            </a:r>
            <a:r>
              <a:rPr lang="en-US" b="1" dirty="0"/>
              <a:t>a bug</a:t>
            </a:r>
            <a:r>
              <a:rPr lang="en-US" dirty="0" smtClean="0"/>
              <a:t>: If </a:t>
            </a:r>
            <a:r>
              <a:rPr lang="en-US" dirty="0"/>
              <a:t>it does not affect the functionality of the application then the status assigned to a bug is "Not a bug".</a:t>
            </a:r>
          </a:p>
          <a:p>
            <a:pPr algn="just">
              <a:lnSpc>
                <a:spcPct val="125000"/>
              </a:lnSpc>
            </a:pPr>
            <a:endParaRPr lang="en-US" b="1" dirty="0"/>
          </a:p>
        </p:txBody>
      </p:sp>
    </p:spTree>
    <p:extLst>
      <p:ext uri="{BB962C8B-B14F-4D97-AF65-F5344CB8AC3E}">
        <p14:creationId xmlns:p14="http://schemas.microsoft.com/office/powerpoint/2010/main" val="3034964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715581"/>
          </a:xfrm>
          <a:prstGeom prst="rect">
            <a:avLst/>
          </a:prstGeom>
          <a:noFill/>
        </p:spPr>
        <p:txBody>
          <a:bodyPr wrap="square" rtlCol="0">
            <a:spAutoFit/>
          </a:bodyPr>
          <a:lstStyle/>
          <a:p>
            <a:r>
              <a:rPr lang="en-US" b="1" dirty="0"/>
              <a:t>Defect Life Cycle </a:t>
            </a:r>
            <a:r>
              <a:rPr lang="en-US" b="1" dirty="0" smtClean="0"/>
              <a:t>Explained: </a:t>
            </a:r>
            <a:endParaRPr lang="en-US" b="1" dirty="0"/>
          </a:p>
          <a:p>
            <a:pPr algn="just">
              <a:lnSpc>
                <a:spcPct val="125000"/>
              </a:lnSpc>
            </a:pPr>
            <a:endParaRPr lang="en-US" b="1" dirty="0"/>
          </a:p>
        </p:txBody>
      </p:sp>
      <p:pic>
        <p:nvPicPr>
          <p:cNvPr id="2" name="Picture 1"/>
          <p:cNvPicPr>
            <a:picLocks noChangeAspect="1"/>
          </p:cNvPicPr>
          <p:nvPr/>
        </p:nvPicPr>
        <p:blipFill>
          <a:blip r:embed="rId3"/>
          <a:stretch>
            <a:fillRect/>
          </a:stretch>
        </p:blipFill>
        <p:spPr>
          <a:xfrm>
            <a:off x="2058083" y="1704263"/>
            <a:ext cx="6841787" cy="4748526"/>
          </a:xfrm>
          <a:prstGeom prst="rect">
            <a:avLst/>
          </a:prstGeom>
        </p:spPr>
      </p:pic>
    </p:spTree>
    <p:extLst>
      <p:ext uri="{BB962C8B-B14F-4D97-AF65-F5344CB8AC3E}">
        <p14:creationId xmlns:p14="http://schemas.microsoft.com/office/powerpoint/2010/main" val="157780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P6</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374916"/>
          </a:xfrm>
          <a:prstGeom prst="rect">
            <a:avLst/>
          </a:prstGeom>
          <a:noFill/>
        </p:spPr>
        <p:txBody>
          <a:bodyPr wrap="square" rtlCol="0">
            <a:spAutoFit/>
          </a:bodyPr>
          <a:lstStyle/>
          <a:p>
            <a:pPr>
              <a:spcBef>
                <a:spcPts val="600"/>
              </a:spcBef>
              <a:spcAft>
                <a:spcPts val="600"/>
              </a:spcAft>
            </a:pPr>
            <a:r>
              <a:rPr lang="en-US" b="1" dirty="0"/>
              <a:t>Defect Life Cycle </a:t>
            </a:r>
            <a:r>
              <a:rPr lang="en-US" b="1" dirty="0" smtClean="0"/>
              <a:t>Explained: </a:t>
            </a:r>
            <a:endParaRPr lang="en-US" b="1" dirty="0"/>
          </a:p>
          <a:p>
            <a:pPr algn="just">
              <a:lnSpc>
                <a:spcPct val="125000"/>
              </a:lnSpc>
              <a:spcBef>
                <a:spcPts val="600"/>
              </a:spcBef>
              <a:spcAft>
                <a:spcPts val="600"/>
              </a:spcAft>
            </a:pPr>
            <a:r>
              <a:rPr lang="en-US" dirty="0" smtClean="0"/>
              <a:t>1. Tester </a:t>
            </a:r>
            <a:r>
              <a:rPr lang="en-US" dirty="0"/>
              <a:t>finds the defect</a:t>
            </a:r>
          </a:p>
          <a:p>
            <a:pPr algn="just">
              <a:lnSpc>
                <a:spcPct val="125000"/>
              </a:lnSpc>
              <a:spcBef>
                <a:spcPts val="600"/>
              </a:spcBef>
              <a:spcAft>
                <a:spcPts val="600"/>
              </a:spcAft>
            </a:pPr>
            <a:r>
              <a:rPr lang="en-US" dirty="0" smtClean="0"/>
              <a:t>2. Status </a:t>
            </a:r>
            <a:r>
              <a:rPr lang="en-US" dirty="0"/>
              <a:t>assigned to defect- New</a:t>
            </a:r>
          </a:p>
          <a:p>
            <a:pPr algn="just">
              <a:lnSpc>
                <a:spcPct val="125000"/>
              </a:lnSpc>
              <a:spcBef>
                <a:spcPts val="600"/>
              </a:spcBef>
              <a:spcAft>
                <a:spcPts val="600"/>
              </a:spcAft>
            </a:pPr>
            <a:r>
              <a:rPr lang="en-US" dirty="0" smtClean="0"/>
              <a:t>3. A </a:t>
            </a:r>
            <a:r>
              <a:rPr lang="en-US" dirty="0"/>
              <a:t>defect is forwarded to Project Manager for analyze</a:t>
            </a:r>
          </a:p>
          <a:p>
            <a:pPr algn="just">
              <a:lnSpc>
                <a:spcPct val="125000"/>
              </a:lnSpc>
              <a:spcBef>
                <a:spcPts val="600"/>
              </a:spcBef>
              <a:spcAft>
                <a:spcPts val="600"/>
              </a:spcAft>
            </a:pPr>
            <a:r>
              <a:rPr lang="en-US" dirty="0" smtClean="0"/>
              <a:t>4. Project </a:t>
            </a:r>
            <a:r>
              <a:rPr lang="en-US" dirty="0"/>
              <a:t>Manager decides whether a defect is valid</a:t>
            </a:r>
          </a:p>
          <a:p>
            <a:pPr algn="just">
              <a:lnSpc>
                <a:spcPct val="125000"/>
              </a:lnSpc>
              <a:spcBef>
                <a:spcPts val="600"/>
              </a:spcBef>
              <a:spcAft>
                <a:spcPts val="600"/>
              </a:spcAft>
            </a:pPr>
            <a:r>
              <a:rPr lang="en-US" dirty="0" smtClean="0"/>
              <a:t>5. Here </a:t>
            </a:r>
            <a:r>
              <a:rPr lang="en-US" dirty="0"/>
              <a:t>the defect is not valid- a status is given "Rejected."</a:t>
            </a:r>
          </a:p>
          <a:p>
            <a:pPr algn="just">
              <a:lnSpc>
                <a:spcPct val="125000"/>
              </a:lnSpc>
              <a:spcBef>
                <a:spcPts val="600"/>
              </a:spcBef>
              <a:spcAft>
                <a:spcPts val="600"/>
              </a:spcAft>
            </a:pPr>
            <a:r>
              <a:rPr lang="en-US" dirty="0" smtClean="0"/>
              <a:t>6. So</a:t>
            </a:r>
            <a:r>
              <a:rPr lang="en-US" dirty="0"/>
              <a:t>, project manager assigns a status </a:t>
            </a:r>
            <a:r>
              <a:rPr lang="en-US" b="1" dirty="0"/>
              <a:t>rejected</a:t>
            </a:r>
            <a:r>
              <a:rPr lang="en-US" dirty="0"/>
              <a:t>. If the defect is not rejected then the next step is to check whether it is in scope. Suppose we have another function- email functionality for the same application, and you find a problem with that. But it is not a part of the current release when such defects are assigned as a </a:t>
            </a:r>
            <a:r>
              <a:rPr lang="en-US" b="1" dirty="0"/>
              <a:t>postponed or deferred </a:t>
            </a:r>
            <a:r>
              <a:rPr lang="en-US" dirty="0"/>
              <a:t>status</a:t>
            </a:r>
            <a:r>
              <a:rPr lang="en-US" dirty="0" smtClean="0"/>
              <a:t>.</a:t>
            </a:r>
            <a:endParaRPr lang="en-US" dirty="0"/>
          </a:p>
        </p:txBody>
      </p:sp>
    </p:spTree>
    <p:extLst>
      <p:ext uri="{BB962C8B-B14F-4D97-AF65-F5344CB8AC3E}">
        <p14:creationId xmlns:p14="http://schemas.microsoft.com/office/powerpoint/2010/main" val="3110838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5</a:t>
            </a:r>
            <a:r>
              <a:rPr lang="en-US" sz="3600" dirty="0" smtClean="0"/>
              <a:t>. </a:t>
            </a:r>
            <a:r>
              <a:rPr lang="en-US" sz="3600" dirty="0"/>
              <a:t>Defect Life </a:t>
            </a:r>
            <a:r>
              <a:rPr lang="en-US" sz="3600" dirty="0" smtClean="0"/>
              <a:t>Cycle – P7</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098191"/>
          </a:xfrm>
          <a:prstGeom prst="rect">
            <a:avLst/>
          </a:prstGeom>
          <a:noFill/>
        </p:spPr>
        <p:txBody>
          <a:bodyPr wrap="square" rtlCol="0">
            <a:spAutoFit/>
          </a:bodyPr>
          <a:lstStyle/>
          <a:p>
            <a:pPr>
              <a:lnSpc>
                <a:spcPct val="125000"/>
              </a:lnSpc>
              <a:spcBef>
                <a:spcPts val="600"/>
              </a:spcBef>
              <a:spcAft>
                <a:spcPts val="600"/>
              </a:spcAft>
            </a:pPr>
            <a:r>
              <a:rPr lang="en-US" sz="2000" b="1" dirty="0"/>
              <a:t>Defect Life Cycle </a:t>
            </a:r>
            <a:r>
              <a:rPr lang="en-US" sz="2000" b="1" dirty="0" smtClean="0"/>
              <a:t>Explained: </a:t>
            </a:r>
            <a:endParaRPr lang="en-US" sz="2000" b="1" dirty="0"/>
          </a:p>
          <a:p>
            <a:pPr algn="just">
              <a:lnSpc>
                <a:spcPct val="125000"/>
              </a:lnSpc>
              <a:spcBef>
                <a:spcPts val="600"/>
              </a:spcBef>
              <a:spcAft>
                <a:spcPts val="600"/>
              </a:spcAft>
            </a:pPr>
            <a:r>
              <a:rPr lang="en-US" dirty="0" smtClean="0"/>
              <a:t>7. Next</a:t>
            </a:r>
            <a:r>
              <a:rPr lang="en-US" dirty="0"/>
              <a:t>, the manager verifies whether a similar defect was raised earlier. If yes defect is assigned a status </a:t>
            </a:r>
            <a:r>
              <a:rPr lang="en-US" b="1" dirty="0"/>
              <a:t>duplicate</a:t>
            </a:r>
            <a:r>
              <a:rPr lang="en-US" dirty="0"/>
              <a:t>.</a:t>
            </a:r>
          </a:p>
          <a:p>
            <a:pPr algn="just">
              <a:lnSpc>
                <a:spcPct val="125000"/>
              </a:lnSpc>
              <a:spcBef>
                <a:spcPts val="600"/>
              </a:spcBef>
              <a:spcAft>
                <a:spcPts val="600"/>
              </a:spcAft>
            </a:pPr>
            <a:r>
              <a:rPr lang="en-US" dirty="0" smtClean="0"/>
              <a:t>8. If </a:t>
            </a:r>
            <a:r>
              <a:rPr lang="en-US" dirty="0"/>
              <a:t>no the defect is assigned to the developer who starts fixing the code. During this stage, the defect is assigned a status </a:t>
            </a:r>
            <a:r>
              <a:rPr lang="en-US" b="1" dirty="0"/>
              <a:t>in- progress.</a:t>
            </a:r>
            <a:endParaRPr lang="en-US" dirty="0"/>
          </a:p>
          <a:p>
            <a:pPr algn="just">
              <a:lnSpc>
                <a:spcPct val="125000"/>
              </a:lnSpc>
              <a:spcBef>
                <a:spcPts val="600"/>
              </a:spcBef>
              <a:spcAft>
                <a:spcPts val="600"/>
              </a:spcAft>
            </a:pPr>
            <a:r>
              <a:rPr lang="en-US" dirty="0" smtClean="0"/>
              <a:t>9. Once </a:t>
            </a:r>
            <a:r>
              <a:rPr lang="en-US" dirty="0"/>
              <a:t>the code is fixed. A defect is assigned a status </a:t>
            </a:r>
            <a:r>
              <a:rPr lang="en-US" b="1" dirty="0"/>
              <a:t>fixed</a:t>
            </a:r>
            <a:endParaRPr lang="en-US" dirty="0"/>
          </a:p>
          <a:p>
            <a:pPr algn="just">
              <a:lnSpc>
                <a:spcPct val="125000"/>
              </a:lnSpc>
              <a:spcBef>
                <a:spcPts val="600"/>
              </a:spcBef>
              <a:spcAft>
                <a:spcPts val="600"/>
              </a:spcAft>
            </a:pPr>
            <a:r>
              <a:rPr lang="en-US" dirty="0" smtClean="0"/>
              <a:t>10.Next</a:t>
            </a:r>
            <a:r>
              <a:rPr lang="en-US" dirty="0"/>
              <a:t>, the tester will re-test the code. In case, the Test Case passes the defect is </a:t>
            </a:r>
            <a:r>
              <a:rPr lang="en-US" b="1" dirty="0"/>
              <a:t>closed.</a:t>
            </a:r>
            <a:r>
              <a:rPr lang="en-US" dirty="0"/>
              <a:t> If the test cases fail again, the defect is </a:t>
            </a:r>
            <a:r>
              <a:rPr lang="en-US" b="1" dirty="0"/>
              <a:t>re-opened</a:t>
            </a:r>
            <a:r>
              <a:rPr lang="en-US" dirty="0"/>
              <a:t> and assigned to the developer.</a:t>
            </a:r>
          </a:p>
          <a:p>
            <a:pPr algn="just">
              <a:lnSpc>
                <a:spcPct val="125000"/>
              </a:lnSpc>
              <a:spcBef>
                <a:spcPts val="600"/>
              </a:spcBef>
              <a:spcAft>
                <a:spcPts val="600"/>
              </a:spcAft>
            </a:pPr>
            <a:r>
              <a:rPr lang="en-US" dirty="0" smtClean="0"/>
              <a:t>11. Consider </a:t>
            </a:r>
            <a:r>
              <a:rPr lang="en-US" dirty="0"/>
              <a:t>a situation where during the 1st release of Flight Reservation a defect was found in Fax order that was fixed and assigned a status closed. During the second upgrade release the same defect again re-surfaced. In such cases, a closed defect will be </a:t>
            </a:r>
            <a:r>
              <a:rPr lang="en-US" b="1" dirty="0"/>
              <a:t>re-opened.</a:t>
            </a:r>
            <a:endParaRPr lang="en-US" dirty="0"/>
          </a:p>
          <a:p>
            <a:pPr algn="just">
              <a:lnSpc>
                <a:spcPct val="125000"/>
              </a:lnSpc>
            </a:pPr>
            <a:endParaRPr lang="en-US" b="1" dirty="0"/>
          </a:p>
        </p:txBody>
      </p:sp>
    </p:spTree>
    <p:extLst>
      <p:ext uri="{BB962C8B-B14F-4D97-AF65-F5344CB8AC3E}">
        <p14:creationId xmlns:p14="http://schemas.microsoft.com/office/powerpoint/2010/main" val="301874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6. Manual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3959417"/>
          </a:xfrm>
          <a:prstGeom prst="rect">
            <a:avLst/>
          </a:prstGeom>
          <a:noFill/>
        </p:spPr>
        <p:txBody>
          <a:bodyPr wrap="square" rtlCol="0">
            <a:spAutoFit/>
          </a:bodyPr>
          <a:lstStyle/>
          <a:p>
            <a:pPr algn="just">
              <a:lnSpc>
                <a:spcPct val="150000"/>
              </a:lnSpc>
              <a:spcBef>
                <a:spcPts val="600"/>
              </a:spcBef>
              <a:spcAft>
                <a:spcPts val="600"/>
              </a:spcAft>
            </a:pPr>
            <a:r>
              <a:rPr lang="en-US" b="1" dirty="0" smtClean="0"/>
              <a:t>	Manual </a:t>
            </a:r>
            <a:r>
              <a:rPr lang="en-US" b="1" dirty="0"/>
              <a:t>Testing</a:t>
            </a:r>
            <a:r>
              <a:rPr lang="en-US" dirty="0"/>
              <a:t> is a type of software testing in which test cases are executed manually by a tester without using any automated tools. The purpose of Manual Testing is to identify the bugs, issues, and defects in the software application. Manual software testing is the most primitive technique of all testing types and it helps to find critical bugs in the software application</a:t>
            </a:r>
            <a:r>
              <a:rPr lang="en-US" dirty="0" smtClean="0"/>
              <a:t>.</a:t>
            </a:r>
            <a:endParaRPr lang="en-US" dirty="0"/>
          </a:p>
          <a:p>
            <a:pPr algn="just">
              <a:lnSpc>
                <a:spcPct val="150000"/>
              </a:lnSpc>
              <a:spcBef>
                <a:spcPts val="600"/>
              </a:spcBef>
              <a:spcAft>
                <a:spcPts val="600"/>
              </a:spcAft>
            </a:pPr>
            <a:r>
              <a:rPr lang="en-US" dirty="0" smtClean="0"/>
              <a:t>	Any </a:t>
            </a:r>
            <a:r>
              <a:rPr lang="en-US" dirty="0"/>
              <a:t>new application must be manually tested before its testing can be automated. Manual Software Testing requires more effort but is necessary to check automation feasibility. Manual Testing concepts does not require knowledge of any testing tool. One of the Software Testing Fundamental is "</a:t>
            </a:r>
            <a:r>
              <a:rPr lang="en-US" b="1" dirty="0"/>
              <a:t>100% Automation is not possible</a:t>
            </a:r>
            <a:r>
              <a:rPr lang="en-US" dirty="0"/>
              <a:t>". This makes Manual Testing imperative.</a:t>
            </a:r>
          </a:p>
          <a:p>
            <a:pPr algn="just">
              <a:lnSpc>
                <a:spcPct val="125000"/>
              </a:lnSpc>
            </a:pPr>
            <a:endParaRPr lang="en-US" b="1" dirty="0"/>
          </a:p>
        </p:txBody>
      </p:sp>
    </p:spTree>
    <p:extLst>
      <p:ext uri="{BB962C8B-B14F-4D97-AF65-F5344CB8AC3E}">
        <p14:creationId xmlns:p14="http://schemas.microsoft.com/office/powerpoint/2010/main" val="2509962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6. Manual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3824124"/>
          </a:xfrm>
          <a:prstGeom prst="rect">
            <a:avLst/>
          </a:prstGeom>
          <a:noFill/>
        </p:spPr>
        <p:txBody>
          <a:bodyPr wrap="square" rtlCol="0">
            <a:spAutoFit/>
          </a:bodyPr>
          <a:lstStyle/>
          <a:p>
            <a:r>
              <a:rPr lang="en-US" b="1" dirty="0"/>
              <a:t>Goal of Manual Testing</a:t>
            </a:r>
          </a:p>
          <a:p>
            <a:pPr algn="just">
              <a:lnSpc>
                <a:spcPct val="150000"/>
              </a:lnSpc>
              <a:spcBef>
                <a:spcPts val="600"/>
              </a:spcBef>
              <a:spcAft>
                <a:spcPts val="600"/>
              </a:spcAft>
            </a:pPr>
            <a:r>
              <a:rPr lang="en-US" dirty="0" smtClean="0"/>
              <a:t>- The </a:t>
            </a:r>
            <a:r>
              <a:rPr lang="en-US" dirty="0"/>
              <a:t>key concept of manual testing is to ensure that the application is error free and it is working in conformance to the specified functional requirements</a:t>
            </a:r>
            <a:r>
              <a:rPr lang="en-US" dirty="0" smtClean="0"/>
              <a:t>.</a:t>
            </a:r>
            <a:endParaRPr lang="en-US" dirty="0"/>
          </a:p>
          <a:p>
            <a:pPr algn="just">
              <a:lnSpc>
                <a:spcPct val="150000"/>
              </a:lnSpc>
              <a:spcBef>
                <a:spcPts val="600"/>
              </a:spcBef>
              <a:spcAft>
                <a:spcPts val="600"/>
              </a:spcAft>
            </a:pPr>
            <a:r>
              <a:rPr lang="en-US" dirty="0" smtClean="0"/>
              <a:t>- Test </a:t>
            </a:r>
            <a:r>
              <a:rPr lang="en-US" dirty="0"/>
              <a:t>Suites or cases, are designed during the testing phase and should have 100% test coverage.</a:t>
            </a:r>
          </a:p>
          <a:p>
            <a:pPr algn="just">
              <a:lnSpc>
                <a:spcPct val="150000"/>
              </a:lnSpc>
              <a:spcBef>
                <a:spcPts val="600"/>
              </a:spcBef>
              <a:spcAft>
                <a:spcPts val="600"/>
              </a:spcAft>
            </a:pPr>
            <a:r>
              <a:rPr lang="en-US" dirty="0" smtClean="0"/>
              <a:t>- It </a:t>
            </a:r>
            <a:r>
              <a:rPr lang="en-US" dirty="0"/>
              <a:t>also makes sure that reported defects are fixed by developers and re-testing has been performed by testers on the fixed defects.</a:t>
            </a:r>
          </a:p>
          <a:p>
            <a:pPr algn="just">
              <a:lnSpc>
                <a:spcPct val="150000"/>
              </a:lnSpc>
              <a:spcBef>
                <a:spcPts val="600"/>
              </a:spcBef>
              <a:spcAft>
                <a:spcPts val="600"/>
              </a:spcAft>
            </a:pPr>
            <a:r>
              <a:rPr lang="en-US" dirty="0" smtClean="0"/>
              <a:t>- This testing </a:t>
            </a:r>
            <a:r>
              <a:rPr lang="en-US" dirty="0"/>
              <a:t>checks the quality of the system and delivers bug-free product to the customer.</a:t>
            </a:r>
          </a:p>
          <a:p>
            <a:pPr algn="just">
              <a:lnSpc>
                <a:spcPct val="125000"/>
              </a:lnSpc>
            </a:pPr>
            <a:endParaRPr lang="en-US" b="1" dirty="0"/>
          </a:p>
        </p:txBody>
      </p:sp>
    </p:spTree>
    <p:extLst>
      <p:ext uri="{BB962C8B-B14F-4D97-AF65-F5344CB8AC3E}">
        <p14:creationId xmlns:p14="http://schemas.microsoft.com/office/powerpoint/2010/main" val="22400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6. Manual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393784"/>
          </a:xfrm>
          <a:prstGeom prst="rect">
            <a:avLst/>
          </a:prstGeom>
          <a:noFill/>
        </p:spPr>
        <p:txBody>
          <a:bodyPr wrap="square" rtlCol="0">
            <a:spAutoFit/>
          </a:bodyPr>
          <a:lstStyle/>
          <a:p>
            <a:r>
              <a:rPr lang="en-US" b="1" dirty="0"/>
              <a:t>Types of Manual </a:t>
            </a:r>
            <a:r>
              <a:rPr lang="en-US" b="1" dirty="0" smtClean="0"/>
              <a:t>Testing</a:t>
            </a:r>
          </a:p>
          <a:p>
            <a:endParaRPr lang="en-US" b="1" dirty="0"/>
          </a:p>
          <a:p>
            <a:pPr>
              <a:lnSpc>
                <a:spcPct val="150000"/>
              </a:lnSpc>
              <a:spcBef>
                <a:spcPts val="600"/>
              </a:spcBef>
              <a:spcAft>
                <a:spcPts val="600"/>
              </a:spcAft>
            </a:pPr>
            <a:r>
              <a:rPr lang="en-US" dirty="0" smtClean="0"/>
              <a:t>Below </a:t>
            </a:r>
            <a:r>
              <a:rPr lang="en-US" dirty="0"/>
              <a:t>given diagram depicts Manual Testing Types.</a:t>
            </a:r>
            <a:r>
              <a:rPr lang="en-US" b="1" dirty="0"/>
              <a:t> In fact, any type of software testing type can be executed both manually as well using an automation </a:t>
            </a:r>
            <a:r>
              <a:rPr lang="en-US" b="1" dirty="0" smtClean="0"/>
              <a:t>tool:</a:t>
            </a:r>
            <a:endParaRPr lang="en-US" dirty="0"/>
          </a:p>
          <a:p>
            <a:pPr>
              <a:lnSpc>
                <a:spcPct val="150000"/>
              </a:lnSpc>
              <a:spcBef>
                <a:spcPts val="600"/>
              </a:spcBef>
              <a:spcAft>
                <a:spcPts val="600"/>
              </a:spcAft>
            </a:pPr>
            <a:r>
              <a:rPr lang="en-US" dirty="0" smtClean="0"/>
              <a:t>- Black </a:t>
            </a:r>
            <a:r>
              <a:rPr lang="en-US" dirty="0"/>
              <a:t>Box Testing</a:t>
            </a:r>
          </a:p>
          <a:p>
            <a:pPr>
              <a:lnSpc>
                <a:spcPct val="150000"/>
              </a:lnSpc>
              <a:spcBef>
                <a:spcPts val="600"/>
              </a:spcBef>
              <a:spcAft>
                <a:spcPts val="600"/>
              </a:spcAft>
            </a:pPr>
            <a:r>
              <a:rPr lang="en-US" dirty="0" smtClean="0"/>
              <a:t>- White </a:t>
            </a:r>
            <a:r>
              <a:rPr lang="en-US" dirty="0"/>
              <a:t>Box Testing</a:t>
            </a:r>
          </a:p>
          <a:p>
            <a:pPr>
              <a:lnSpc>
                <a:spcPct val="150000"/>
              </a:lnSpc>
              <a:spcBef>
                <a:spcPts val="600"/>
              </a:spcBef>
              <a:spcAft>
                <a:spcPts val="600"/>
              </a:spcAft>
            </a:pPr>
            <a:r>
              <a:rPr lang="en-US" dirty="0" smtClean="0"/>
              <a:t>- Unit </a:t>
            </a:r>
            <a:r>
              <a:rPr lang="en-US" dirty="0"/>
              <a:t>Testing</a:t>
            </a:r>
          </a:p>
          <a:p>
            <a:pPr>
              <a:lnSpc>
                <a:spcPct val="150000"/>
              </a:lnSpc>
              <a:spcBef>
                <a:spcPts val="600"/>
              </a:spcBef>
              <a:spcAft>
                <a:spcPts val="600"/>
              </a:spcAft>
            </a:pPr>
            <a:r>
              <a:rPr lang="en-US" dirty="0" smtClean="0"/>
              <a:t>- System </a:t>
            </a:r>
            <a:r>
              <a:rPr lang="en-US" dirty="0"/>
              <a:t>Testing</a:t>
            </a:r>
          </a:p>
          <a:p>
            <a:pPr>
              <a:lnSpc>
                <a:spcPct val="150000"/>
              </a:lnSpc>
              <a:spcBef>
                <a:spcPts val="600"/>
              </a:spcBef>
              <a:spcAft>
                <a:spcPts val="600"/>
              </a:spcAft>
            </a:pPr>
            <a:r>
              <a:rPr lang="en-US" dirty="0" smtClean="0"/>
              <a:t>- Integration </a:t>
            </a:r>
            <a:r>
              <a:rPr lang="en-US" dirty="0"/>
              <a:t>Testing</a:t>
            </a:r>
          </a:p>
          <a:p>
            <a:pPr>
              <a:lnSpc>
                <a:spcPct val="150000"/>
              </a:lnSpc>
              <a:spcBef>
                <a:spcPts val="600"/>
              </a:spcBef>
              <a:spcAft>
                <a:spcPts val="600"/>
              </a:spcAft>
            </a:pPr>
            <a:r>
              <a:rPr lang="en-US" dirty="0" smtClean="0"/>
              <a:t>- Acceptance </a:t>
            </a:r>
            <a:r>
              <a:rPr lang="en-US" dirty="0"/>
              <a:t>Testing</a:t>
            </a:r>
          </a:p>
          <a:p>
            <a:pPr algn="just">
              <a:lnSpc>
                <a:spcPct val="125000"/>
              </a:lnSpc>
            </a:pPr>
            <a:endParaRPr lang="en-US" b="1" dirty="0"/>
          </a:p>
        </p:txBody>
      </p:sp>
    </p:spTree>
    <p:extLst>
      <p:ext uri="{BB962C8B-B14F-4D97-AF65-F5344CB8AC3E}">
        <p14:creationId xmlns:p14="http://schemas.microsoft.com/office/powerpoint/2010/main" val="1544566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6. Manual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728859"/>
          </a:xfrm>
          <a:prstGeom prst="rect">
            <a:avLst/>
          </a:prstGeom>
          <a:noFill/>
        </p:spPr>
        <p:txBody>
          <a:bodyPr wrap="square" rtlCol="0">
            <a:spAutoFit/>
          </a:bodyPr>
          <a:lstStyle/>
          <a:p>
            <a:pPr>
              <a:lnSpc>
                <a:spcPct val="150000"/>
              </a:lnSpc>
              <a:spcBef>
                <a:spcPts val="600"/>
              </a:spcBef>
              <a:spcAft>
                <a:spcPts val="600"/>
              </a:spcAft>
            </a:pPr>
            <a:r>
              <a:rPr lang="en-US" b="1" dirty="0"/>
              <a:t>How to perform Manual Testing</a:t>
            </a:r>
          </a:p>
          <a:p>
            <a:pPr algn="just">
              <a:lnSpc>
                <a:spcPct val="150000"/>
              </a:lnSpc>
              <a:spcBef>
                <a:spcPts val="600"/>
              </a:spcBef>
              <a:spcAft>
                <a:spcPts val="600"/>
              </a:spcAft>
            </a:pPr>
            <a:r>
              <a:rPr lang="en-US" dirty="0" smtClean="0"/>
              <a:t>1. Read </a:t>
            </a:r>
            <a:r>
              <a:rPr lang="en-US" dirty="0"/>
              <a:t>and understand the software project documentation/guides. Also, study the Application Under Test (AUT) if available.</a:t>
            </a:r>
          </a:p>
          <a:p>
            <a:pPr algn="just">
              <a:lnSpc>
                <a:spcPct val="150000"/>
              </a:lnSpc>
              <a:spcBef>
                <a:spcPts val="600"/>
              </a:spcBef>
              <a:spcAft>
                <a:spcPts val="600"/>
              </a:spcAft>
            </a:pPr>
            <a:r>
              <a:rPr lang="en-US" dirty="0" smtClean="0"/>
              <a:t>2. Draft </a:t>
            </a:r>
            <a:r>
              <a:rPr lang="en-US" dirty="0"/>
              <a:t>Test cases that cover all the requirements mentioned in the documentation.</a:t>
            </a:r>
          </a:p>
          <a:p>
            <a:pPr algn="just">
              <a:lnSpc>
                <a:spcPct val="150000"/>
              </a:lnSpc>
              <a:spcBef>
                <a:spcPts val="600"/>
              </a:spcBef>
              <a:spcAft>
                <a:spcPts val="600"/>
              </a:spcAft>
            </a:pPr>
            <a:r>
              <a:rPr lang="en-US" dirty="0" smtClean="0"/>
              <a:t>3. Review </a:t>
            </a:r>
            <a:r>
              <a:rPr lang="en-US" dirty="0"/>
              <a:t>and baseline the test cases with Team Lead, Client (as applicable)</a:t>
            </a:r>
          </a:p>
          <a:p>
            <a:pPr algn="just">
              <a:lnSpc>
                <a:spcPct val="150000"/>
              </a:lnSpc>
              <a:spcBef>
                <a:spcPts val="600"/>
              </a:spcBef>
              <a:spcAft>
                <a:spcPts val="600"/>
              </a:spcAft>
            </a:pPr>
            <a:r>
              <a:rPr lang="en-US" dirty="0" smtClean="0"/>
              <a:t>4.Execute </a:t>
            </a:r>
            <a:r>
              <a:rPr lang="en-US" dirty="0"/>
              <a:t>the test cases on the AUT</a:t>
            </a:r>
          </a:p>
          <a:p>
            <a:pPr algn="just">
              <a:lnSpc>
                <a:spcPct val="150000"/>
              </a:lnSpc>
              <a:spcBef>
                <a:spcPts val="600"/>
              </a:spcBef>
              <a:spcAft>
                <a:spcPts val="600"/>
              </a:spcAft>
            </a:pPr>
            <a:r>
              <a:rPr lang="en-US" dirty="0" smtClean="0"/>
              <a:t>5. Report </a:t>
            </a:r>
            <a:r>
              <a:rPr lang="en-US" dirty="0"/>
              <a:t>bugs.</a:t>
            </a:r>
          </a:p>
          <a:p>
            <a:pPr algn="just">
              <a:lnSpc>
                <a:spcPct val="150000"/>
              </a:lnSpc>
              <a:spcBef>
                <a:spcPts val="600"/>
              </a:spcBef>
              <a:spcAft>
                <a:spcPts val="600"/>
              </a:spcAft>
            </a:pPr>
            <a:r>
              <a:rPr lang="en-US" dirty="0" smtClean="0"/>
              <a:t>6. Once </a:t>
            </a:r>
            <a:r>
              <a:rPr lang="en-US" dirty="0"/>
              <a:t>bugs are fixed, again execute the failing test cases to verify they pass.</a:t>
            </a:r>
          </a:p>
          <a:p>
            <a:pPr algn="just">
              <a:lnSpc>
                <a:spcPct val="125000"/>
              </a:lnSpc>
            </a:pPr>
            <a:endParaRPr lang="en-US" b="1" dirty="0"/>
          </a:p>
        </p:txBody>
      </p:sp>
    </p:spTree>
    <p:extLst>
      <p:ext uri="{BB962C8B-B14F-4D97-AF65-F5344CB8AC3E}">
        <p14:creationId xmlns:p14="http://schemas.microsoft.com/office/powerpoint/2010/main" val="267433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174861"/>
          </a:xfrm>
          <a:prstGeom prst="rect">
            <a:avLst/>
          </a:prstGeom>
          <a:noFill/>
        </p:spPr>
        <p:txBody>
          <a:bodyPr wrap="square" rtlCol="0">
            <a:spAutoFit/>
          </a:bodyPr>
          <a:lstStyle/>
          <a:p>
            <a:pPr algn="just">
              <a:lnSpc>
                <a:spcPct val="125000"/>
              </a:lnSpc>
              <a:spcBef>
                <a:spcPts val="600"/>
              </a:spcBef>
              <a:spcAft>
                <a:spcPts val="600"/>
              </a:spcAft>
            </a:pPr>
            <a:r>
              <a:rPr lang="en-US" b="1" dirty="0"/>
              <a:t>Automation Testing or Test Automation</a:t>
            </a:r>
            <a:r>
              <a:rPr lang="en-US" dirty="0"/>
              <a:t> is a software testing technique that performs using special automated testing software tools to execute a test case suite. On the contrary, Manual Testing is performed by a human sitting in front of a computer carefully executing the test steps.</a:t>
            </a:r>
          </a:p>
          <a:p>
            <a:pPr algn="just">
              <a:lnSpc>
                <a:spcPct val="125000"/>
              </a:lnSpc>
              <a:spcBef>
                <a:spcPts val="600"/>
              </a:spcBef>
              <a:spcAft>
                <a:spcPts val="600"/>
              </a:spcAft>
            </a:pPr>
            <a:r>
              <a:rPr lang="en-US" dirty="0"/>
              <a:t>The automation testing software can also enter test data into the System Under Test, compare expected and actual results and generate detailed test reports. Test Automation demands considerable investments of money and resources.</a:t>
            </a:r>
          </a:p>
          <a:p>
            <a:pPr algn="just">
              <a:lnSpc>
                <a:spcPct val="125000"/>
              </a:lnSpc>
              <a:spcBef>
                <a:spcPts val="600"/>
              </a:spcBef>
              <a:spcAft>
                <a:spcPts val="600"/>
              </a:spcAft>
            </a:pPr>
            <a:r>
              <a:rPr lang="en-US" dirty="0"/>
              <a:t>Successive development cycles will require execution of same test suite repeatedly. Using a test automation tool, it's possible to record this test suite and re-play it as required. Once the test suite is automated, no human intervention is required. This improved ROI of Test Automation. The goal of Automation is to reduce the number of test cases to be run manually and not to eliminate Manual Testing altogether.</a:t>
            </a:r>
          </a:p>
        </p:txBody>
      </p:sp>
    </p:spTree>
    <p:extLst>
      <p:ext uri="{BB962C8B-B14F-4D97-AF65-F5344CB8AC3E}">
        <p14:creationId xmlns:p14="http://schemas.microsoft.com/office/powerpoint/2010/main" val="1895892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639732"/>
          </a:xfrm>
          <a:prstGeom prst="rect">
            <a:avLst/>
          </a:prstGeom>
          <a:noFill/>
        </p:spPr>
        <p:txBody>
          <a:bodyPr wrap="square" rtlCol="0">
            <a:spAutoFit/>
          </a:bodyPr>
          <a:lstStyle/>
          <a:p>
            <a:pPr algn="just">
              <a:lnSpc>
                <a:spcPct val="125000"/>
              </a:lnSpc>
              <a:spcBef>
                <a:spcPts val="600"/>
              </a:spcBef>
              <a:spcAft>
                <a:spcPts val="600"/>
              </a:spcAft>
            </a:pPr>
            <a:r>
              <a:rPr lang="en-US" b="1" dirty="0"/>
              <a:t>Why Test Automation</a:t>
            </a:r>
            <a:r>
              <a:rPr lang="en-US" b="1" dirty="0" smtClean="0"/>
              <a:t>?</a:t>
            </a:r>
          </a:p>
          <a:p>
            <a:pPr algn="just">
              <a:lnSpc>
                <a:spcPct val="125000"/>
              </a:lnSpc>
              <a:spcBef>
                <a:spcPts val="600"/>
              </a:spcBef>
              <a:spcAft>
                <a:spcPts val="600"/>
              </a:spcAft>
            </a:pPr>
            <a:r>
              <a:rPr lang="en-US" b="1" dirty="0"/>
              <a:t>Test Automation</a:t>
            </a:r>
            <a:r>
              <a:rPr lang="en-US" dirty="0"/>
              <a:t> is the best way to increase the effectiveness, test coverage, and execution speed in software testing. Automated software testing is important due to the following reasons:</a:t>
            </a:r>
          </a:p>
          <a:p>
            <a:pPr algn="just">
              <a:lnSpc>
                <a:spcPct val="125000"/>
              </a:lnSpc>
              <a:spcBef>
                <a:spcPts val="600"/>
              </a:spcBef>
              <a:spcAft>
                <a:spcPts val="600"/>
              </a:spcAft>
            </a:pPr>
            <a:r>
              <a:rPr lang="en-US" dirty="0" smtClean="0"/>
              <a:t>- Manual </a:t>
            </a:r>
            <a:r>
              <a:rPr lang="en-US" dirty="0"/>
              <a:t>Testing of all workflows, all fields, all negative scenarios is time and money consuming</a:t>
            </a:r>
          </a:p>
          <a:p>
            <a:pPr algn="just">
              <a:lnSpc>
                <a:spcPct val="125000"/>
              </a:lnSpc>
              <a:spcBef>
                <a:spcPts val="600"/>
              </a:spcBef>
              <a:spcAft>
                <a:spcPts val="600"/>
              </a:spcAft>
            </a:pPr>
            <a:r>
              <a:rPr lang="en-US" dirty="0" smtClean="0"/>
              <a:t>- It </a:t>
            </a:r>
            <a:r>
              <a:rPr lang="en-US" dirty="0"/>
              <a:t>is difficult to test for multilingual sites manually</a:t>
            </a:r>
          </a:p>
          <a:p>
            <a:pPr algn="just">
              <a:lnSpc>
                <a:spcPct val="125000"/>
              </a:lnSpc>
              <a:spcBef>
                <a:spcPts val="600"/>
              </a:spcBef>
              <a:spcAft>
                <a:spcPts val="600"/>
              </a:spcAft>
            </a:pPr>
            <a:r>
              <a:rPr lang="en-US" dirty="0" smtClean="0"/>
              <a:t>- Test </a:t>
            </a:r>
            <a:r>
              <a:rPr lang="en-US" dirty="0"/>
              <a:t>Automation does not require Human intervention. You can run automated test unattended (overnight)</a:t>
            </a:r>
          </a:p>
          <a:p>
            <a:pPr algn="just">
              <a:lnSpc>
                <a:spcPct val="125000"/>
              </a:lnSpc>
              <a:spcBef>
                <a:spcPts val="600"/>
              </a:spcBef>
              <a:spcAft>
                <a:spcPts val="600"/>
              </a:spcAft>
            </a:pPr>
            <a:r>
              <a:rPr lang="en-US" dirty="0" smtClean="0"/>
              <a:t>- Test </a:t>
            </a:r>
            <a:r>
              <a:rPr lang="en-US" dirty="0"/>
              <a:t>Automation increases the speed of test execution</a:t>
            </a:r>
          </a:p>
          <a:p>
            <a:pPr algn="just">
              <a:lnSpc>
                <a:spcPct val="125000"/>
              </a:lnSpc>
              <a:spcBef>
                <a:spcPts val="600"/>
              </a:spcBef>
              <a:spcAft>
                <a:spcPts val="600"/>
              </a:spcAft>
            </a:pPr>
            <a:r>
              <a:rPr lang="en-US" dirty="0" smtClean="0"/>
              <a:t>- Automation </a:t>
            </a:r>
            <a:r>
              <a:rPr lang="en-US" dirty="0"/>
              <a:t>helps increase Test Coverage</a:t>
            </a:r>
          </a:p>
          <a:p>
            <a:pPr algn="just">
              <a:lnSpc>
                <a:spcPct val="125000"/>
              </a:lnSpc>
              <a:spcBef>
                <a:spcPts val="600"/>
              </a:spcBef>
              <a:spcAft>
                <a:spcPts val="600"/>
              </a:spcAft>
            </a:pPr>
            <a:r>
              <a:rPr lang="en-US" dirty="0" smtClean="0"/>
              <a:t>- Manual </a:t>
            </a:r>
            <a:r>
              <a:rPr lang="en-US" dirty="0"/>
              <a:t>Testing can become boring and hence error-prone.</a:t>
            </a:r>
          </a:p>
          <a:p>
            <a:endParaRPr lang="en-US" b="1" dirty="0"/>
          </a:p>
        </p:txBody>
      </p:sp>
    </p:spTree>
    <p:extLst>
      <p:ext uri="{BB962C8B-B14F-4D97-AF65-F5344CB8AC3E}">
        <p14:creationId xmlns:p14="http://schemas.microsoft.com/office/powerpoint/2010/main" val="1596563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293757"/>
          </a:xfrm>
          <a:prstGeom prst="rect">
            <a:avLst/>
          </a:prstGeom>
          <a:noFill/>
        </p:spPr>
        <p:txBody>
          <a:bodyPr wrap="square" rtlCol="0">
            <a:spAutoFit/>
          </a:bodyPr>
          <a:lstStyle/>
          <a:p>
            <a:pPr algn="just">
              <a:lnSpc>
                <a:spcPct val="125000"/>
              </a:lnSpc>
              <a:spcBef>
                <a:spcPts val="600"/>
              </a:spcBef>
              <a:spcAft>
                <a:spcPts val="600"/>
              </a:spcAft>
            </a:pPr>
            <a:r>
              <a:rPr lang="en-US" b="1" dirty="0"/>
              <a:t>Which Test Cases to Automate?</a:t>
            </a:r>
          </a:p>
          <a:p>
            <a:pPr algn="just">
              <a:lnSpc>
                <a:spcPct val="125000"/>
              </a:lnSpc>
              <a:spcBef>
                <a:spcPts val="600"/>
              </a:spcBef>
              <a:spcAft>
                <a:spcPts val="600"/>
              </a:spcAft>
            </a:pPr>
            <a:r>
              <a:rPr lang="en-US" dirty="0"/>
              <a:t>Test cases to be automated can be selected using the following criterion to increase the automation ROI</a:t>
            </a:r>
          </a:p>
          <a:p>
            <a:pPr algn="just">
              <a:lnSpc>
                <a:spcPct val="125000"/>
              </a:lnSpc>
              <a:spcBef>
                <a:spcPts val="600"/>
              </a:spcBef>
              <a:spcAft>
                <a:spcPts val="600"/>
              </a:spcAft>
            </a:pPr>
            <a:r>
              <a:rPr lang="en-US" dirty="0" smtClean="0"/>
              <a:t>- High </a:t>
            </a:r>
            <a:r>
              <a:rPr lang="en-US" dirty="0"/>
              <a:t>Risk - Business Critical test cases</a:t>
            </a:r>
          </a:p>
          <a:p>
            <a:pPr algn="just">
              <a:lnSpc>
                <a:spcPct val="125000"/>
              </a:lnSpc>
              <a:spcBef>
                <a:spcPts val="600"/>
              </a:spcBef>
              <a:spcAft>
                <a:spcPts val="600"/>
              </a:spcAft>
            </a:pPr>
            <a:r>
              <a:rPr lang="en-US" dirty="0" smtClean="0"/>
              <a:t>- Test </a:t>
            </a:r>
            <a:r>
              <a:rPr lang="en-US" dirty="0"/>
              <a:t>cases that are repeatedly executed</a:t>
            </a:r>
          </a:p>
          <a:p>
            <a:pPr algn="just">
              <a:lnSpc>
                <a:spcPct val="125000"/>
              </a:lnSpc>
              <a:spcBef>
                <a:spcPts val="600"/>
              </a:spcBef>
              <a:spcAft>
                <a:spcPts val="600"/>
              </a:spcAft>
            </a:pPr>
            <a:r>
              <a:rPr lang="en-US" dirty="0" smtClean="0"/>
              <a:t>- Test </a:t>
            </a:r>
            <a:r>
              <a:rPr lang="en-US" dirty="0"/>
              <a:t>Cases that are very tedious or difficult to perform manually</a:t>
            </a:r>
          </a:p>
          <a:p>
            <a:pPr algn="just">
              <a:lnSpc>
                <a:spcPct val="125000"/>
              </a:lnSpc>
              <a:spcBef>
                <a:spcPts val="600"/>
              </a:spcBef>
              <a:spcAft>
                <a:spcPts val="600"/>
              </a:spcAft>
            </a:pPr>
            <a:r>
              <a:rPr lang="en-US" dirty="0" smtClean="0"/>
              <a:t>-Test </a:t>
            </a:r>
            <a:r>
              <a:rPr lang="en-US" dirty="0"/>
              <a:t>Cases which are time-consuming</a:t>
            </a:r>
          </a:p>
          <a:p>
            <a:pPr algn="just">
              <a:lnSpc>
                <a:spcPct val="125000"/>
              </a:lnSpc>
              <a:spcBef>
                <a:spcPts val="600"/>
              </a:spcBef>
              <a:spcAft>
                <a:spcPts val="600"/>
              </a:spcAft>
            </a:pPr>
            <a:r>
              <a:rPr lang="en-US" dirty="0"/>
              <a:t>The following category of test cases are not suitable for automation:</a:t>
            </a:r>
          </a:p>
          <a:p>
            <a:pPr algn="just">
              <a:lnSpc>
                <a:spcPct val="125000"/>
              </a:lnSpc>
              <a:spcBef>
                <a:spcPts val="600"/>
              </a:spcBef>
              <a:spcAft>
                <a:spcPts val="600"/>
              </a:spcAft>
            </a:pPr>
            <a:r>
              <a:rPr lang="en-US" dirty="0" smtClean="0"/>
              <a:t>- Test </a:t>
            </a:r>
            <a:r>
              <a:rPr lang="en-US" dirty="0"/>
              <a:t>Cases that are newly designed and not executed manually at least once</a:t>
            </a:r>
          </a:p>
          <a:p>
            <a:pPr algn="just">
              <a:lnSpc>
                <a:spcPct val="125000"/>
              </a:lnSpc>
              <a:spcBef>
                <a:spcPts val="600"/>
              </a:spcBef>
              <a:spcAft>
                <a:spcPts val="600"/>
              </a:spcAft>
            </a:pPr>
            <a:r>
              <a:rPr lang="en-US" dirty="0" smtClean="0"/>
              <a:t>- Test </a:t>
            </a:r>
            <a:r>
              <a:rPr lang="en-US" dirty="0"/>
              <a:t>Cases for which the requirements are frequently changing</a:t>
            </a:r>
          </a:p>
          <a:p>
            <a:pPr algn="just">
              <a:lnSpc>
                <a:spcPct val="125000"/>
              </a:lnSpc>
              <a:spcBef>
                <a:spcPts val="600"/>
              </a:spcBef>
              <a:spcAft>
                <a:spcPts val="600"/>
              </a:spcAft>
            </a:pPr>
            <a:r>
              <a:rPr lang="en-US" dirty="0" smtClean="0"/>
              <a:t>- Test </a:t>
            </a:r>
            <a:r>
              <a:rPr lang="en-US" dirty="0"/>
              <a:t>cases which are executed on an ad-hoc basis.</a:t>
            </a:r>
          </a:p>
          <a:p>
            <a:endParaRPr lang="en-US" b="1" dirty="0"/>
          </a:p>
        </p:txBody>
      </p:sp>
    </p:spTree>
    <p:extLst>
      <p:ext uri="{BB962C8B-B14F-4D97-AF65-F5344CB8AC3E}">
        <p14:creationId xmlns:p14="http://schemas.microsoft.com/office/powerpoint/2010/main" val="2202891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3308598"/>
          </a:xfrm>
          <a:prstGeom prst="rect">
            <a:avLst/>
          </a:prstGeom>
          <a:noFill/>
        </p:spPr>
        <p:txBody>
          <a:bodyPr wrap="square" rtlCol="0">
            <a:spAutoFit/>
          </a:bodyPr>
          <a:lstStyle/>
          <a:p>
            <a:pPr algn="just">
              <a:spcBef>
                <a:spcPts val="600"/>
              </a:spcBef>
              <a:spcAft>
                <a:spcPts val="600"/>
              </a:spcAft>
            </a:pPr>
            <a:r>
              <a:rPr lang="en-US" b="1" dirty="0"/>
              <a:t>Automated Testing Process:</a:t>
            </a:r>
          </a:p>
          <a:p>
            <a:pPr algn="just">
              <a:spcBef>
                <a:spcPts val="600"/>
              </a:spcBef>
              <a:spcAft>
                <a:spcPts val="600"/>
              </a:spcAft>
            </a:pPr>
            <a:r>
              <a:rPr lang="en-US" dirty="0"/>
              <a:t>Following steps are followed in an Automation Process</a:t>
            </a:r>
          </a:p>
          <a:p>
            <a:pPr algn="just">
              <a:spcBef>
                <a:spcPts val="600"/>
              </a:spcBef>
              <a:spcAft>
                <a:spcPts val="600"/>
              </a:spcAft>
            </a:pPr>
            <a:r>
              <a:rPr lang="en-US" b="1" dirty="0"/>
              <a:t>Step </a:t>
            </a:r>
            <a:r>
              <a:rPr lang="en-US" b="1" dirty="0" smtClean="0"/>
              <a:t>1:</a:t>
            </a:r>
            <a:r>
              <a:rPr lang="en-US" dirty="0"/>
              <a:t> Test Tool Selection</a:t>
            </a:r>
          </a:p>
          <a:p>
            <a:pPr algn="just">
              <a:spcBef>
                <a:spcPts val="600"/>
              </a:spcBef>
              <a:spcAft>
                <a:spcPts val="600"/>
              </a:spcAft>
            </a:pPr>
            <a:r>
              <a:rPr lang="en-US" b="1" dirty="0"/>
              <a:t>Step </a:t>
            </a:r>
            <a:r>
              <a:rPr lang="en-US" b="1" dirty="0" smtClean="0"/>
              <a:t>2:</a:t>
            </a:r>
            <a:r>
              <a:rPr lang="en-US" dirty="0"/>
              <a:t> Define scope of Automation</a:t>
            </a:r>
          </a:p>
          <a:p>
            <a:pPr algn="just">
              <a:spcBef>
                <a:spcPts val="600"/>
              </a:spcBef>
              <a:spcAft>
                <a:spcPts val="600"/>
              </a:spcAft>
            </a:pPr>
            <a:r>
              <a:rPr lang="en-US" b="1" dirty="0"/>
              <a:t>Step </a:t>
            </a:r>
            <a:r>
              <a:rPr lang="en-US" b="1" dirty="0" smtClean="0"/>
              <a:t>3:</a:t>
            </a:r>
            <a:r>
              <a:rPr lang="en-US" dirty="0"/>
              <a:t> Planning, Design and Development</a:t>
            </a:r>
          </a:p>
          <a:p>
            <a:pPr algn="just">
              <a:spcBef>
                <a:spcPts val="600"/>
              </a:spcBef>
              <a:spcAft>
                <a:spcPts val="600"/>
              </a:spcAft>
            </a:pPr>
            <a:r>
              <a:rPr lang="en-US" b="1" dirty="0"/>
              <a:t>Step </a:t>
            </a:r>
            <a:r>
              <a:rPr lang="en-US" b="1" dirty="0" smtClean="0"/>
              <a:t>4:</a:t>
            </a:r>
            <a:r>
              <a:rPr lang="en-US" dirty="0"/>
              <a:t> Test Execution</a:t>
            </a:r>
          </a:p>
          <a:p>
            <a:pPr algn="just">
              <a:spcBef>
                <a:spcPts val="600"/>
              </a:spcBef>
              <a:spcAft>
                <a:spcPts val="600"/>
              </a:spcAft>
            </a:pPr>
            <a:r>
              <a:rPr lang="en-US" b="1" dirty="0"/>
              <a:t>Step </a:t>
            </a:r>
            <a:r>
              <a:rPr lang="en-US" b="1" dirty="0" smtClean="0"/>
              <a:t>5:</a:t>
            </a:r>
            <a:r>
              <a:rPr lang="en-US" dirty="0"/>
              <a:t> Maintenance</a:t>
            </a:r>
          </a:p>
          <a:p>
            <a:endParaRPr lang="en-US" b="1" dirty="0"/>
          </a:p>
        </p:txBody>
      </p:sp>
      <p:pic>
        <p:nvPicPr>
          <p:cNvPr id="2" name="Picture 1"/>
          <p:cNvPicPr>
            <a:picLocks noChangeAspect="1"/>
          </p:cNvPicPr>
          <p:nvPr/>
        </p:nvPicPr>
        <p:blipFill>
          <a:blip r:embed="rId3"/>
          <a:stretch>
            <a:fillRect/>
          </a:stretch>
        </p:blipFill>
        <p:spPr>
          <a:xfrm>
            <a:off x="2006854" y="4215859"/>
            <a:ext cx="7518172" cy="2457864"/>
          </a:xfrm>
          <a:prstGeom prst="rect">
            <a:avLst/>
          </a:prstGeom>
        </p:spPr>
      </p:pic>
    </p:spTree>
    <p:extLst>
      <p:ext uri="{BB962C8B-B14F-4D97-AF65-F5344CB8AC3E}">
        <p14:creationId xmlns:p14="http://schemas.microsoft.com/office/powerpoint/2010/main" val="2513723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6024726"/>
          </a:xfrm>
          <a:prstGeom prst="rect">
            <a:avLst/>
          </a:prstGeom>
          <a:noFill/>
        </p:spPr>
        <p:txBody>
          <a:bodyPr wrap="square" rtlCol="0">
            <a:spAutoFit/>
          </a:bodyPr>
          <a:lstStyle/>
          <a:p>
            <a:pPr algn="just">
              <a:lnSpc>
                <a:spcPct val="125000"/>
              </a:lnSpc>
              <a:spcBef>
                <a:spcPts val="300"/>
              </a:spcBef>
              <a:spcAft>
                <a:spcPts val="300"/>
              </a:spcAft>
            </a:pPr>
            <a:r>
              <a:rPr lang="en-US" b="1" dirty="0" smtClean="0"/>
              <a:t>Step 1: Test </a:t>
            </a:r>
            <a:r>
              <a:rPr lang="en-US" b="1" dirty="0"/>
              <a:t>tool selection</a:t>
            </a:r>
          </a:p>
          <a:p>
            <a:pPr algn="just">
              <a:lnSpc>
                <a:spcPct val="125000"/>
              </a:lnSpc>
              <a:spcBef>
                <a:spcPts val="300"/>
              </a:spcBef>
              <a:spcAft>
                <a:spcPts val="300"/>
              </a:spcAft>
            </a:pPr>
            <a:r>
              <a:rPr lang="en-US" dirty="0"/>
              <a:t>Test Tool selection largely depends on the technology the Application Under Test is built on. For instance, QTP does not support </a:t>
            </a:r>
            <a:r>
              <a:rPr lang="en-US" dirty="0" err="1"/>
              <a:t>Informatica</a:t>
            </a:r>
            <a:r>
              <a:rPr lang="en-US" dirty="0"/>
              <a:t>. So QTP cannot be used for testing </a:t>
            </a:r>
            <a:r>
              <a:rPr lang="en-US" dirty="0" err="1"/>
              <a:t>Informatica</a:t>
            </a:r>
            <a:r>
              <a:rPr lang="en-US" dirty="0"/>
              <a:t> applications. </a:t>
            </a:r>
            <a:r>
              <a:rPr lang="en-US" b="1" dirty="0"/>
              <a:t>It's a good idea to conduct a Proof of Concept of Tool on AUT</a:t>
            </a:r>
            <a:r>
              <a:rPr lang="en-US" b="1" dirty="0" smtClean="0"/>
              <a:t>.</a:t>
            </a:r>
            <a:endParaRPr lang="en-US" dirty="0"/>
          </a:p>
          <a:p>
            <a:pPr algn="just">
              <a:lnSpc>
                <a:spcPct val="125000"/>
              </a:lnSpc>
              <a:spcBef>
                <a:spcPts val="300"/>
              </a:spcBef>
              <a:spcAft>
                <a:spcPts val="300"/>
              </a:spcAft>
            </a:pPr>
            <a:r>
              <a:rPr lang="en-US" b="1" dirty="0" smtClean="0"/>
              <a:t>Step 2: Define </a:t>
            </a:r>
            <a:r>
              <a:rPr lang="en-US" b="1" dirty="0"/>
              <a:t>the scope of Automation</a:t>
            </a:r>
          </a:p>
          <a:p>
            <a:pPr algn="just">
              <a:lnSpc>
                <a:spcPct val="125000"/>
              </a:lnSpc>
              <a:spcBef>
                <a:spcPts val="300"/>
              </a:spcBef>
              <a:spcAft>
                <a:spcPts val="300"/>
              </a:spcAft>
            </a:pPr>
            <a:r>
              <a:rPr lang="en-US" dirty="0"/>
              <a:t>The scope of automation is the area of your Application Under Test which will be automated. Following points help determine scope:</a:t>
            </a:r>
          </a:p>
          <a:p>
            <a:pPr algn="just">
              <a:lnSpc>
                <a:spcPct val="125000"/>
              </a:lnSpc>
              <a:spcBef>
                <a:spcPts val="300"/>
              </a:spcBef>
              <a:spcAft>
                <a:spcPts val="300"/>
              </a:spcAft>
            </a:pPr>
            <a:r>
              <a:rPr lang="en-US" dirty="0" smtClean="0"/>
              <a:t>- The </a:t>
            </a:r>
            <a:r>
              <a:rPr lang="en-US" dirty="0"/>
              <a:t>features that are important for the business</a:t>
            </a:r>
          </a:p>
          <a:p>
            <a:pPr algn="just">
              <a:lnSpc>
                <a:spcPct val="125000"/>
              </a:lnSpc>
              <a:spcBef>
                <a:spcPts val="300"/>
              </a:spcBef>
              <a:spcAft>
                <a:spcPts val="300"/>
              </a:spcAft>
            </a:pPr>
            <a:r>
              <a:rPr lang="en-US" dirty="0" smtClean="0"/>
              <a:t>- Scenarios </a:t>
            </a:r>
            <a:r>
              <a:rPr lang="en-US" dirty="0"/>
              <a:t>which have </a:t>
            </a:r>
            <a:r>
              <a:rPr lang="en-US" b="1" dirty="0"/>
              <a:t>a large amount of data</a:t>
            </a:r>
            <a:endParaRPr lang="en-US" dirty="0"/>
          </a:p>
          <a:p>
            <a:pPr algn="just">
              <a:lnSpc>
                <a:spcPct val="125000"/>
              </a:lnSpc>
              <a:spcBef>
                <a:spcPts val="300"/>
              </a:spcBef>
              <a:spcAft>
                <a:spcPts val="300"/>
              </a:spcAft>
            </a:pPr>
            <a:r>
              <a:rPr lang="en-US" b="1" dirty="0" smtClean="0"/>
              <a:t>- Common </a:t>
            </a:r>
            <a:r>
              <a:rPr lang="en-US" b="1" dirty="0"/>
              <a:t>functionalities</a:t>
            </a:r>
            <a:r>
              <a:rPr lang="en-US" dirty="0"/>
              <a:t> across applications</a:t>
            </a:r>
          </a:p>
          <a:p>
            <a:pPr algn="just">
              <a:lnSpc>
                <a:spcPct val="125000"/>
              </a:lnSpc>
              <a:spcBef>
                <a:spcPts val="300"/>
              </a:spcBef>
              <a:spcAft>
                <a:spcPts val="300"/>
              </a:spcAft>
            </a:pPr>
            <a:r>
              <a:rPr lang="en-US" dirty="0" smtClean="0"/>
              <a:t>- Technical </a:t>
            </a:r>
            <a:r>
              <a:rPr lang="en-US" dirty="0"/>
              <a:t>feasibility</a:t>
            </a:r>
          </a:p>
          <a:p>
            <a:pPr algn="just">
              <a:lnSpc>
                <a:spcPct val="125000"/>
              </a:lnSpc>
              <a:spcBef>
                <a:spcPts val="300"/>
              </a:spcBef>
              <a:spcAft>
                <a:spcPts val="300"/>
              </a:spcAft>
            </a:pPr>
            <a:r>
              <a:rPr lang="en-US" dirty="0" smtClean="0"/>
              <a:t>- The </a:t>
            </a:r>
            <a:r>
              <a:rPr lang="en-US" dirty="0"/>
              <a:t>extent to which business components are reused</a:t>
            </a:r>
          </a:p>
          <a:p>
            <a:pPr algn="just">
              <a:lnSpc>
                <a:spcPct val="125000"/>
              </a:lnSpc>
              <a:spcBef>
                <a:spcPts val="300"/>
              </a:spcBef>
              <a:spcAft>
                <a:spcPts val="300"/>
              </a:spcAft>
            </a:pPr>
            <a:r>
              <a:rPr lang="en-US" b="1" dirty="0" smtClean="0"/>
              <a:t>- The </a:t>
            </a:r>
            <a:r>
              <a:rPr lang="en-US" b="1" dirty="0"/>
              <a:t>complexity</a:t>
            </a:r>
            <a:r>
              <a:rPr lang="en-US" dirty="0"/>
              <a:t> of test cases</a:t>
            </a:r>
          </a:p>
          <a:p>
            <a:pPr algn="just">
              <a:lnSpc>
                <a:spcPct val="125000"/>
              </a:lnSpc>
              <a:spcBef>
                <a:spcPts val="300"/>
              </a:spcBef>
              <a:spcAft>
                <a:spcPts val="300"/>
              </a:spcAft>
            </a:pPr>
            <a:r>
              <a:rPr lang="en-US" dirty="0" smtClean="0"/>
              <a:t>- Ability </a:t>
            </a:r>
            <a:r>
              <a:rPr lang="en-US" dirty="0"/>
              <a:t>to use the same test cases for cross-browser testing</a:t>
            </a:r>
          </a:p>
          <a:p>
            <a:endParaRPr lang="en-US" b="1" dirty="0"/>
          </a:p>
        </p:txBody>
      </p:sp>
    </p:spTree>
    <p:extLst>
      <p:ext uri="{BB962C8B-B14F-4D97-AF65-F5344CB8AC3E}">
        <p14:creationId xmlns:p14="http://schemas.microsoft.com/office/powerpoint/2010/main" val="3258824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293483"/>
          </a:xfrm>
          <a:prstGeom prst="rect">
            <a:avLst/>
          </a:prstGeom>
          <a:noFill/>
        </p:spPr>
        <p:txBody>
          <a:bodyPr wrap="square" rtlCol="0">
            <a:spAutoFit/>
          </a:bodyPr>
          <a:lstStyle/>
          <a:p>
            <a:pPr algn="just">
              <a:lnSpc>
                <a:spcPct val="125000"/>
              </a:lnSpc>
              <a:spcBef>
                <a:spcPts val="600"/>
              </a:spcBef>
              <a:spcAft>
                <a:spcPts val="600"/>
              </a:spcAft>
            </a:pPr>
            <a:r>
              <a:rPr lang="en-US" b="1" dirty="0" smtClean="0"/>
              <a:t>Step 3: Planning</a:t>
            </a:r>
            <a:r>
              <a:rPr lang="en-US" b="1" dirty="0"/>
              <a:t>, Design, and Development</a:t>
            </a:r>
          </a:p>
          <a:p>
            <a:pPr algn="just">
              <a:lnSpc>
                <a:spcPct val="125000"/>
              </a:lnSpc>
              <a:spcBef>
                <a:spcPts val="600"/>
              </a:spcBef>
              <a:spcAft>
                <a:spcPts val="600"/>
              </a:spcAft>
            </a:pPr>
            <a:r>
              <a:rPr lang="en-US" dirty="0"/>
              <a:t>During this phase, you create an Automation strategy &amp; plan, which contains the following </a:t>
            </a:r>
            <a:r>
              <a:rPr lang="en-US" dirty="0" smtClean="0"/>
              <a:t>details:</a:t>
            </a:r>
            <a:endParaRPr lang="en-US" dirty="0"/>
          </a:p>
          <a:p>
            <a:pPr algn="just">
              <a:lnSpc>
                <a:spcPct val="125000"/>
              </a:lnSpc>
              <a:spcBef>
                <a:spcPts val="600"/>
              </a:spcBef>
              <a:spcAft>
                <a:spcPts val="600"/>
              </a:spcAft>
            </a:pPr>
            <a:r>
              <a:rPr lang="en-US" dirty="0" smtClean="0"/>
              <a:t>- Automation </a:t>
            </a:r>
            <a:r>
              <a:rPr lang="en-US" dirty="0"/>
              <a:t>tools selected</a:t>
            </a:r>
          </a:p>
          <a:p>
            <a:pPr algn="just">
              <a:lnSpc>
                <a:spcPct val="125000"/>
              </a:lnSpc>
              <a:spcBef>
                <a:spcPts val="600"/>
              </a:spcBef>
              <a:spcAft>
                <a:spcPts val="600"/>
              </a:spcAft>
            </a:pPr>
            <a:r>
              <a:rPr lang="en-US" dirty="0" smtClean="0"/>
              <a:t>- Framework </a:t>
            </a:r>
            <a:r>
              <a:rPr lang="en-US" dirty="0"/>
              <a:t>design and its features</a:t>
            </a:r>
          </a:p>
          <a:p>
            <a:pPr algn="just">
              <a:lnSpc>
                <a:spcPct val="125000"/>
              </a:lnSpc>
              <a:spcBef>
                <a:spcPts val="600"/>
              </a:spcBef>
              <a:spcAft>
                <a:spcPts val="600"/>
              </a:spcAft>
            </a:pPr>
            <a:r>
              <a:rPr lang="en-US" dirty="0" smtClean="0"/>
              <a:t>- In-Scope </a:t>
            </a:r>
            <a:r>
              <a:rPr lang="en-US" dirty="0"/>
              <a:t>and Out-of-scope items of automation</a:t>
            </a:r>
          </a:p>
          <a:p>
            <a:pPr algn="just">
              <a:lnSpc>
                <a:spcPct val="125000"/>
              </a:lnSpc>
              <a:spcBef>
                <a:spcPts val="600"/>
              </a:spcBef>
              <a:spcAft>
                <a:spcPts val="600"/>
              </a:spcAft>
            </a:pPr>
            <a:r>
              <a:rPr lang="en-US" dirty="0" smtClean="0"/>
              <a:t>- Automation </a:t>
            </a:r>
            <a:r>
              <a:rPr lang="en-US" dirty="0"/>
              <a:t>testbed preparation</a:t>
            </a:r>
          </a:p>
          <a:p>
            <a:pPr algn="just">
              <a:lnSpc>
                <a:spcPct val="125000"/>
              </a:lnSpc>
              <a:spcBef>
                <a:spcPts val="600"/>
              </a:spcBef>
              <a:spcAft>
                <a:spcPts val="600"/>
              </a:spcAft>
            </a:pPr>
            <a:r>
              <a:rPr lang="en-US" dirty="0" smtClean="0"/>
              <a:t>- Schedule </a:t>
            </a:r>
            <a:r>
              <a:rPr lang="en-US" dirty="0"/>
              <a:t>and Timeline of scripting and execution</a:t>
            </a:r>
          </a:p>
          <a:p>
            <a:pPr algn="just">
              <a:lnSpc>
                <a:spcPct val="125000"/>
              </a:lnSpc>
              <a:spcBef>
                <a:spcPts val="600"/>
              </a:spcBef>
              <a:spcAft>
                <a:spcPts val="600"/>
              </a:spcAft>
            </a:pPr>
            <a:r>
              <a:rPr lang="en-US" dirty="0" smtClean="0"/>
              <a:t>- Deliverables </a:t>
            </a:r>
            <a:r>
              <a:rPr lang="en-US" dirty="0"/>
              <a:t>of Automation Testing</a:t>
            </a:r>
          </a:p>
          <a:p>
            <a:endParaRPr lang="en-US" b="1" dirty="0"/>
          </a:p>
        </p:txBody>
      </p:sp>
    </p:spTree>
    <p:extLst>
      <p:ext uri="{BB962C8B-B14F-4D97-AF65-F5344CB8AC3E}">
        <p14:creationId xmlns:p14="http://schemas.microsoft.com/office/powerpoint/2010/main" val="437720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716950"/>
          </a:xfrm>
          <a:prstGeom prst="rect">
            <a:avLst/>
          </a:prstGeom>
          <a:noFill/>
        </p:spPr>
        <p:txBody>
          <a:bodyPr wrap="square" rtlCol="0">
            <a:spAutoFit/>
          </a:bodyPr>
          <a:lstStyle/>
          <a:p>
            <a:pPr algn="just">
              <a:lnSpc>
                <a:spcPct val="125000"/>
              </a:lnSpc>
              <a:spcBef>
                <a:spcPts val="600"/>
              </a:spcBef>
              <a:spcAft>
                <a:spcPts val="600"/>
              </a:spcAft>
            </a:pPr>
            <a:r>
              <a:rPr lang="en-US" b="1" dirty="0" smtClean="0"/>
              <a:t>Step 4: Test </a:t>
            </a:r>
            <a:r>
              <a:rPr lang="en-US" b="1" dirty="0"/>
              <a:t>Execution</a:t>
            </a:r>
          </a:p>
          <a:p>
            <a:pPr algn="just">
              <a:lnSpc>
                <a:spcPct val="125000"/>
              </a:lnSpc>
              <a:spcBef>
                <a:spcPts val="600"/>
              </a:spcBef>
              <a:spcAft>
                <a:spcPts val="600"/>
              </a:spcAft>
            </a:pPr>
            <a:r>
              <a:rPr lang="en-US" dirty="0"/>
              <a:t>Automation Scripts are executed during this phase. The scripts need input test data before there are set to run. Once executed they provide detailed test reports.</a:t>
            </a:r>
          </a:p>
          <a:p>
            <a:pPr algn="just">
              <a:lnSpc>
                <a:spcPct val="125000"/>
              </a:lnSpc>
              <a:spcBef>
                <a:spcPts val="600"/>
              </a:spcBef>
              <a:spcAft>
                <a:spcPts val="600"/>
              </a:spcAft>
            </a:pPr>
            <a:r>
              <a:rPr lang="en-US" dirty="0"/>
              <a:t>Execution can be performed using the automation tool directly or through the Test Management tool which will invoke the automation tool.</a:t>
            </a:r>
          </a:p>
          <a:p>
            <a:pPr algn="just">
              <a:lnSpc>
                <a:spcPct val="125000"/>
              </a:lnSpc>
              <a:spcBef>
                <a:spcPts val="600"/>
              </a:spcBef>
              <a:spcAft>
                <a:spcPts val="600"/>
              </a:spcAft>
            </a:pPr>
            <a:r>
              <a:rPr lang="en-US" dirty="0"/>
              <a:t>Example: Quality center is the Test Management tool which in turn it will invoke QTP for execution of automation scripts. Scripts can be executed in a single machine or a group of machines. The execution can be done during the night, to save time.</a:t>
            </a:r>
          </a:p>
          <a:p>
            <a:pPr algn="just">
              <a:lnSpc>
                <a:spcPct val="125000"/>
              </a:lnSpc>
              <a:spcBef>
                <a:spcPts val="600"/>
              </a:spcBef>
              <a:spcAft>
                <a:spcPts val="600"/>
              </a:spcAft>
            </a:pPr>
            <a:r>
              <a:rPr lang="en-US" b="1" dirty="0" smtClean="0"/>
              <a:t>Step 5: Test </a:t>
            </a:r>
            <a:r>
              <a:rPr lang="en-US" b="1" dirty="0"/>
              <a:t>Automation Maintenance Approach</a:t>
            </a:r>
          </a:p>
          <a:p>
            <a:pPr algn="just">
              <a:lnSpc>
                <a:spcPct val="125000"/>
              </a:lnSpc>
              <a:spcBef>
                <a:spcPts val="600"/>
              </a:spcBef>
              <a:spcAft>
                <a:spcPts val="600"/>
              </a:spcAft>
            </a:pPr>
            <a:r>
              <a:rPr lang="en-US" b="1" dirty="0"/>
              <a:t>Test Automation Maintenance Approach</a:t>
            </a:r>
            <a:r>
              <a:rPr lang="en-US" dirty="0"/>
              <a:t> is an automation testing phase carried out to test whether the new functionalities added to the software are working fine or not. Maintenance in automation testing is executed when new automation scripts are added and need to be reviewed and maintained in order to improve the effectiveness of automation scripts with each successive release cycle.</a:t>
            </a:r>
          </a:p>
          <a:p>
            <a:endParaRPr lang="en-US" b="1" dirty="0"/>
          </a:p>
        </p:txBody>
      </p:sp>
    </p:spTree>
    <p:extLst>
      <p:ext uri="{BB962C8B-B14F-4D97-AF65-F5344CB8AC3E}">
        <p14:creationId xmlns:p14="http://schemas.microsoft.com/office/powerpoint/2010/main" val="2240559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7</a:t>
            </a:r>
            <a:r>
              <a:rPr lang="en-US" sz="3600" dirty="0" smtClean="0"/>
              <a:t>. Automation Testing – P6</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170372"/>
          </a:xfrm>
          <a:prstGeom prst="rect">
            <a:avLst/>
          </a:prstGeom>
          <a:noFill/>
        </p:spPr>
        <p:txBody>
          <a:bodyPr wrap="square" rtlCol="0">
            <a:spAutoFit/>
          </a:bodyPr>
          <a:lstStyle/>
          <a:p>
            <a:pPr algn="just">
              <a:spcBef>
                <a:spcPts val="600"/>
              </a:spcBef>
              <a:spcAft>
                <a:spcPts val="600"/>
              </a:spcAft>
            </a:pPr>
            <a:r>
              <a:rPr lang="en-US" b="1" dirty="0"/>
              <a:t>Types of Automated </a:t>
            </a:r>
            <a:r>
              <a:rPr lang="en-US" b="1" dirty="0" smtClean="0"/>
              <a:t>Testing:</a:t>
            </a:r>
            <a:endParaRPr lang="en-US" b="1" dirty="0"/>
          </a:p>
          <a:p>
            <a:pPr algn="just">
              <a:spcBef>
                <a:spcPts val="600"/>
              </a:spcBef>
              <a:spcAft>
                <a:spcPts val="600"/>
              </a:spcAft>
            </a:pPr>
            <a:r>
              <a:rPr lang="en-US" dirty="0" smtClean="0"/>
              <a:t>- Smoke </a:t>
            </a:r>
            <a:r>
              <a:rPr lang="en-US" dirty="0"/>
              <a:t>Testing</a:t>
            </a:r>
          </a:p>
          <a:p>
            <a:pPr algn="just">
              <a:spcBef>
                <a:spcPts val="600"/>
              </a:spcBef>
              <a:spcAft>
                <a:spcPts val="600"/>
              </a:spcAft>
            </a:pPr>
            <a:r>
              <a:rPr lang="en-US" dirty="0" smtClean="0"/>
              <a:t>- Unit </a:t>
            </a:r>
            <a:r>
              <a:rPr lang="en-US" dirty="0"/>
              <a:t>Testing</a:t>
            </a:r>
          </a:p>
          <a:p>
            <a:pPr algn="just">
              <a:spcBef>
                <a:spcPts val="600"/>
              </a:spcBef>
              <a:spcAft>
                <a:spcPts val="600"/>
              </a:spcAft>
            </a:pPr>
            <a:r>
              <a:rPr lang="en-US" dirty="0" smtClean="0"/>
              <a:t>- Integration </a:t>
            </a:r>
            <a:r>
              <a:rPr lang="en-US" dirty="0"/>
              <a:t>Testing</a:t>
            </a:r>
          </a:p>
          <a:p>
            <a:pPr algn="just">
              <a:spcBef>
                <a:spcPts val="600"/>
              </a:spcBef>
              <a:spcAft>
                <a:spcPts val="600"/>
              </a:spcAft>
            </a:pPr>
            <a:r>
              <a:rPr lang="en-US" dirty="0" smtClean="0"/>
              <a:t>- Functional </a:t>
            </a:r>
            <a:r>
              <a:rPr lang="en-US" dirty="0"/>
              <a:t>Testing</a:t>
            </a:r>
          </a:p>
          <a:p>
            <a:pPr algn="just">
              <a:spcBef>
                <a:spcPts val="600"/>
              </a:spcBef>
              <a:spcAft>
                <a:spcPts val="600"/>
              </a:spcAft>
            </a:pPr>
            <a:r>
              <a:rPr lang="en-US" dirty="0" smtClean="0"/>
              <a:t>- Keyword </a:t>
            </a:r>
            <a:r>
              <a:rPr lang="en-US" dirty="0"/>
              <a:t>Testing</a:t>
            </a:r>
          </a:p>
          <a:p>
            <a:pPr algn="just">
              <a:spcBef>
                <a:spcPts val="600"/>
              </a:spcBef>
              <a:spcAft>
                <a:spcPts val="600"/>
              </a:spcAft>
            </a:pPr>
            <a:r>
              <a:rPr lang="en-US" dirty="0" smtClean="0"/>
              <a:t>- Regression </a:t>
            </a:r>
            <a:r>
              <a:rPr lang="en-US" dirty="0"/>
              <a:t>Testing</a:t>
            </a:r>
          </a:p>
          <a:p>
            <a:pPr algn="just">
              <a:spcBef>
                <a:spcPts val="600"/>
              </a:spcBef>
              <a:spcAft>
                <a:spcPts val="600"/>
              </a:spcAft>
            </a:pPr>
            <a:r>
              <a:rPr lang="en-US" dirty="0" smtClean="0"/>
              <a:t>- Data </a:t>
            </a:r>
            <a:r>
              <a:rPr lang="en-US" dirty="0"/>
              <a:t>Driven Testing</a:t>
            </a:r>
          </a:p>
          <a:p>
            <a:pPr algn="just">
              <a:spcBef>
                <a:spcPts val="600"/>
              </a:spcBef>
              <a:spcAft>
                <a:spcPts val="600"/>
              </a:spcAft>
            </a:pPr>
            <a:r>
              <a:rPr lang="en-US" dirty="0" smtClean="0"/>
              <a:t>- Black </a:t>
            </a:r>
            <a:r>
              <a:rPr lang="en-US" dirty="0"/>
              <a:t>Box Testing</a:t>
            </a:r>
          </a:p>
          <a:p>
            <a:endParaRPr lang="en-US" b="1" dirty="0"/>
          </a:p>
        </p:txBody>
      </p:sp>
    </p:spTree>
    <p:extLst>
      <p:ext uri="{BB962C8B-B14F-4D97-AF65-F5344CB8AC3E}">
        <p14:creationId xmlns:p14="http://schemas.microsoft.com/office/powerpoint/2010/main" val="3019167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8. Black Box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2169825"/>
          </a:xfrm>
          <a:prstGeom prst="rect">
            <a:avLst/>
          </a:prstGeom>
          <a:noFill/>
        </p:spPr>
        <p:txBody>
          <a:bodyPr wrap="square" rtlCol="0">
            <a:spAutoFit/>
          </a:bodyPr>
          <a:lstStyle/>
          <a:p>
            <a:pPr algn="just">
              <a:lnSpc>
                <a:spcPct val="125000"/>
              </a:lnSpc>
            </a:pPr>
            <a:r>
              <a:rPr lang="en-US" b="1" dirty="0" smtClean="0"/>
              <a:t>	Black </a:t>
            </a:r>
            <a:r>
              <a:rPr lang="en-US" b="1" dirty="0"/>
              <a:t>Box Testing</a:t>
            </a:r>
            <a:r>
              <a:rPr lang="en-US" dirty="0"/>
              <a:t> is a software testing method in which the functionalities of software applications are tested without having knowledge of internal code structure, implementation details and internal paths. Black Box Testing mainly focuses on input and output of software applications and it is entirely based on software requirements and specifications. It is also known as Behavioral Testing</a:t>
            </a:r>
            <a:r>
              <a:rPr lang="en-US" dirty="0" smtClean="0"/>
              <a:t>.</a:t>
            </a:r>
          </a:p>
          <a:p>
            <a:pPr algn="just">
              <a:lnSpc>
                <a:spcPct val="125000"/>
              </a:lnSpc>
            </a:pPr>
            <a:endParaRPr lang="en-US" b="1" dirty="0"/>
          </a:p>
          <a:p>
            <a:pPr algn="just">
              <a:lnSpc>
                <a:spcPct val="125000"/>
              </a:lnSpc>
            </a:pPr>
            <a:endParaRPr lang="en-US" b="1" dirty="0"/>
          </a:p>
        </p:txBody>
      </p:sp>
      <p:pic>
        <p:nvPicPr>
          <p:cNvPr id="2" name="Picture 1"/>
          <p:cNvPicPr>
            <a:picLocks noChangeAspect="1"/>
          </p:cNvPicPr>
          <p:nvPr/>
        </p:nvPicPr>
        <p:blipFill>
          <a:blip r:embed="rId3"/>
          <a:stretch>
            <a:fillRect/>
          </a:stretch>
        </p:blipFill>
        <p:spPr>
          <a:xfrm>
            <a:off x="3834059" y="3129055"/>
            <a:ext cx="4515480" cy="971686"/>
          </a:xfrm>
          <a:prstGeom prst="rect">
            <a:avLst/>
          </a:prstGeom>
        </p:spPr>
      </p:pic>
    </p:spTree>
    <p:extLst>
      <p:ext uri="{BB962C8B-B14F-4D97-AF65-F5344CB8AC3E}">
        <p14:creationId xmlns:p14="http://schemas.microsoft.com/office/powerpoint/2010/main" val="33082392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8. Black Box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555367"/>
          </a:xfrm>
          <a:prstGeom prst="rect">
            <a:avLst/>
          </a:prstGeom>
          <a:noFill/>
        </p:spPr>
        <p:txBody>
          <a:bodyPr wrap="square" rtlCol="0">
            <a:spAutoFit/>
          </a:bodyPr>
          <a:lstStyle/>
          <a:p>
            <a:pPr algn="just">
              <a:lnSpc>
                <a:spcPct val="125000"/>
              </a:lnSpc>
              <a:spcBef>
                <a:spcPts val="600"/>
              </a:spcBef>
              <a:spcAft>
                <a:spcPts val="600"/>
              </a:spcAft>
            </a:pPr>
            <a:r>
              <a:rPr lang="en-US" b="1" dirty="0"/>
              <a:t>How to do </a:t>
            </a:r>
            <a:r>
              <a:rPr lang="en-US" b="1" dirty="0" smtClean="0"/>
              <a:t>Black Box Testing</a:t>
            </a:r>
            <a:endParaRPr lang="en-US" b="1" dirty="0"/>
          </a:p>
          <a:p>
            <a:pPr algn="just">
              <a:lnSpc>
                <a:spcPct val="125000"/>
              </a:lnSpc>
              <a:spcBef>
                <a:spcPts val="600"/>
              </a:spcBef>
              <a:spcAft>
                <a:spcPts val="600"/>
              </a:spcAft>
            </a:pPr>
            <a:r>
              <a:rPr lang="en-US" dirty="0"/>
              <a:t>Here are the generic steps followed to carry out any type of Black Box </a:t>
            </a:r>
            <a:r>
              <a:rPr lang="en-US" dirty="0" smtClean="0"/>
              <a:t>Testing:</a:t>
            </a:r>
            <a:endParaRPr lang="en-US" dirty="0"/>
          </a:p>
          <a:p>
            <a:pPr algn="just">
              <a:lnSpc>
                <a:spcPct val="125000"/>
              </a:lnSpc>
              <a:spcBef>
                <a:spcPts val="600"/>
              </a:spcBef>
              <a:spcAft>
                <a:spcPts val="600"/>
              </a:spcAft>
            </a:pPr>
            <a:r>
              <a:rPr lang="en-US" dirty="0" smtClean="0"/>
              <a:t>1. Initially</a:t>
            </a:r>
            <a:r>
              <a:rPr lang="en-US" dirty="0"/>
              <a:t>, the requirements and specifications of the system are examined.</a:t>
            </a:r>
          </a:p>
          <a:p>
            <a:pPr algn="just">
              <a:lnSpc>
                <a:spcPct val="125000"/>
              </a:lnSpc>
              <a:spcBef>
                <a:spcPts val="600"/>
              </a:spcBef>
              <a:spcAft>
                <a:spcPts val="600"/>
              </a:spcAft>
            </a:pPr>
            <a:r>
              <a:rPr lang="en-US" dirty="0" smtClean="0"/>
              <a:t>2. Tester </a:t>
            </a:r>
            <a:r>
              <a:rPr lang="en-US" dirty="0"/>
              <a:t>chooses valid inputs (positive test scenario) to check whether SUT processes them correctly. Also, some invalid inputs (negative test scenario) are chosen to verify that the SUT is able to detect them.</a:t>
            </a:r>
          </a:p>
          <a:p>
            <a:pPr algn="just">
              <a:lnSpc>
                <a:spcPct val="125000"/>
              </a:lnSpc>
              <a:spcBef>
                <a:spcPts val="600"/>
              </a:spcBef>
              <a:spcAft>
                <a:spcPts val="600"/>
              </a:spcAft>
            </a:pPr>
            <a:r>
              <a:rPr lang="en-US" dirty="0" smtClean="0"/>
              <a:t>3. Tester </a:t>
            </a:r>
            <a:r>
              <a:rPr lang="en-US" dirty="0"/>
              <a:t>determines expected outputs for all those inputs.</a:t>
            </a:r>
          </a:p>
          <a:p>
            <a:pPr algn="just">
              <a:lnSpc>
                <a:spcPct val="125000"/>
              </a:lnSpc>
              <a:spcBef>
                <a:spcPts val="600"/>
              </a:spcBef>
              <a:spcAft>
                <a:spcPts val="600"/>
              </a:spcAft>
            </a:pPr>
            <a:r>
              <a:rPr lang="en-US" dirty="0" smtClean="0"/>
              <a:t>4. Software </a:t>
            </a:r>
            <a:r>
              <a:rPr lang="en-US" dirty="0"/>
              <a:t>tester constructs test cases with the selected inputs.</a:t>
            </a:r>
          </a:p>
          <a:p>
            <a:pPr algn="just">
              <a:lnSpc>
                <a:spcPct val="125000"/>
              </a:lnSpc>
              <a:spcBef>
                <a:spcPts val="600"/>
              </a:spcBef>
              <a:spcAft>
                <a:spcPts val="600"/>
              </a:spcAft>
            </a:pPr>
            <a:r>
              <a:rPr lang="en-US" dirty="0" smtClean="0"/>
              <a:t>5. The </a:t>
            </a:r>
            <a:r>
              <a:rPr lang="en-US" dirty="0"/>
              <a:t>test cases are executed.</a:t>
            </a:r>
          </a:p>
          <a:p>
            <a:pPr algn="just">
              <a:lnSpc>
                <a:spcPct val="125000"/>
              </a:lnSpc>
              <a:spcBef>
                <a:spcPts val="600"/>
              </a:spcBef>
              <a:spcAft>
                <a:spcPts val="600"/>
              </a:spcAft>
            </a:pPr>
            <a:r>
              <a:rPr lang="en-US" dirty="0" smtClean="0"/>
              <a:t>6. Software </a:t>
            </a:r>
            <a:r>
              <a:rPr lang="en-US" dirty="0"/>
              <a:t>tester compares the actual outputs with the expected outputs.</a:t>
            </a:r>
          </a:p>
          <a:p>
            <a:pPr algn="just">
              <a:lnSpc>
                <a:spcPct val="125000"/>
              </a:lnSpc>
              <a:spcBef>
                <a:spcPts val="600"/>
              </a:spcBef>
              <a:spcAft>
                <a:spcPts val="600"/>
              </a:spcAft>
            </a:pPr>
            <a:r>
              <a:rPr lang="en-US" dirty="0" smtClean="0"/>
              <a:t>7. Defects </a:t>
            </a:r>
            <a:r>
              <a:rPr lang="en-US" dirty="0"/>
              <a:t>if any are fixed and re-tested.</a:t>
            </a:r>
          </a:p>
          <a:p>
            <a:pPr algn="just">
              <a:lnSpc>
                <a:spcPct val="125000"/>
              </a:lnSpc>
            </a:pPr>
            <a:endParaRPr lang="en-US" b="1" dirty="0"/>
          </a:p>
          <a:p>
            <a:pPr algn="just">
              <a:lnSpc>
                <a:spcPct val="125000"/>
              </a:lnSpc>
            </a:pPr>
            <a:endParaRPr lang="en-US" b="1" dirty="0"/>
          </a:p>
        </p:txBody>
      </p:sp>
    </p:spTree>
    <p:extLst>
      <p:ext uri="{BB962C8B-B14F-4D97-AF65-F5344CB8AC3E}">
        <p14:creationId xmlns:p14="http://schemas.microsoft.com/office/powerpoint/2010/main" val="3906691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8. Black Box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247317"/>
          </a:xfrm>
          <a:prstGeom prst="rect">
            <a:avLst/>
          </a:prstGeom>
          <a:noFill/>
        </p:spPr>
        <p:txBody>
          <a:bodyPr wrap="square" rtlCol="0">
            <a:spAutoFit/>
          </a:bodyPr>
          <a:lstStyle/>
          <a:p>
            <a:pPr algn="just">
              <a:lnSpc>
                <a:spcPct val="125000"/>
              </a:lnSpc>
              <a:spcBef>
                <a:spcPts val="600"/>
              </a:spcBef>
              <a:spcAft>
                <a:spcPts val="600"/>
              </a:spcAft>
            </a:pPr>
            <a:r>
              <a:rPr lang="en-US" b="1" dirty="0"/>
              <a:t>Types of Black Box Testing</a:t>
            </a:r>
          </a:p>
          <a:p>
            <a:pPr algn="just">
              <a:lnSpc>
                <a:spcPct val="125000"/>
              </a:lnSpc>
              <a:spcBef>
                <a:spcPts val="600"/>
              </a:spcBef>
              <a:spcAft>
                <a:spcPts val="600"/>
              </a:spcAft>
            </a:pPr>
            <a:r>
              <a:rPr lang="en-US" dirty="0"/>
              <a:t>There are many types of Black Box Testing but the following are the prominent ones -</a:t>
            </a:r>
          </a:p>
          <a:p>
            <a:pPr algn="just">
              <a:lnSpc>
                <a:spcPct val="125000"/>
              </a:lnSpc>
              <a:spcBef>
                <a:spcPts val="600"/>
              </a:spcBef>
              <a:spcAft>
                <a:spcPts val="600"/>
              </a:spcAft>
            </a:pPr>
            <a:r>
              <a:rPr lang="en-US" b="1" dirty="0" smtClean="0"/>
              <a:t>- Functional </a:t>
            </a:r>
            <a:r>
              <a:rPr lang="en-US" b="1" dirty="0"/>
              <a:t>testing</a:t>
            </a:r>
            <a:r>
              <a:rPr lang="en-US" dirty="0"/>
              <a:t> - This black box testing type is related to the functional requirements of a system; it is done by software testers.</a:t>
            </a:r>
          </a:p>
          <a:p>
            <a:pPr algn="just">
              <a:lnSpc>
                <a:spcPct val="125000"/>
              </a:lnSpc>
              <a:spcBef>
                <a:spcPts val="600"/>
              </a:spcBef>
              <a:spcAft>
                <a:spcPts val="600"/>
              </a:spcAft>
            </a:pPr>
            <a:r>
              <a:rPr lang="en-US" b="1" dirty="0" smtClean="0"/>
              <a:t>- Non-functional </a:t>
            </a:r>
            <a:r>
              <a:rPr lang="en-US" b="1" dirty="0"/>
              <a:t>testing </a:t>
            </a:r>
            <a:r>
              <a:rPr lang="en-US" dirty="0"/>
              <a:t>- This type of black box testing is not related to testing of specific functionality, but non-functional requirements such as performance, scalability, usability.</a:t>
            </a:r>
          </a:p>
          <a:p>
            <a:pPr algn="just">
              <a:lnSpc>
                <a:spcPct val="125000"/>
              </a:lnSpc>
              <a:spcBef>
                <a:spcPts val="600"/>
              </a:spcBef>
              <a:spcAft>
                <a:spcPts val="600"/>
              </a:spcAft>
            </a:pPr>
            <a:r>
              <a:rPr lang="en-US" b="1" dirty="0" smtClean="0"/>
              <a:t>- Regression </a:t>
            </a:r>
            <a:r>
              <a:rPr lang="en-US" b="1" dirty="0"/>
              <a:t>testing </a:t>
            </a:r>
            <a:r>
              <a:rPr lang="en-US" dirty="0"/>
              <a:t>- Regression Testing is done after code fixes, upgrades or any other system maintenance to check the new code has not affected the existing code.</a:t>
            </a:r>
          </a:p>
          <a:p>
            <a:pPr algn="just">
              <a:lnSpc>
                <a:spcPct val="125000"/>
              </a:lnSpc>
            </a:pPr>
            <a:endParaRPr lang="en-US" b="1" dirty="0"/>
          </a:p>
          <a:p>
            <a:pPr algn="just">
              <a:lnSpc>
                <a:spcPct val="125000"/>
              </a:lnSpc>
            </a:pPr>
            <a:endParaRPr lang="en-US" b="1" dirty="0"/>
          </a:p>
        </p:txBody>
      </p:sp>
    </p:spTree>
    <p:extLst>
      <p:ext uri="{BB962C8B-B14F-4D97-AF65-F5344CB8AC3E}">
        <p14:creationId xmlns:p14="http://schemas.microsoft.com/office/powerpoint/2010/main" val="3121876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8. Black Box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439677"/>
          </a:xfrm>
          <a:prstGeom prst="rect">
            <a:avLst/>
          </a:prstGeom>
          <a:noFill/>
        </p:spPr>
        <p:txBody>
          <a:bodyPr wrap="square" rtlCol="0">
            <a:spAutoFit/>
          </a:bodyPr>
          <a:lstStyle/>
          <a:p>
            <a:pPr algn="just">
              <a:lnSpc>
                <a:spcPct val="125000"/>
              </a:lnSpc>
              <a:spcBef>
                <a:spcPts val="600"/>
              </a:spcBef>
              <a:spcAft>
                <a:spcPts val="600"/>
              </a:spcAft>
            </a:pPr>
            <a:r>
              <a:rPr lang="en-US" dirty="0"/>
              <a:t>Following are the prominent Test Strategy amongst the many used in Black box </a:t>
            </a:r>
            <a:r>
              <a:rPr lang="en-US" dirty="0" smtClean="0"/>
              <a:t>Testing:</a:t>
            </a:r>
            <a:endParaRPr lang="en-US" dirty="0"/>
          </a:p>
          <a:p>
            <a:pPr algn="just">
              <a:lnSpc>
                <a:spcPct val="125000"/>
              </a:lnSpc>
              <a:spcBef>
                <a:spcPts val="600"/>
              </a:spcBef>
              <a:spcAft>
                <a:spcPts val="600"/>
              </a:spcAft>
            </a:pPr>
            <a:r>
              <a:rPr lang="en-US" b="1" dirty="0" smtClean="0"/>
              <a:t>- Equivalence </a:t>
            </a:r>
            <a:r>
              <a:rPr lang="en-US" b="1" dirty="0"/>
              <a:t>Class Testing:</a:t>
            </a:r>
            <a:r>
              <a:rPr lang="en-US" dirty="0"/>
              <a:t> It is used to minimize the number of possible test cases to an optimum level while maintains reasonable test coverage.</a:t>
            </a:r>
          </a:p>
          <a:p>
            <a:pPr algn="just">
              <a:lnSpc>
                <a:spcPct val="125000"/>
              </a:lnSpc>
              <a:spcBef>
                <a:spcPts val="600"/>
              </a:spcBef>
              <a:spcAft>
                <a:spcPts val="600"/>
              </a:spcAft>
            </a:pPr>
            <a:r>
              <a:rPr lang="en-US" b="1" dirty="0" smtClean="0"/>
              <a:t>- Boundary </a:t>
            </a:r>
            <a:r>
              <a:rPr lang="en-US" b="1" dirty="0"/>
              <a:t>Value Testing:</a:t>
            </a:r>
            <a:r>
              <a:rPr lang="en-US" dirty="0"/>
              <a:t> Boundary value testing is focused on the values at boundaries. This technique determines whether a certain range of values are acceptable by the system or not. It is very useful in reducing the number of test cases. It is most suitable for the systems where an input is within certain ranges.</a:t>
            </a:r>
          </a:p>
          <a:p>
            <a:pPr algn="just">
              <a:lnSpc>
                <a:spcPct val="125000"/>
              </a:lnSpc>
              <a:spcBef>
                <a:spcPts val="600"/>
              </a:spcBef>
              <a:spcAft>
                <a:spcPts val="600"/>
              </a:spcAft>
            </a:pPr>
            <a:r>
              <a:rPr lang="en-US" b="1" dirty="0" smtClean="0"/>
              <a:t>- Decision </a:t>
            </a:r>
            <a:r>
              <a:rPr lang="en-US" b="1" dirty="0"/>
              <a:t>Table Testing</a:t>
            </a:r>
            <a:r>
              <a:rPr lang="en-US" dirty="0"/>
              <a:t>: A decision table puts causes and their effects in a matrix. There is a unique combination in each column.</a:t>
            </a:r>
          </a:p>
          <a:p>
            <a:pPr algn="just">
              <a:lnSpc>
                <a:spcPct val="125000"/>
              </a:lnSpc>
            </a:pPr>
            <a:endParaRPr lang="en-US" b="1" dirty="0"/>
          </a:p>
          <a:p>
            <a:pPr algn="just">
              <a:lnSpc>
                <a:spcPct val="125000"/>
              </a:lnSpc>
            </a:pPr>
            <a:endParaRPr lang="en-US" b="1" dirty="0"/>
          </a:p>
        </p:txBody>
      </p:sp>
    </p:spTree>
    <p:extLst>
      <p:ext uri="{BB962C8B-B14F-4D97-AF65-F5344CB8AC3E}">
        <p14:creationId xmlns:p14="http://schemas.microsoft.com/office/powerpoint/2010/main" val="3956959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8. Black Box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247317"/>
          </a:xfrm>
          <a:prstGeom prst="rect">
            <a:avLst/>
          </a:prstGeom>
          <a:noFill/>
        </p:spPr>
        <p:txBody>
          <a:bodyPr wrap="square" rtlCol="0">
            <a:spAutoFit/>
          </a:bodyPr>
          <a:lstStyle/>
          <a:p>
            <a:pPr algn="just">
              <a:lnSpc>
                <a:spcPct val="125000"/>
              </a:lnSpc>
              <a:spcBef>
                <a:spcPts val="600"/>
              </a:spcBef>
              <a:spcAft>
                <a:spcPts val="600"/>
              </a:spcAft>
            </a:pPr>
            <a:r>
              <a:rPr lang="en-US" dirty="0"/>
              <a:t>Black box testing has its own life cycle called Software Testing Life Cycle (STLC) and it is relative to every stage of Software Development Life Cycle of Software </a:t>
            </a:r>
            <a:r>
              <a:rPr lang="en-US" dirty="0" smtClean="0"/>
              <a:t>Engineering:</a:t>
            </a:r>
            <a:endParaRPr lang="en-US" dirty="0"/>
          </a:p>
          <a:p>
            <a:pPr algn="just">
              <a:lnSpc>
                <a:spcPct val="125000"/>
              </a:lnSpc>
              <a:spcBef>
                <a:spcPts val="600"/>
              </a:spcBef>
              <a:spcAft>
                <a:spcPts val="600"/>
              </a:spcAft>
            </a:pPr>
            <a:r>
              <a:rPr lang="en-US" b="1" dirty="0" smtClean="0"/>
              <a:t>1. Requirement</a:t>
            </a:r>
            <a:r>
              <a:rPr lang="en-US" dirty="0"/>
              <a:t> - This is the initial stage of SDLC and in this stage, a requirement is gathered. Software testers also take part in this stage.</a:t>
            </a:r>
          </a:p>
          <a:p>
            <a:pPr algn="just">
              <a:lnSpc>
                <a:spcPct val="125000"/>
              </a:lnSpc>
              <a:spcBef>
                <a:spcPts val="600"/>
              </a:spcBef>
              <a:spcAft>
                <a:spcPts val="600"/>
              </a:spcAft>
            </a:pPr>
            <a:r>
              <a:rPr lang="en-US" b="1" dirty="0" smtClean="0"/>
              <a:t>2. Test </a:t>
            </a:r>
            <a:r>
              <a:rPr lang="en-US" b="1" dirty="0"/>
              <a:t>Planning &amp; Analysis</a:t>
            </a:r>
            <a:r>
              <a:rPr lang="en-US" dirty="0"/>
              <a:t> - Testing Types applicable to the project are determined. A Test </a:t>
            </a:r>
            <a:r>
              <a:rPr lang="en-US" dirty="0" smtClean="0"/>
              <a:t>Plan</a:t>
            </a:r>
            <a:r>
              <a:rPr lang="en-US" dirty="0"/>
              <a:t> is created which determines possible project risks and their mitigation.</a:t>
            </a:r>
          </a:p>
          <a:p>
            <a:pPr algn="just">
              <a:lnSpc>
                <a:spcPct val="125000"/>
              </a:lnSpc>
              <a:spcBef>
                <a:spcPts val="600"/>
              </a:spcBef>
              <a:spcAft>
                <a:spcPts val="600"/>
              </a:spcAft>
            </a:pPr>
            <a:r>
              <a:rPr lang="en-US" b="1" dirty="0" smtClean="0"/>
              <a:t>3. Design</a:t>
            </a:r>
            <a:r>
              <a:rPr lang="en-US" dirty="0"/>
              <a:t> - In this stage Test cases/scripts are created on the basis of software requirement documents</a:t>
            </a:r>
          </a:p>
          <a:p>
            <a:pPr algn="just">
              <a:lnSpc>
                <a:spcPct val="125000"/>
              </a:lnSpc>
              <a:spcBef>
                <a:spcPts val="600"/>
              </a:spcBef>
              <a:spcAft>
                <a:spcPts val="600"/>
              </a:spcAft>
            </a:pPr>
            <a:r>
              <a:rPr lang="en-US" b="1" dirty="0" smtClean="0"/>
              <a:t>4. Test </a:t>
            </a:r>
            <a:r>
              <a:rPr lang="en-US" b="1" dirty="0"/>
              <a:t>Execution</a:t>
            </a:r>
            <a:r>
              <a:rPr lang="en-US" dirty="0"/>
              <a:t>- In this stage Test Cases prepared are executed. Bugs if any are fixed and re-tested.</a:t>
            </a:r>
          </a:p>
          <a:p>
            <a:pPr algn="just">
              <a:lnSpc>
                <a:spcPct val="125000"/>
              </a:lnSpc>
            </a:pPr>
            <a:endParaRPr lang="en-US" b="1" dirty="0"/>
          </a:p>
          <a:p>
            <a:pPr algn="just">
              <a:lnSpc>
                <a:spcPct val="125000"/>
              </a:lnSpc>
            </a:pPr>
            <a:endParaRPr lang="en-US" b="1" dirty="0"/>
          </a:p>
        </p:txBody>
      </p:sp>
    </p:spTree>
    <p:extLst>
      <p:ext uri="{BB962C8B-B14F-4D97-AF65-F5344CB8AC3E}">
        <p14:creationId xmlns:p14="http://schemas.microsoft.com/office/powerpoint/2010/main" val="1327474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9</a:t>
            </a:r>
            <a:r>
              <a:rPr lang="en-US" sz="3600" dirty="0" smtClean="0"/>
              <a:t>. White Box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3016210"/>
          </a:xfrm>
          <a:prstGeom prst="rect">
            <a:avLst/>
          </a:prstGeom>
          <a:noFill/>
        </p:spPr>
        <p:txBody>
          <a:bodyPr wrap="square" rtlCol="0">
            <a:spAutoFit/>
          </a:bodyPr>
          <a:lstStyle/>
          <a:p>
            <a:pPr algn="just">
              <a:lnSpc>
                <a:spcPct val="125000"/>
              </a:lnSpc>
              <a:spcBef>
                <a:spcPts val="600"/>
              </a:spcBef>
              <a:spcAft>
                <a:spcPts val="600"/>
              </a:spcAft>
            </a:pPr>
            <a:r>
              <a:rPr lang="en-US" b="1" dirty="0" smtClean="0"/>
              <a:t>	White </a:t>
            </a:r>
            <a:r>
              <a:rPr lang="en-US" b="1" dirty="0"/>
              <a:t>Box Testing</a:t>
            </a:r>
            <a:r>
              <a:rPr lang="en-US" dirty="0"/>
              <a:t> is software testing technique in which internal structure, design and coding of software are tested to verify flow of input-output and to improve design, usability and security. In white box testing, code is visible to testers so it is also called Clear box testing, Open box testing, Transparent box testing, Code-based testing and Glass box testing.</a:t>
            </a:r>
            <a:endParaRPr lang="en-US" b="1" dirty="0"/>
          </a:p>
          <a:p>
            <a:pPr algn="just">
              <a:lnSpc>
                <a:spcPct val="125000"/>
              </a:lnSpc>
              <a:spcBef>
                <a:spcPts val="600"/>
              </a:spcBef>
              <a:spcAft>
                <a:spcPts val="600"/>
              </a:spcAft>
            </a:pPr>
            <a:r>
              <a:rPr lang="en-US" dirty="0" smtClean="0"/>
              <a:t>	The </a:t>
            </a:r>
            <a:r>
              <a:rPr lang="en-US" dirty="0"/>
              <a:t>term "</a:t>
            </a:r>
            <a:r>
              <a:rPr lang="en-US" dirty="0" smtClean="0"/>
              <a:t>White Box</a:t>
            </a:r>
            <a:r>
              <a:rPr lang="en-US" dirty="0"/>
              <a:t>" was used because of the see-through box concept. The clear box or </a:t>
            </a:r>
            <a:r>
              <a:rPr lang="en-US" dirty="0" smtClean="0"/>
              <a:t>White Box </a:t>
            </a:r>
            <a:r>
              <a:rPr lang="en-US" dirty="0"/>
              <a:t>name symbolizes the ability to see through the software's outer shell (or "box") into its inner workings. Likewise, the "black box" in "Black Box Testing" symbolizes not being able to see the inner workings of the software so that only the end-user experience can be tested.</a:t>
            </a:r>
            <a:endParaRPr lang="en-US" b="1" dirty="0"/>
          </a:p>
        </p:txBody>
      </p:sp>
    </p:spTree>
    <p:extLst>
      <p:ext uri="{BB962C8B-B14F-4D97-AF65-F5344CB8AC3E}">
        <p14:creationId xmlns:p14="http://schemas.microsoft.com/office/powerpoint/2010/main" val="4088946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9</a:t>
            </a:r>
            <a:r>
              <a:rPr lang="en-US" sz="3600" dirty="0" smtClean="0"/>
              <a:t>. White Box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262979"/>
          </a:xfrm>
          <a:prstGeom prst="rect">
            <a:avLst/>
          </a:prstGeom>
          <a:noFill/>
        </p:spPr>
        <p:txBody>
          <a:bodyPr wrap="square" rtlCol="0">
            <a:spAutoFit/>
          </a:bodyPr>
          <a:lstStyle/>
          <a:p>
            <a:r>
              <a:rPr lang="en-US" b="1" dirty="0"/>
              <a:t>How do you perform White Box </a:t>
            </a:r>
            <a:r>
              <a:rPr lang="en-US" b="1" dirty="0" smtClean="0"/>
              <a:t>Testing</a:t>
            </a:r>
            <a:endParaRPr lang="en-US" b="1" dirty="0"/>
          </a:p>
          <a:p>
            <a:pPr algn="just">
              <a:lnSpc>
                <a:spcPct val="125000"/>
              </a:lnSpc>
              <a:spcBef>
                <a:spcPts val="600"/>
              </a:spcBef>
              <a:spcAft>
                <a:spcPts val="600"/>
              </a:spcAft>
            </a:pPr>
            <a:r>
              <a:rPr lang="en-US" sz="1600" b="1" dirty="0" smtClean="0"/>
              <a:t>STEP 1: </a:t>
            </a:r>
            <a:r>
              <a:rPr lang="en-US" sz="1600" b="1" dirty="0"/>
              <a:t>UNDERSTAND THE SOURCE CODE</a:t>
            </a:r>
            <a:endParaRPr lang="en-US" sz="1600" dirty="0"/>
          </a:p>
          <a:p>
            <a:pPr algn="just">
              <a:lnSpc>
                <a:spcPct val="125000"/>
              </a:lnSpc>
              <a:spcBef>
                <a:spcPts val="600"/>
              </a:spcBef>
              <a:spcAft>
                <a:spcPts val="600"/>
              </a:spcAft>
            </a:pPr>
            <a:r>
              <a:rPr lang="en-US" sz="1600" dirty="0" smtClean="0"/>
              <a:t>	The </a:t>
            </a:r>
            <a:r>
              <a:rPr lang="en-US" sz="1600" dirty="0"/>
              <a:t>first thing a tester will often do is learn and understand the source code of the application. Since white box testing involves the testing of the inner workings of an application, the tester must be very knowledgeable in the programming languages used in the applications they are testing. Also, the testing person must be highly aware of secure coding practices. Security is often one of the primary objectives of testing software. The tester should be able to find security issues and prevent attacks from hackers and naive users who might inject malicious code into the application either knowingly or unknowingly.</a:t>
            </a:r>
          </a:p>
          <a:p>
            <a:pPr algn="just">
              <a:lnSpc>
                <a:spcPct val="125000"/>
              </a:lnSpc>
              <a:spcBef>
                <a:spcPts val="600"/>
              </a:spcBef>
              <a:spcAft>
                <a:spcPts val="600"/>
              </a:spcAft>
            </a:pPr>
            <a:r>
              <a:rPr lang="en-US" sz="1600" b="1" dirty="0"/>
              <a:t>Step </a:t>
            </a:r>
            <a:r>
              <a:rPr lang="en-US" sz="1600" b="1" dirty="0" smtClean="0"/>
              <a:t>2: </a:t>
            </a:r>
            <a:r>
              <a:rPr lang="en-US" sz="1600" b="1" dirty="0"/>
              <a:t>CREATE TEST CASES AND EXECUTE</a:t>
            </a:r>
            <a:endParaRPr lang="en-US" sz="1600" dirty="0"/>
          </a:p>
          <a:p>
            <a:pPr algn="just">
              <a:lnSpc>
                <a:spcPct val="125000"/>
              </a:lnSpc>
              <a:spcBef>
                <a:spcPts val="600"/>
              </a:spcBef>
              <a:spcAft>
                <a:spcPts val="600"/>
              </a:spcAft>
            </a:pPr>
            <a:r>
              <a:rPr lang="en-US" sz="1600" dirty="0" smtClean="0"/>
              <a:t>	The </a:t>
            </a:r>
            <a:r>
              <a:rPr lang="en-US" sz="1600" dirty="0"/>
              <a:t>second basic step to white box testing involves testing the application's source code for proper flow and structure. One way is by writing more code to test the application's source code. The tester will develop little tests for each process or series of processes in the application. This method requires that the tester must have intimate knowledge of the code and is often done by the developer. Other methods include Manual Testing, trial, and error testing and the use of testing tools as we will explain further on in this article.</a:t>
            </a:r>
          </a:p>
          <a:p>
            <a:endParaRPr lang="en-US" b="1" dirty="0"/>
          </a:p>
        </p:txBody>
      </p:sp>
    </p:spTree>
    <p:extLst>
      <p:ext uri="{BB962C8B-B14F-4D97-AF65-F5344CB8AC3E}">
        <p14:creationId xmlns:p14="http://schemas.microsoft.com/office/powerpoint/2010/main" val="3283964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9</a:t>
            </a:r>
            <a:r>
              <a:rPr lang="en-US" sz="3600" dirty="0" smtClean="0"/>
              <a:t>. White Box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586145"/>
          </a:xfrm>
          <a:prstGeom prst="rect">
            <a:avLst/>
          </a:prstGeom>
          <a:noFill/>
        </p:spPr>
        <p:txBody>
          <a:bodyPr wrap="square" rtlCol="0">
            <a:spAutoFit/>
          </a:bodyPr>
          <a:lstStyle/>
          <a:p>
            <a:r>
              <a:rPr lang="en-US" b="1" dirty="0" smtClean="0"/>
              <a:t>White Box </a:t>
            </a:r>
            <a:r>
              <a:rPr lang="en-US" b="1" dirty="0"/>
              <a:t>Testing Example</a:t>
            </a:r>
          </a:p>
          <a:p>
            <a:pPr algn="just">
              <a:lnSpc>
                <a:spcPct val="125000"/>
              </a:lnSpc>
              <a:spcBef>
                <a:spcPts val="600"/>
              </a:spcBef>
              <a:spcAft>
                <a:spcPts val="600"/>
              </a:spcAft>
            </a:pPr>
            <a:r>
              <a:rPr lang="en-US" dirty="0"/>
              <a:t>Consider the following piece of </a:t>
            </a:r>
            <a:r>
              <a:rPr lang="en-US" dirty="0" smtClean="0"/>
              <a:t>:</a:t>
            </a:r>
          </a:p>
          <a:p>
            <a:pPr algn="just">
              <a:lnSpc>
                <a:spcPct val="125000"/>
              </a:lnSpc>
              <a:spcBef>
                <a:spcPts val="600"/>
              </a:spcBef>
              <a:spcAft>
                <a:spcPts val="600"/>
              </a:spcAft>
            </a:pPr>
            <a:endParaRPr lang="en-US" dirty="0"/>
          </a:p>
          <a:p>
            <a:pPr algn="just">
              <a:lnSpc>
                <a:spcPct val="125000"/>
              </a:lnSpc>
              <a:spcBef>
                <a:spcPts val="600"/>
              </a:spcBef>
              <a:spcAft>
                <a:spcPts val="600"/>
              </a:spcAft>
            </a:pPr>
            <a:endParaRPr lang="en-US" dirty="0" smtClean="0"/>
          </a:p>
          <a:p>
            <a:pPr algn="just">
              <a:lnSpc>
                <a:spcPct val="125000"/>
              </a:lnSpc>
              <a:spcBef>
                <a:spcPts val="600"/>
              </a:spcBef>
              <a:spcAft>
                <a:spcPts val="600"/>
              </a:spcAft>
            </a:pPr>
            <a:endParaRPr lang="en-US" dirty="0"/>
          </a:p>
          <a:p>
            <a:pPr algn="just">
              <a:lnSpc>
                <a:spcPct val="125000"/>
              </a:lnSpc>
              <a:spcBef>
                <a:spcPts val="600"/>
              </a:spcBef>
              <a:spcAft>
                <a:spcPts val="600"/>
              </a:spcAft>
            </a:pPr>
            <a:endParaRPr lang="en-US" dirty="0" smtClean="0"/>
          </a:p>
          <a:p>
            <a:pPr algn="just">
              <a:lnSpc>
                <a:spcPct val="125000"/>
              </a:lnSpc>
              <a:spcBef>
                <a:spcPts val="600"/>
              </a:spcBef>
              <a:spcAft>
                <a:spcPts val="600"/>
              </a:spcAft>
            </a:pPr>
            <a:endParaRPr lang="en-US" dirty="0" smtClean="0"/>
          </a:p>
          <a:p>
            <a:r>
              <a:rPr lang="en-US" dirty="0"/>
              <a:t>The goal of </a:t>
            </a:r>
            <a:r>
              <a:rPr lang="en-US" dirty="0" smtClean="0"/>
              <a:t>White Box </a:t>
            </a:r>
            <a:r>
              <a:rPr lang="en-US" dirty="0"/>
              <a:t>testing in software engineering is to verify all the decision branches, loops, statements in the code</a:t>
            </a:r>
            <a:r>
              <a:rPr lang="en-US" dirty="0" smtClean="0"/>
              <a:t>.</a:t>
            </a:r>
          </a:p>
          <a:p>
            <a:endParaRPr lang="en-US" dirty="0"/>
          </a:p>
          <a:p>
            <a:r>
              <a:rPr lang="en-US" dirty="0"/>
              <a:t>To exercise the statements in the above code, </a:t>
            </a:r>
            <a:r>
              <a:rPr lang="en-US" dirty="0" smtClean="0"/>
              <a:t>White Box </a:t>
            </a:r>
            <a:r>
              <a:rPr lang="en-US" dirty="0"/>
              <a:t>test cases would </a:t>
            </a:r>
            <a:r>
              <a:rPr lang="en-US" dirty="0" smtClean="0"/>
              <a:t>be:</a:t>
            </a:r>
          </a:p>
          <a:p>
            <a:r>
              <a:rPr lang="pt-BR" dirty="0"/>
              <a:t>A = 1, B = 1</a:t>
            </a:r>
          </a:p>
          <a:p>
            <a:r>
              <a:rPr lang="pt-BR" dirty="0"/>
              <a:t>A = -1, B = -3</a:t>
            </a:r>
          </a:p>
          <a:p>
            <a:endParaRPr lang="en-US" dirty="0"/>
          </a:p>
          <a:p>
            <a:endParaRPr lang="en-US" b="1" dirty="0"/>
          </a:p>
        </p:txBody>
      </p:sp>
      <p:pic>
        <p:nvPicPr>
          <p:cNvPr id="2" name="Picture 1"/>
          <p:cNvPicPr>
            <a:picLocks noChangeAspect="1"/>
          </p:cNvPicPr>
          <p:nvPr/>
        </p:nvPicPr>
        <p:blipFill>
          <a:blip r:embed="rId3"/>
          <a:stretch>
            <a:fillRect/>
          </a:stretch>
        </p:blipFill>
        <p:spPr>
          <a:xfrm>
            <a:off x="3381650" y="1930916"/>
            <a:ext cx="4419041" cy="2144534"/>
          </a:xfrm>
          <a:prstGeom prst="rect">
            <a:avLst/>
          </a:prstGeom>
        </p:spPr>
      </p:pic>
    </p:spTree>
    <p:extLst>
      <p:ext uri="{BB962C8B-B14F-4D97-AF65-F5344CB8AC3E}">
        <p14:creationId xmlns:p14="http://schemas.microsoft.com/office/powerpoint/2010/main" val="1910285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9</a:t>
            </a:r>
            <a:r>
              <a:rPr lang="en-US" sz="3600" dirty="0" smtClean="0"/>
              <a:t>. White Box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5847755"/>
          </a:xfrm>
          <a:prstGeom prst="rect">
            <a:avLst/>
          </a:prstGeom>
          <a:noFill/>
        </p:spPr>
        <p:txBody>
          <a:bodyPr wrap="square" rtlCol="0">
            <a:spAutoFit/>
          </a:bodyPr>
          <a:lstStyle/>
          <a:p>
            <a:pPr algn="just">
              <a:lnSpc>
                <a:spcPct val="125000"/>
              </a:lnSpc>
              <a:spcBef>
                <a:spcPts val="600"/>
              </a:spcBef>
              <a:spcAft>
                <a:spcPts val="600"/>
              </a:spcAft>
            </a:pPr>
            <a:r>
              <a:rPr lang="en-US" b="1" dirty="0"/>
              <a:t>White Box Testing </a:t>
            </a:r>
            <a:r>
              <a:rPr lang="en-US" b="1" dirty="0" smtClean="0"/>
              <a:t>Techniques:</a:t>
            </a:r>
          </a:p>
          <a:p>
            <a:pPr algn="just">
              <a:lnSpc>
                <a:spcPct val="125000"/>
              </a:lnSpc>
              <a:spcBef>
                <a:spcPts val="600"/>
              </a:spcBef>
              <a:spcAft>
                <a:spcPts val="600"/>
              </a:spcAft>
            </a:pPr>
            <a:r>
              <a:rPr lang="en-US" dirty="0" smtClean="0"/>
              <a:t>1. Statement </a:t>
            </a:r>
            <a:r>
              <a:rPr lang="en-US" dirty="0"/>
              <a:t>Coverage</a:t>
            </a:r>
          </a:p>
          <a:p>
            <a:pPr algn="just">
              <a:lnSpc>
                <a:spcPct val="125000"/>
              </a:lnSpc>
              <a:spcBef>
                <a:spcPts val="600"/>
              </a:spcBef>
              <a:spcAft>
                <a:spcPts val="600"/>
              </a:spcAft>
            </a:pPr>
            <a:r>
              <a:rPr lang="en-US" dirty="0" smtClean="0"/>
              <a:t>2. Decision </a:t>
            </a:r>
            <a:r>
              <a:rPr lang="en-US" dirty="0"/>
              <a:t>Coverage</a:t>
            </a:r>
          </a:p>
          <a:p>
            <a:pPr algn="just">
              <a:lnSpc>
                <a:spcPct val="125000"/>
              </a:lnSpc>
              <a:spcBef>
                <a:spcPts val="600"/>
              </a:spcBef>
              <a:spcAft>
                <a:spcPts val="600"/>
              </a:spcAft>
            </a:pPr>
            <a:r>
              <a:rPr lang="en-US" dirty="0" smtClean="0"/>
              <a:t>3. Branch </a:t>
            </a:r>
            <a:r>
              <a:rPr lang="en-US" dirty="0"/>
              <a:t>Coverage</a:t>
            </a:r>
          </a:p>
          <a:p>
            <a:pPr algn="just">
              <a:lnSpc>
                <a:spcPct val="125000"/>
              </a:lnSpc>
              <a:spcBef>
                <a:spcPts val="600"/>
              </a:spcBef>
              <a:spcAft>
                <a:spcPts val="600"/>
              </a:spcAft>
            </a:pPr>
            <a:r>
              <a:rPr lang="en-US" dirty="0" smtClean="0"/>
              <a:t>4. Condition </a:t>
            </a:r>
            <a:r>
              <a:rPr lang="en-US" dirty="0"/>
              <a:t>Coverage</a:t>
            </a:r>
          </a:p>
          <a:p>
            <a:pPr algn="just">
              <a:lnSpc>
                <a:spcPct val="125000"/>
              </a:lnSpc>
              <a:spcBef>
                <a:spcPts val="600"/>
              </a:spcBef>
              <a:spcAft>
                <a:spcPts val="600"/>
              </a:spcAft>
            </a:pPr>
            <a:r>
              <a:rPr lang="en-US" dirty="0" smtClean="0"/>
              <a:t>5. Multiple </a:t>
            </a:r>
            <a:r>
              <a:rPr lang="en-US" dirty="0"/>
              <a:t>Condition Coverage</a:t>
            </a:r>
          </a:p>
          <a:p>
            <a:pPr algn="just">
              <a:lnSpc>
                <a:spcPct val="125000"/>
              </a:lnSpc>
              <a:spcBef>
                <a:spcPts val="600"/>
              </a:spcBef>
              <a:spcAft>
                <a:spcPts val="600"/>
              </a:spcAft>
            </a:pPr>
            <a:r>
              <a:rPr lang="en-US" dirty="0" smtClean="0"/>
              <a:t>6. Finite </a:t>
            </a:r>
            <a:r>
              <a:rPr lang="en-US" dirty="0"/>
              <a:t>State Machine Coverage</a:t>
            </a:r>
          </a:p>
          <a:p>
            <a:pPr algn="just">
              <a:lnSpc>
                <a:spcPct val="125000"/>
              </a:lnSpc>
              <a:spcBef>
                <a:spcPts val="600"/>
              </a:spcBef>
              <a:spcAft>
                <a:spcPts val="600"/>
              </a:spcAft>
            </a:pPr>
            <a:r>
              <a:rPr lang="en-US" dirty="0" smtClean="0"/>
              <a:t>7. Path </a:t>
            </a:r>
            <a:r>
              <a:rPr lang="en-US" dirty="0"/>
              <a:t>Coverage</a:t>
            </a:r>
          </a:p>
          <a:p>
            <a:pPr algn="just">
              <a:lnSpc>
                <a:spcPct val="125000"/>
              </a:lnSpc>
              <a:spcBef>
                <a:spcPts val="600"/>
              </a:spcBef>
              <a:spcAft>
                <a:spcPts val="600"/>
              </a:spcAft>
            </a:pPr>
            <a:r>
              <a:rPr lang="en-US" dirty="0" smtClean="0"/>
              <a:t>8. Control </a:t>
            </a:r>
            <a:r>
              <a:rPr lang="en-US" dirty="0"/>
              <a:t>flow testing</a:t>
            </a:r>
          </a:p>
          <a:p>
            <a:pPr algn="just">
              <a:lnSpc>
                <a:spcPct val="125000"/>
              </a:lnSpc>
              <a:spcBef>
                <a:spcPts val="600"/>
              </a:spcBef>
              <a:spcAft>
                <a:spcPts val="600"/>
              </a:spcAft>
            </a:pPr>
            <a:r>
              <a:rPr lang="en-US" dirty="0" smtClean="0"/>
              <a:t>9. Data </a:t>
            </a:r>
            <a:r>
              <a:rPr lang="en-US" dirty="0"/>
              <a:t>flow testing</a:t>
            </a:r>
          </a:p>
          <a:p>
            <a:endParaRPr lang="en-US" b="1" dirty="0"/>
          </a:p>
          <a:p>
            <a:endParaRPr lang="en-US" dirty="0"/>
          </a:p>
          <a:p>
            <a:endParaRPr lang="en-US" b="1" dirty="0"/>
          </a:p>
        </p:txBody>
      </p:sp>
    </p:spTree>
    <p:extLst>
      <p:ext uri="{BB962C8B-B14F-4D97-AF65-F5344CB8AC3E}">
        <p14:creationId xmlns:p14="http://schemas.microsoft.com/office/powerpoint/2010/main" val="36162939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a:t>9</a:t>
            </a:r>
            <a:r>
              <a:rPr lang="en-US" sz="3600" dirty="0" smtClean="0"/>
              <a:t>. White Box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r>
              <a:rPr lang="en-US" dirty="0" smtClean="0"/>
              <a:t/>
            </a:r>
            <a:br>
              <a:rPr lang="en-US" dirty="0" smtClean="0"/>
            </a:br>
            <a:endParaRPr lang="en-US" dirty="0"/>
          </a:p>
        </p:txBody>
      </p:sp>
      <p:sp>
        <p:nvSpPr>
          <p:cNvPr id="6" name="TextBox 5"/>
          <p:cNvSpPr txBox="1"/>
          <p:nvPr/>
        </p:nvSpPr>
        <p:spPr>
          <a:xfrm>
            <a:off x="583628" y="1093316"/>
            <a:ext cx="11016343" cy="4278094"/>
          </a:xfrm>
          <a:prstGeom prst="rect">
            <a:avLst/>
          </a:prstGeom>
          <a:noFill/>
        </p:spPr>
        <p:txBody>
          <a:bodyPr wrap="square" rtlCol="0">
            <a:spAutoFit/>
          </a:bodyPr>
          <a:lstStyle/>
          <a:p>
            <a:r>
              <a:rPr lang="en-US" b="1" dirty="0"/>
              <a:t>Types of White Box </a:t>
            </a:r>
            <a:r>
              <a:rPr lang="en-US" b="1" dirty="0" smtClean="0"/>
              <a:t>Testing:</a:t>
            </a:r>
            <a:endParaRPr lang="en-US" b="1" dirty="0"/>
          </a:p>
          <a:p>
            <a:pPr algn="just">
              <a:lnSpc>
                <a:spcPct val="125000"/>
              </a:lnSpc>
              <a:spcBef>
                <a:spcPts val="600"/>
              </a:spcBef>
              <a:spcAft>
                <a:spcPts val="600"/>
              </a:spcAft>
            </a:pPr>
            <a:r>
              <a:rPr lang="en-US" b="1" dirty="0" smtClean="0"/>
              <a:t>- Unit </a:t>
            </a:r>
            <a:r>
              <a:rPr lang="en-US" b="1" dirty="0"/>
              <a:t>Testing: </a:t>
            </a:r>
            <a:r>
              <a:rPr lang="en-US" dirty="0"/>
              <a:t>It is often the first type of testing done on an application. Unit Testing is performed on each unit or block of code as it is developed. Unit Testing is essentially done by the programmer. As a software developer, you develop a few lines of code, a single function or an object and test it to make sure it works before continuing Unit Testing helps identify a majority of bugs, early in the software development lifecycle. Bugs identified in this stage are cheaper and easy to fix.</a:t>
            </a:r>
          </a:p>
          <a:p>
            <a:pPr algn="just">
              <a:lnSpc>
                <a:spcPct val="125000"/>
              </a:lnSpc>
              <a:spcBef>
                <a:spcPts val="600"/>
              </a:spcBef>
              <a:spcAft>
                <a:spcPts val="600"/>
              </a:spcAft>
            </a:pPr>
            <a:r>
              <a:rPr lang="en-US" b="1" dirty="0" smtClean="0"/>
              <a:t>- Testing </a:t>
            </a:r>
            <a:r>
              <a:rPr lang="en-US" b="1" dirty="0"/>
              <a:t>for Memory Leaks</a:t>
            </a:r>
            <a:r>
              <a:rPr lang="en-US" dirty="0"/>
              <a:t>: Memory leaks are leading causes of slower running applications. A QA specialist who is experienced at detecting memory leaks is essential in cases where you have a slow running software application.</a:t>
            </a:r>
          </a:p>
          <a:p>
            <a:endParaRPr lang="en-US" b="1" dirty="0"/>
          </a:p>
          <a:p>
            <a:endParaRPr lang="en-US" dirty="0"/>
          </a:p>
          <a:p>
            <a:endParaRPr lang="en-US" b="1" dirty="0"/>
          </a:p>
        </p:txBody>
      </p:sp>
    </p:spTree>
    <p:extLst>
      <p:ext uri="{BB962C8B-B14F-4D97-AF65-F5344CB8AC3E}">
        <p14:creationId xmlns:p14="http://schemas.microsoft.com/office/powerpoint/2010/main" val="3635555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10. Levels of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2793072"/>
          </a:xfrm>
          <a:prstGeom prst="rect">
            <a:avLst/>
          </a:prstGeom>
          <a:noFill/>
        </p:spPr>
        <p:txBody>
          <a:bodyPr wrap="square" rtlCol="0">
            <a:spAutoFit/>
          </a:bodyPr>
          <a:lstStyle/>
          <a:p>
            <a:pPr algn="just">
              <a:lnSpc>
                <a:spcPct val="125000"/>
              </a:lnSpc>
              <a:spcBef>
                <a:spcPts val="600"/>
              </a:spcBef>
              <a:spcAft>
                <a:spcPts val="600"/>
              </a:spcAft>
            </a:pPr>
            <a:r>
              <a:rPr lang="en-US" dirty="0"/>
              <a:t>There are mainly four </a:t>
            </a:r>
            <a:r>
              <a:rPr lang="en-US" b="1" dirty="0"/>
              <a:t>Levels of Testing</a:t>
            </a:r>
            <a:r>
              <a:rPr lang="en-US" dirty="0"/>
              <a:t> in software testing </a:t>
            </a:r>
            <a:r>
              <a:rPr lang="en-US" dirty="0" smtClean="0"/>
              <a:t>:</a:t>
            </a:r>
            <a:endParaRPr lang="en-US" dirty="0"/>
          </a:p>
          <a:p>
            <a:pPr algn="just">
              <a:lnSpc>
                <a:spcPct val="125000"/>
              </a:lnSpc>
              <a:spcBef>
                <a:spcPts val="600"/>
              </a:spcBef>
              <a:spcAft>
                <a:spcPts val="600"/>
              </a:spcAft>
            </a:pPr>
            <a:r>
              <a:rPr lang="en-US" b="1" dirty="0" smtClean="0"/>
              <a:t>1. Unit </a:t>
            </a:r>
            <a:r>
              <a:rPr lang="en-US" b="1" dirty="0"/>
              <a:t>Testing</a:t>
            </a:r>
            <a:r>
              <a:rPr lang="en-US" dirty="0"/>
              <a:t> : checks if software components are fulfilling functionalities or not.</a:t>
            </a:r>
          </a:p>
          <a:p>
            <a:pPr algn="just">
              <a:lnSpc>
                <a:spcPct val="125000"/>
              </a:lnSpc>
              <a:spcBef>
                <a:spcPts val="600"/>
              </a:spcBef>
              <a:spcAft>
                <a:spcPts val="600"/>
              </a:spcAft>
            </a:pPr>
            <a:r>
              <a:rPr lang="en-US" b="1" dirty="0" smtClean="0"/>
              <a:t>2. Integration </a:t>
            </a:r>
            <a:r>
              <a:rPr lang="en-US" b="1" dirty="0"/>
              <a:t>Testing</a:t>
            </a:r>
            <a:r>
              <a:rPr lang="en-US" dirty="0"/>
              <a:t> : checks the data flow from one module to other modules.</a:t>
            </a:r>
          </a:p>
          <a:p>
            <a:pPr algn="just">
              <a:lnSpc>
                <a:spcPct val="125000"/>
              </a:lnSpc>
              <a:spcBef>
                <a:spcPts val="600"/>
              </a:spcBef>
              <a:spcAft>
                <a:spcPts val="600"/>
              </a:spcAft>
            </a:pPr>
            <a:r>
              <a:rPr lang="en-US" b="1" dirty="0" smtClean="0"/>
              <a:t>3. System </a:t>
            </a:r>
            <a:r>
              <a:rPr lang="en-US" b="1" dirty="0"/>
              <a:t>Testing</a:t>
            </a:r>
            <a:r>
              <a:rPr lang="en-US" dirty="0"/>
              <a:t> : evaluates both functional and non-functional needs for the testing.</a:t>
            </a:r>
          </a:p>
          <a:p>
            <a:pPr algn="just">
              <a:lnSpc>
                <a:spcPct val="125000"/>
              </a:lnSpc>
              <a:spcBef>
                <a:spcPts val="600"/>
              </a:spcBef>
              <a:spcAft>
                <a:spcPts val="600"/>
              </a:spcAft>
            </a:pPr>
            <a:r>
              <a:rPr lang="en-US" b="1" dirty="0" smtClean="0"/>
              <a:t>4. Acceptance </a:t>
            </a:r>
            <a:r>
              <a:rPr lang="en-US" b="1" dirty="0"/>
              <a:t>Testing</a:t>
            </a:r>
            <a:r>
              <a:rPr lang="en-US" dirty="0"/>
              <a:t> : checks the requirements of a specification or contract are met as per its delivery.</a:t>
            </a:r>
          </a:p>
          <a:p>
            <a:endParaRPr lang="en-US" b="1" dirty="0"/>
          </a:p>
        </p:txBody>
      </p:sp>
      <p:pic>
        <p:nvPicPr>
          <p:cNvPr id="2" name="Picture 1"/>
          <p:cNvPicPr>
            <a:picLocks noChangeAspect="1"/>
          </p:cNvPicPr>
          <p:nvPr/>
        </p:nvPicPr>
        <p:blipFill>
          <a:blip r:embed="rId3"/>
          <a:stretch>
            <a:fillRect/>
          </a:stretch>
        </p:blipFill>
        <p:spPr>
          <a:xfrm>
            <a:off x="3911838" y="3572428"/>
            <a:ext cx="3234920" cy="2810586"/>
          </a:xfrm>
          <a:prstGeom prst="rect">
            <a:avLst/>
          </a:prstGeom>
        </p:spPr>
      </p:pic>
    </p:spTree>
    <p:extLst>
      <p:ext uri="{BB962C8B-B14F-4D97-AF65-F5344CB8AC3E}">
        <p14:creationId xmlns:p14="http://schemas.microsoft.com/office/powerpoint/2010/main" val="3123796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10. Levels of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678204"/>
          </a:xfrm>
          <a:prstGeom prst="rect">
            <a:avLst/>
          </a:prstGeom>
          <a:noFill/>
        </p:spPr>
        <p:txBody>
          <a:bodyPr wrap="square" rtlCol="0">
            <a:spAutoFit/>
          </a:bodyPr>
          <a:lstStyle/>
          <a:p>
            <a:pPr algn="just">
              <a:lnSpc>
                <a:spcPct val="125000"/>
              </a:lnSpc>
              <a:spcBef>
                <a:spcPts val="600"/>
              </a:spcBef>
              <a:spcAft>
                <a:spcPts val="600"/>
              </a:spcAft>
            </a:pPr>
            <a:r>
              <a:rPr lang="en-US" b="1" dirty="0" smtClean="0"/>
              <a:t>1.</a:t>
            </a:r>
            <a:r>
              <a:rPr lang="en-US" b="1" dirty="0"/>
              <a:t> Unit </a:t>
            </a:r>
            <a:r>
              <a:rPr lang="en-US" b="1" dirty="0" smtClean="0"/>
              <a:t>testing</a:t>
            </a:r>
            <a:endParaRPr lang="en-US" b="1" dirty="0"/>
          </a:p>
          <a:p>
            <a:pPr algn="just">
              <a:lnSpc>
                <a:spcPct val="125000"/>
              </a:lnSpc>
              <a:spcBef>
                <a:spcPts val="600"/>
              </a:spcBef>
              <a:spcAft>
                <a:spcPts val="600"/>
              </a:spcAft>
            </a:pPr>
            <a:r>
              <a:rPr lang="en-US" dirty="0" smtClean="0"/>
              <a:t>- A </a:t>
            </a:r>
            <a:r>
              <a:rPr lang="en-US" dirty="0"/>
              <a:t>Unit is a smallest testable portion of system or application which can be compiled, liked, loaded, and executed. This kind of testing helps to test each module separately.</a:t>
            </a:r>
          </a:p>
          <a:p>
            <a:pPr algn="just">
              <a:lnSpc>
                <a:spcPct val="125000"/>
              </a:lnSpc>
              <a:spcBef>
                <a:spcPts val="600"/>
              </a:spcBef>
              <a:spcAft>
                <a:spcPts val="600"/>
              </a:spcAft>
            </a:pPr>
            <a:r>
              <a:rPr lang="en-US" dirty="0" smtClean="0"/>
              <a:t>- The </a:t>
            </a:r>
            <a:r>
              <a:rPr lang="en-US" dirty="0"/>
              <a:t>aim is to test each part of the software by separating it. It checks that component are fulfilling functionalities or not. This kind of testing is performed by developers.</a:t>
            </a:r>
          </a:p>
          <a:p>
            <a:pPr algn="just">
              <a:lnSpc>
                <a:spcPct val="125000"/>
              </a:lnSpc>
              <a:spcBef>
                <a:spcPts val="600"/>
              </a:spcBef>
              <a:spcAft>
                <a:spcPts val="600"/>
              </a:spcAft>
            </a:pPr>
            <a:r>
              <a:rPr lang="en-US" b="1" dirty="0" smtClean="0"/>
              <a:t>2.</a:t>
            </a:r>
            <a:r>
              <a:rPr lang="en-US" b="1" dirty="0"/>
              <a:t> Integration </a:t>
            </a:r>
            <a:r>
              <a:rPr lang="en-US" b="1" dirty="0" smtClean="0"/>
              <a:t>testing</a:t>
            </a:r>
            <a:endParaRPr lang="en-US" b="1" dirty="0"/>
          </a:p>
          <a:p>
            <a:pPr algn="just">
              <a:lnSpc>
                <a:spcPct val="125000"/>
              </a:lnSpc>
              <a:spcBef>
                <a:spcPts val="600"/>
              </a:spcBef>
              <a:spcAft>
                <a:spcPts val="600"/>
              </a:spcAft>
            </a:pPr>
            <a:r>
              <a:rPr lang="en-US" dirty="0" smtClean="0"/>
              <a:t>- Integration </a:t>
            </a:r>
            <a:r>
              <a:rPr lang="en-US" dirty="0"/>
              <a:t>means combining. For Example, In this testing phase, different software modules are combined and tested as a group to make sure that integrated system is ready for system testing.</a:t>
            </a:r>
          </a:p>
          <a:p>
            <a:pPr algn="just">
              <a:lnSpc>
                <a:spcPct val="125000"/>
              </a:lnSpc>
              <a:spcBef>
                <a:spcPts val="600"/>
              </a:spcBef>
              <a:spcAft>
                <a:spcPts val="600"/>
              </a:spcAft>
            </a:pPr>
            <a:r>
              <a:rPr lang="en-US" dirty="0" smtClean="0"/>
              <a:t>- Integrating </a:t>
            </a:r>
            <a:r>
              <a:rPr lang="en-US" dirty="0"/>
              <a:t>testing checks the data flow from one module to other modules. This kind of testing is performed by testers.</a:t>
            </a:r>
          </a:p>
          <a:p>
            <a:endParaRPr lang="en-US" b="1" dirty="0"/>
          </a:p>
        </p:txBody>
      </p:sp>
    </p:spTree>
    <p:extLst>
      <p:ext uri="{BB962C8B-B14F-4D97-AF65-F5344CB8AC3E}">
        <p14:creationId xmlns:p14="http://schemas.microsoft.com/office/powerpoint/2010/main" val="3607343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10. Levels of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524315"/>
          </a:xfrm>
          <a:prstGeom prst="rect">
            <a:avLst/>
          </a:prstGeom>
          <a:noFill/>
        </p:spPr>
        <p:txBody>
          <a:bodyPr wrap="square" rtlCol="0">
            <a:spAutoFit/>
          </a:bodyPr>
          <a:lstStyle/>
          <a:p>
            <a:pPr algn="just">
              <a:lnSpc>
                <a:spcPct val="125000"/>
              </a:lnSpc>
              <a:spcBef>
                <a:spcPts val="600"/>
              </a:spcBef>
              <a:spcAft>
                <a:spcPts val="600"/>
              </a:spcAft>
            </a:pPr>
            <a:r>
              <a:rPr lang="en-US" b="1" dirty="0" smtClean="0"/>
              <a:t>3.</a:t>
            </a:r>
            <a:r>
              <a:rPr lang="en-US" b="1" dirty="0"/>
              <a:t> System </a:t>
            </a:r>
            <a:r>
              <a:rPr lang="en-US" b="1" dirty="0" smtClean="0"/>
              <a:t>testing</a:t>
            </a:r>
            <a:endParaRPr lang="en-US" b="1" dirty="0"/>
          </a:p>
          <a:p>
            <a:pPr algn="just">
              <a:lnSpc>
                <a:spcPct val="125000"/>
              </a:lnSpc>
              <a:spcBef>
                <a:spcPts val="600"/>
              </a:spcBef>
              <a:spcAft>
                <a:spcPts val="600"/>
              </a:spcAft>
            </a:pPr>
            <a:r>
              <a:rPr lang="en-US" dirty="0" smtClean="0"/>
              <a:t>- System </a:t>
            </a:r>
            <a:r>
              <a:rPr lang="en-US" dirty="0"/>
              <a:t>testing is performed on a complete, integrated system. It allows checking system's compliance as per the requirements. It tests the overall interaction of components. It involves load, performance, reliability and security testing.</a:t>
            </a:r>
          </a:p>
          <a:p>
            <a:pPr algn="just">
              <a:lnSpc>
                <a:spcPct val="125000"/>
              </a:lnSpc>
              <a:spcBef>
                <a:spcPts val="600"/>
              </a:spcBef>
              <a:spcAft>
                <a:spcPts val="600"/>
              </a:spcAft>
            </a:pPr>
            <a:r>
              <a:rPr lang="en-US" dirty="0" smtClean="0"/>
              <a:t>- System </a:t>
            </a:r>
            <a:r>
              <a:rPr lang="en-US" dirty="0"/>
              <a:t>testing most often the final test to verify that the system meets the specification. It evaluates both functional and non-functional need for the testing.</a:t>
            </a:r>
          </a:p>
          <a:p>
            <a:pPr algn="just">
              <a:lnSpc>
                <a:spcPct val="125000"/>
              </a:lnSpc>
              <a:spcBef>
                <a:spcPts val="600"/>
              </a:spcBef>
              <a:spcAft>
                <a:spcPts val="600"/>
              </a:spcAft>
            </a:pPr>
            <a:r>
              <a:rPr lang="en-US" b="1" dirty="0" smtClean="0"/>
              <a:t>4.</a:t>
            </a:r>
            <a:r>
              <a:rPr lang="en-US" b="1" dirty="0"/>
              <a:t> Acceptance </a:t>
            </a:r>
            <a:r>
              <a:rPr lang="en-US" b="1" dirty="0" smtClean="0"/>
              <a:t>testing</a:t>
            </a:r>
            <a:endParaRPr lang="en-US" b="1" dirty="0"/>
          </a:p>
          <a:p>
            <a:pPr algn="just">
              <a:lnSpc>
                <a:spcPct val="125000"/>
              </a:lnSpc>
              <a:spcBef>
                <a:spcPts val="600"/>
              </a:spcBef>
              <a:spcAft>
                <a:spcPts val="600"/>
              </a:spcAft>
            </a:pPr>
            <a:r>
              <a:rPr lang="en-US" dirty="0" smtClean="0"/>
              <a:t>- Acceptance </a:t>
            </a:r>
            <a:r>
              <a:rPr lang="en-US" dirty="0"/>
              <a:t>testing is a test conducted to find if the requirements of a specification or contract are met as per its delivery. Acceptance testing is basically done by the user or customer. However, other stockholders can be involved in this process.</a:t>
            </a:r>
          </a:p>
          <a:p>
            <a:endParaRPr lang="en-US" b="1" dirty="0"/>
          </a:p>
        </p:txBody>
      </p:sp>
    </p:spTree>
    <p:extLst>
      <p:ext uri="{BB962C8B-B14F-4D97-AF65-F5344CB8AC3E}">
        <p14:creationId xmlns:p14="http://schemas.microsoft.com/office/powerpoint/2010/main" val="6505073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11. Unit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3370153"/>
          </a:xfrm>
          <a:prstGeom prst="rect">
            <a:avLst/>
          </a:prstGeom>
          <a:noFill/>
        </p:spPr>
        <p:txBody>
          <a:bodyPr wrap="square" rtlCol="0">
            <a:spAutoFit/>
          </a:bodyPr>
          <a:lstStyle/>
          <a:p>
            <a:pPr algn="just">
              <a:lnSpc>
                <a:spcPct val="125000"/>
              </a:lnSpc>
              <a:spcBef>
                <a:spcPts val="600"/>
              </a:spcBef>
              <a:spcAft>
                <a:spcPts val="600"/>
              </a:spcAft>
            </a:pPr>
            <a:r>
              <a:rPr lang="en-US" b="1" dirty="0" smtClean="0"/>
              <a:t>	UNIT </a:t>
            </a:r>
            <a:r>
              <a:rPr lang="en-US" b="1" dirty="0"/>
              <a:t>TESTING</a:t>
            </a:r>
            <a:r>
              <a:rPr lang="en-US" dirty="0"/>
              <a:t> is a type of software testing where individual units or components of a software are tested. The purpose is to validate that each unit of the software code performs as expected. Unit Testing is done during the development (coding phase) of an application by the developers. Unit Tests isolate a section of code and verify its correctness. A unit may be an individual function, method, procedure, module, or object.</a:t>
            </a:r>
          </a:p>
          <a:p>
            <a:pPr algn="just">
              <a:lnSpc>
                <a:spcPct val="125000"/>
              </a:lnSpc>
              <a:spcBef>
                <a:spcPts val="600"/>
              </a:spcBef>
              <a:spcAft>
                <a:spcPts val="600"/>
              </a:spcAft>
            </a:pPr>
            <a:r>
              <a:rPr lang="en-US" dirty="0" smtClean="0"/>
              <a:t>	In </a:t>
            </a:r>
            <a:r>
              <a:rPr lang="en-US" dirty="0"/>
              <a:t>SDLC, STLC, V Model, Unit testing is first level of testing done before integration testing. Unit testing is a </a:t>
            </a:r>
            <a:r>
              <a:rPr lang="en-US" dirty="0" smtClean="0"/>
              <a:t>White Box </a:t>
            </a:r>
            <a:r>
              <a:rPr lang="en-US" dirty="0"/>
              <a:t>testing technique that is usually performed by the developer. Though, in a practical world due to time crunch or reluctance of developers to tests, QA engineers also do unit </a:t>
            </a:r>
            <a:r>
              <a:rPr lang="en-US" dirty="0" smtClean="0"/>
              <a:t>testing.</a:t>
            </a:r>
            <a:endParaRPr lang="en-US" dirty="0"/>
          </a:p>
          <a:p>
            <a:endParaRPr lang="en-US" b="1" dirty="0"/>
          </a:p>
        </p:txBody>
      </p:sp>
      <p:pic>
        <p:nvPicPr>
          <p:cNvPr id="2" name="Picture 1"/>
          <p:cNvPicPr>
            <a:picLocks noChangeAspect="1"/>
          </p:cNvPicPr>
          <p:nvPr/>
        </p:nvPicPr>
        <p:blipFill>
          <a:blip r:embed="rId3"/>
          <a:stretch>
            <a:fillRect/>
          </a:stretch>
        </p:blipFill>
        <p:spPr>
          <a:xfrm>
            <a:off x="3898747" y="4209468"/>
            <a:ext cx="3645053" cy="2183202"/>
          </a:xfrm>
          <a:prstGeom prst="rect">
            <a:avLst/>
          </a:prstGeom>
        </p:spPr>
      </p:pic>
    </p:spTree>
    <p:extLst>
      <p:ext uri="{BB962C8B-B14F-4D97-AF65-F5344CB8AC3E}">
        <p14:creationId xmlns:p14="http://schemas.microsoft.com/office/powerpoint/2010/main" val="1581949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11. Unit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431983"/>
          </a:xfrm>
          <a:prstGeom prst="rect">
            <a:avLst/>
          </a:prstGeom>
          <a:noFill/>
        </p:spPr>
        <p:txBody>
          <a:bodyPr wrap="square" rtlCol="0">
            <a:spAutoFit/>
          </a:bodyPr>
          <a:lstStyle/>
          <a:p>
            <a:r>
              <a:rPr lang="en-US" b="1" dirty="0"/>
              <a:t>How to do Unit Testing</a:t>
            </a:r>
          </a:p>
          <a:p>
            <a:pPr algn="just">
              <a:spcBef>
                <a:spcPts val="600"/>
              </a:spcBef>
              <a:spcAft>
                <a:spcPts val="600"/>
              </a:spcAft>
            </a:pPr>
            <a:r>
              <a:rPr lang="en-US" dirty="0" smtClean="0"/>
              <a:t>- A </a:t>
            </a:r>
            <a:r>
              <a:rPr lang="en-US" dirty="0"/>
              <a:t>developer writes a section of code in the application just to test the function. They would later comment out and finally remove the test code when the application is deployed.</a:t>
            </a:r>
          </a:p>
          <a:p>
            <a:pPr algn="just">
              <a:spcBef>
                <a:spcPts val="600"/>
              </a:spcBef>
              <a:spcAft>
                <a:spcPts val="600"/>
              </a:spcAft>
            </a:pPr>
            <a:r>
              <a:rPr lang="en-US" dirty="0" smtClean="0"/>
              <a:t>- A </a:t>
            </a:r>
            <a:r>
              <a:rPr lang="en-US" dirty="0"/>
              <a:t>developer could also isolate the function to test it more rigorously. This is a more thorough unit testing practice that involves copy and paste of code to its own testing environment than its natural environment. </a:t>
            </a:r>
            <a:r>
              <a:rPr lang="en-US" b="1" dirty="0"/>
              <a:t>Isolating the code helps in revealing unnecessary dependencies between the code being tested and other units or data spaces</a:t>
            </a:r>
            <a:r>
              <a:rPr lang="en-US" dirty="0"/>
              <a:t> in the product. These dependencies can then be eliminated.</a:t>
            </a:r>
          </a:p>
          <a:p>
            <a:pPr algn="just">
              <a:spcBef>
                <a:spcPts val="600"/>
              </a:spcBef>
              <a:spcAft>
                <a:spcPts val="600"/>
              </a:spcAft>
            </a:pPr>
            <a:r>
              <a:rPr lang="en-US" dirty="0" smtClean="0"/>
              <a:t>- A </a:t>
            </a:r>
            <a:r>
              <a:rPr lang="en-US" dirty="0"/>
              <a:t>coder generally uses a </a:t>
            </a:r>
            <a:r>
              <a:rPr lang="en-US" dirty="0" smtClean="0"/>
              <a:t>Unit Test </a:t>
            </a:r>
            <a:r>
              <a:rPr lang="en-US" dirty="0"/>
              <a:t>Framework to develop automated test cases. Using an automation framework, the developer codes criteria into the test to verify the correctness of the code. During execution of the test cases, the framework logs failing test cases. Many frameworks will also automatically flag and report, in summary, these failed test cases. Depending on the severity of a failure, the framework may halt subsequent testing.</a:t>
            </a:r>
          </a:p>
          <a:p>
            <a:endParaRPr lang="en-US" b="1" dirty="0"/>
          </a:p>
        </p:txBody>
      </p:sp>
    </p:spTree>
    <p:extLst>
      <p:ext uri="{BB962C8B-B14F-4D97-AF65-F5344CB8AC3E}">
        <p14:creationId xmlns:p14="http://schemas.microsoft.com/office/powerpoint/2010/main" val="17642753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11. Unit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5332229"/>
          </a:xfrm>
          <a:prstGeom prst="rect">
            <a:avLst/>
          </a:prstGeom>
          <a:noFill/>
        </p:spPr>
        <p:txBody>
          <a:bodyPr wrap="square" rtlCol="0">
            <a:spAutoFit/>
          </a:bodyPr>
          <a:lstStyle/>
          <a:p>
            <a:pPr algn="just">
              <a:lnSpc>
                <a:spcPct val="125000"/>
              </a:lnSpc>
              <a:spcBef>
                <a:spcPts val="600"/>
              </a:spcBef>
              <a:spcAft>
                <a:spcPts val="600"/>
              </a:spcAft>
            </a:pPr>
            <a:r>
              <a:rPr lang="en-US" b="1" dirty="0"/>
              <a:t>Unit Testing Techniques</a:t>
            </a:r>
          </a:p>
          <a:p>
            <a:pPr algn="just">
              <a:lnSpc>
                <a:spcPct val="125000"/>
              </a:lnSpc>
              <a:spcBef>
                <a:spcPts val="600"/>
              </a:spcBef>
              <a:spcAft>
                <a:spcPts val="600"/>
              </a:spcAft>
            </a:pPr>
            <a:r>
              <a:rPr lang="en-US" dirty="0" smtClean="0"/>
              <a:t>	The</a:t>
            </a:r>
            <a:r>
              <a:rPr lang="en-US" dirty="0"/>
              <a:t> </a:t>
            </a:r>
            <a:r>
              <a:rPr lang="en-US" b="1" dirty="0"/>
              <a:t>Unit Testing Techniques</a:t>
            </a:r>
            <a:r>
              <a:rPr lang="en-US" dirty="0"/>
              <a:t> are mainly categorized into three parts which are Black box testing that involves testing of user interface along with input and output, White box testing that involves testing the functional </a:t>
            </a:r>
            <a:r>
              <a:rPr lang="en-US" dirty="0" smtClean="0"/>
              <a:t>behavior </a:t>
            </a:r>
            <a:r>
              <a:rPr lang="en-US" dirty="0"/>
              <a:t>of the software application and Gray box testing that is used to execute test suites, test methods, test cases and performing risk analysis.</a:t>
            </a:r>
          </a:p>
          <a:p>
            <a:pPr algn="just">
              <a:lnSpc>
                <a:spcPct val="125000"/>
              </a:lnSpc>
              <a:spcBef>
                <a:spcPts val="600"/>
              </a:spcBef>
              <a:spcAft>
                <a:spcPts val="600"/>
              </a:spcAft>
            </a:pPr>
            <a:r>
              <a:rPr lang="en-US" dirty="0"/>
              <a:t>Code coverage techniques used in Unit Testing are listed below:</a:t>
            </a:r>
          </a:p>
          <a:p>
            <a:pPr algn="just">
              <a:lnSpc>
                <a:spcPct val="125000"/>
              </a:lnSpc>
              <a:spcBef>
                <a:spcPts val="600"/>
              </a:spcBef>
              <a:spcAft>
                <a:spcPts val="600"/>
              </a:spcAft>
            </a:pPr>
            <a:r>
              <a:rPr lang="en-US" dirty="0" smtClean="0"/>
              <a:t>- Statement </a:t>
            </a:r>
            <a:r>
              <a:rPr lang="en-US" dirty="0"/>
              <a:t>Coverage</a:t>
            </a:r>
          </a:p>
          <a:p>
            <a:pPr algn="just">
              <a:lnSpc>
                <a:spcPct val="125000"/>
              </a:lnSpc>
              <a:spcBef>
                <a:spcPts val="600"/>
              </a:spcBef>
              <a:spcAft>
                <a:spcPts val="600"/>
              </a:spcAft>
            </a:pPr>
            <a:r>
              <a:rPr lang="en-US" dirty="0" smtClean="0"/>
              <a:t>- Decision </a:t>
            </a:r>
            <a:r>
              <a:rPr lang="en-US" dirty="0"/>
              <a:t>Coverage</a:t>
            </a:r>
          </a:p>
          <a:p>
            <a:pPr algn="just">
              <a:lnSpc>
                <a:spcPct val="125000"/>
              </a:lnSpc>
              <a:spcBef>
                <a:spcPts val="600"/>
              </a:spcBef>
              <a:spcAft>
                <a:spcPts val="600"/>
              </a:spcAft>
            </a:pPr>
            <a:r>
              <a:rPr lang="en-US" dirty="0" smtClean="0"/>
              <a:t>- Branch </a:t>
            </a:r>
            <a:r>
              <a:rPr lang="en-US" dirty="0"/>
              <a:t>Coverage</a:t>
            </a:r>
          </a:p>
          <a:p>
            <a:pPr algn="just">
              <a:lnSpc>
                <a:spcPct val="125000"/>
              </a:lnSpc>
              <a:spcBef>
                <a:spcPts val="600"/>
              </a:spcBef>
              <a:spcAft>
                <a:spcPts val="600"/>
              </a:spcAft>
            </a:pPr>
            <a:r>
              <a:rPr lang="en-US" dirty="0" smtClean="0"/>
              <a:t>- Condition </a:t>
            </a:r>
            <a:r>
              <a:rPr lang="en-US" dirty="0"/>
              <a:t>Coverage</a:t>
            </a:r>
          </a:p>
          <a:p>
            <a:pPr algn="just">
              <a:lnSpc>
                <a:spcPct val="125000"/>
              </a:lnSpc>
              <a:spcBef>
                <a:spcPts val="600"/>
              </a:spcBef>
              <a:spcAft>
                <a:spcPts val="600"/>
              </a:spcAft>
            </a:pPr>
            <a:r>
              <a:rPr lang="en-US" dirty="0" smtClean="0"/>
              <a:t>- Finite </a:t>
            </a:r>
            <a:r>
              <a:rPr lang="en-US" dirty="0"/>
              <a:t>State Machine Coverage</a:t>
            </a:r>
          </a:p>
          <a:p>
            <a:endParaRPr lang="en-US" b="1" dirty="0"/>
          </a:p>
        </p:txBody>
      </p:sp>
    </p:spTree>
    <p:extLst>
      <p:ext uri="{BB962C8B-B14F-4D97-AF65-F5344CB8AC3E}">
        <p14:creationId xmlns:p14="http://schemas.microsoft.com/office/powerpoint/2010/main" val="3239671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1943481"/>
          </a:xfrm>
          <a:prstGeom prst="rect">
            <a:avLst/>
          </a:prstGeom>
          <a:noFill/>
        </p:spPr>
        <p:txBody>
          <a:bodyPr wrap="square" rtlCol="0">
            <a:spAutoFit/>
          </a:bodyPr>
          <a:lstStyle/>
          <a:p>
            <a:pPr algn="just">
              <a:lnSpc>
                <a:spcPct val="125000"/>
              </a:lnSpc>
              <a:spcBef>
                <a:spcPts val="600"/>
              </a:spcBef>
              <a:spcAft>
                <a:spcPts val="600"/>
              </a:spcAft>
            </a:pPr>
            <a:r>
              <a:rPr lang="en-US" b="1" dirty="0" smtClean="0"/>
              <a:t>	INTEGRATION </a:t>
            </a:r>
            <a:r>
              <a:rPr lang="en-US" b="1" dirty="0"/>
              <a:t>TESTING</a:t>
            </a:r>
            <a:r>
              <a:rPr lang="en-US" dirty="0"/>
              <a:t> is defined as a type of testing where software modules are integrated logically and tested as a group. A typical software project consists of multiple software modules, coded by different programmers. The purpose of this level of testing is to expose defects in the interaction between these software modules when they are </a:t>
            </a:r>
            <a:r>
              <a:rPr lang="en-US" dirty="0" smtClean="0"/>
              <a:t>integrated.</a:t>
            </a:r>
          </a:p>
          <a:p>
            <a:pPr algn="just">
              <a:lnSpc>
                <a:spcPct val="125000"/>
              </a:lnSpc>
              <a:spcBef>
                <a:spcPts val="600"/>
              </a:spcBef>
              <a:spcAft>
                <a:spcPts val="600"/>
              </a:spcAft>
            </a:pPr>
            <a:endParaRPr lang="en-US" b="1" dirty="0"/>
          </a:p>
        </p:txBody>
      </p:sp>
      <p:pic>
        <p:nvPicPr>
          <p:cNvPr id="2" name="Picture 1"/>
          <p:cNvPicPr>
            <a:picLocks noChangeAspect="1"/>
          </p:cNvPicPr>
          <p:nvPr/>
        </p:nvPicPr>
        <p:blipFill>
          <a:blip r:embed="rId3"/>
          <a:stretch>
            <a:fillRect/>
          </a:stretch>
        </p:blipFill>
        <p:spPr>
          <a:xfrm>
            <a:off x="4020535" y="3036797"/>
            <a:ext cx="3664779" cy="2201458"/>
          </a:xfrm>
          <a:prstGeom prst="rect">
            <a:avLst/>
          </a:prstGeom>
        </p:spPr>
      </p:pic>
    </p:spTree>
    <p:extLst>
      <p:ext uri="{BB962C8B-B14F-4D97-AF65-F5344CB8AC3E}">
        <p14:creationId xmlns:p14="http://schemas.microsoft.com/office/powerpoint/2010/main" val="2906131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944302"/>
          </a:xfrm>
          <a:prstGeom prst="rect">
            <a:avLst/>
          </a:prstGeom>
          <a:noFill/>
        </p:spPr>
        <p:txBody>
          <a:bodyPr wrap="square" rtlCol="0">
            <a:spAutoFit/>
          </a:bodyPr>
          <a:lstStyle/>
          <a:p>
            <a:pPr algn="just">
              <a:lnSpc>
                <a:spcPct val="125000"/>
              </a:lnSpc>
              <a:spcBef>
                <a:spcPts val="600"/>
              </a:spcBef>
              <a:spcAft>
                <a:spcPts val="600"/>
              </a:spcAft>
            </a:pPr>
            <a:r>
              <a:rPr lang="en-US" b="1" dirty="0"/>
              <a:t>Why do Integration Testing?</a:t>
            </a:r>
          </a:p>
          <a:p>
            <a:pPr algn="just">
              <a:lnSpc>
                <a:spcPct val="125000"/>
              </a:lnSpc>
              <a:spcBef>
                <a:spcPts val="600"/>
              </a:spcBef>
              <a:spcAft>
                <a:spcPts val="600"/>
              </a:spcAft>
            </a:pPr>
            <a:r>
              <a:rPr lang="en-US" dirty="0"/>
              <a:t>Although each software module is unit tested, defects still exist for various reasons </a:t>
            </a:r>
            <a:r>
              <a:rPr lang="en-US" dirty="0" smtClean="0"/>
              <a:t>like:</a:t>
            </a:r>
            <a:endParaRPr lang="en-US" dirty="0"/>
          </a:p>
          <a:p>
            <a:pPr algn="just">
              <a:lnSpc>
                <a:spcPct val="125000"/>
              </a:lnSpc>
              <a:spcBef>
                <a:spcPts val="600"/>
              </a:spcBef>
              <a:spcAft>
                <a:spcPts val="600"/>
              </a:spcAft>
            </a:pPr>
            <a:r>
              <a:rPr lang="en-US" dirty="0" smtClean="0"/>
              <a:t>- A </a:t>
            </a:r>
            <a:r>
              <a:rPr lang="en-US" dirty="0"/>
              <a:t>Module, in general, is designed by an individual software developer whose understanding and programming logic may differ from other programmers. Integration Testing becomes necessary to verify the software modules work in </a:t>
            </a:r>
            <a:r>
              <a:rPr lang="en-US" dirty="0" smtClean="0"/>
              <a:t>unity.</a:t>
            </a:r>
            <a:endParaRPr lang="en-US" dirty="0"/>
          </a:p>
          <a:p>
            <a:pPr algn="just">
              <a:lnSpc>
                <a:spcPct val="125000"/>
              </a:lnSpc>
              <a:spcBef>
                <a:spcPts val="600"/>
              </a:spcBef>
              <a:spcAft>
                <a:spcPts val="600"/>
              </a:spcAft>
            </a:pPr>
            <a:r>
              <a:rPr lang="en-US" dirty="0" smtClean="0"/>
              <a:t>- At </a:t>
            </a:r>
            <a:r>
              <a:rPr lang="en-US" dirty="0"/>
              <a:t>the time of module development, there are wide chances of change in requirements by the clients. These new requirements may not be unit tested and hence system integration Testing becomes necessary.</a:t>
            </a:r>
          </a:p>
          <a:p>
            <a:pPr algn="just">
              <a:lnSpc>
                <a:spcPct val="125000"/>
              </a:lnSpc>
              <a:spcBef>
                <a:spcPts val="600"/>
              </a:spcBef>
              <a:spcAft>
                <a:spcPts val="600"/>
              </a:spcAft>
            </a:pPr>
            <a:r>
              <a:rPr lang="en-US" dirty="0" smtClean="0"/>
              <a:t>- Interfaces </a:t>
            </a:r>
            <a:r>
              <a:rPr lang="en-US" dirty="0"/>
              <a:t>of the software modules with the database could be </a:t>
            </a:r>
            <a:r>
              <a:rPr lang="en-US" dirty="0" smtClean="0"/>
              <a:t>erroneous.</a:t>
            </a:r>
            <a:endParaRPr lang="en-US" dirty="0"/>
          </a:p>
          <a:p>
            <a:pPr algn="just">
              <a:lnSpc>
                <a:spcPct val="125000"/>
              </a:lnSpc>
              <a:spcBef>
                <a:spcPts val="600"/>
              </a:spcBef>
              <a:spcAft>
                <a:spcPts val="600"/>
              </a:spcAft>
            </a:pPr>
            <a:r>
              <a:rPr lang="en-US" dirty="0" smtClean="0"/>
              <a:t>- External </a:t>
            </a:r>
            <a:r>
              <a:rPr lang="en-US" dirty="0"/>
              <a:t>Hardware interfaces, if any, could be </a:t>
            </a:r>
            <a:r>
              <a:rPr lang="en-US" dirty="0" smtClean="0"/>
              <a:t>erroneous.</a:t>
            </a:r>
            <a:endParaRPr lang="en-US" dirty="0"/>
          </a:p>
          <a:p>
            <a:pPr algn="just">
              <a:lnSpc>
                <a:spcPct val="125000"/>
              </a:lnSpc>
              <a:spcBef>
                <a:spcPts val="600"/>
              </a:spcBef>
              <a:spcAft>
                <a:spcPts val="600"/>
              </a:spcAft>
            </a:pPr>
            <a:r>
              <a:rPr lang="en-US" dirty="0" smtClean="0"/>
              <a:t>- Inadequate </a:t>
            </a:r>
            <a:r>
              <a:rPr lang="en-US" dirty="0"/>
              <a:t>exception handling could cause issues.</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511256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054956"/>
          </a:xfrm>
          <a:prstGeom prst="rect">
            <a:avLst/>
          </a:prstGeom>
          <a:noFill/>
        </p:spPr>
        <p:txBody>
          <a:bodyPr wrap="square" rtlCol="0">
            <a:spAutoFit/>
          </a:bodyPr>
          <a:lstStyle/>
          <a:p>
            <a:pPr algn="just">
              <a:lnSpc>
                <a:spcPct val="125000"/>
              </a:lnSpc>
              <a:spcBef>
                <a:spcPts val="600"/>
              </a:spcBef>
              <a:spcAft>
                <a:spcPts val="600"/>
              </a:spcAft>
            </a:pPr>
            <a:r>
              <a:rPr lang="en-US" b="1" dirty="0"/>
              <a:t>Example of Integration Test Case</a:t>
            </a:r>
          </a:p>
          <a:p>
            <a:pPr algn="just">
              <a:lnSpc>
                <a:spcPct val="125000"/>
              </a:lnSpc>
              <a:spcBef>
                <a:spcPts val="600"/>
              </a:spcBef>
              <a:spcAft>
                <a:spcPts val="600"/>
              </a:spcAft>
            </a:pPr>
            <a:r>
              <a:rPr lang="en-US" sz="1600" dirty="0" smtClean="0"/>
              <a:t>Integration</a:t>
            </a:r>
            <a:r>
              <a:rPr lang="en-US" sz="1600" dirty="0"/>
              <a:t> Test Case differs from other test cases in the sense it</a:t>
            </a:r>
            <a:r>
              <a:rPr lang="en-US" sz="1600" b="1" dirty="0"/>
              <a:t> focuses mainly on the interfaces &amp; flow of data/information between the modules</a:t>
            </a:r>
            <a:r>
              <a:rPr lang="en-US" sz="1600" dirty="0"/>
              <a:t>. Here priority is to be given for the </a:t>
            </a:r>
            <a:r>
              <a:rPr lang="en-US" sz="1600" b="1" dirty="0"/>
              <a:t>integrating links</a:t>
            </a:r>
            <a:r>
              <a:rPr lang="en-US" sz="1600" dirty="0"/>
              <a:t> rather than the unit functions which are already tested.</a:t>
            </a:r>
          </a:p>
          <a:p>
            <a:pPr algn="just">
              <a:lnSpc>
                <a:spcPct val="125000"/>
              </a:lnSpc>
              <a:spcBef>
                <a:spcPts val="600"/>
              </a:spcBef>
              <a:spcAft>
                <a:spcPts val="600"/>
              </a:spcAft>
            </a:pPr>
            <a:r>
              <a:rPr lang="en-US" sz="1600" dirty="0" smtClean="0"/>
              <a:t>Sample </a:t>
            </a:r>
            <a:r>
              <a:rPr lang="en-US" sz="1600" dirty="0"/>
              <a:t>Integration Test Cases for the following scenario: Application has 3 modules say 'Login Page', 'Mailbox' and 'Delete emails' and each of them is integrated logically.</a:t>
            </a:r>
          </a:p>
          <a:p>
            <a:pPr algn="just">
              <a:lnSpc>
                <a:spcPct val="125000"/>
              </a:lnSpc>
              <a:spcBef>
                <a:spcPts val="600"/>
              </a:spcBef>
              <a:spcAft>
                <a:spcPts val="600"/>
              </a:spcAft>
            </a:pPr>
            <a:r>
              <a:rPr lang="en-US" sz="1600" dirty="0" smtClean="0"/>
              <a:t>Here </a:t>
            </a:r>
            <a:r>
              <a:rPr lang="en-US" sz="1600" dirty="0"/>
              <a:t>do not concentrate much on the Login Page testing as it's already been done in Unit </a:t>
            </a:r>
            <a:r>
              <a:rPr lang="en-US" sz="1600" dirty="0" smtClean="0"/>
              <a:t>Testing</a:t>
            </a:r>
            <a:r>
              <a:rPr lang="en-US" sz="1600" dirty="0"/>
              <a:t>. But check how it's linked to the Mail Box Page.</a:t>
            </a:r>
          </a:p>
          <a:p>
            <a:pPr algn="just">
              <a:lnSpc>
                <a:spcPct val="125000"/>
              </a:lnSpc>
              <a:spcBef>
                <a:spcPts val="600"/>
              </a:spcBef>
              <a:spcAft>
                <a:spcPts val="600"/>
              </a:spcAft>
            </a:pPr>
            <a:r>
              <a:rPr lang="en-US" sz="1600" dirty="0"/>
              <a:t>Similarly Mail Box: Check its integration to the Delete Mails Module.</a:t>
            </a:r>
          </a:p>
          <a:p>
            <a:pPr algn="just">
              <a:lnSpc>
                <a:spcPct val="125000"/>
              </a:lnSpc>
              <a:spcBef>
                <a:spcPts val="600"/>
              </a:spcBef>
              <a:spcAft>
                <a:spcPts val="600"/>
              </a:spcAft>
            </a:pPr>
            <a:endParaRPr lang="en-US" b="1" dirty="0"/>
          </a:p>
        </p:txBody>
      </p:sp>
      <p:pic>
        <p:nvPicPr>
          <p:cNvPr id="2" name="Picture 1"/>
          <p:cNvPicPr>
            <a:picLocks noChangeAspect="1"/>
          </p:cNvPicPr>
          <p:nvPr/>
        </p:nvPicPr>
        <p:blipFill>
          <a:blip r:embed="rId3"/>
          <a:stretch>
            <a:fillRect/>
          </a:stretch>
        </p:blipFill>
        <p:spPr>
          <a:xfrm>
            <a:off x="971397" y="4612873"/>
            <a:ext cx="10240804" cy="2057687"/>
          </a:xfrm>
          <a:prstGeom prst="rect">
            <a:avLst/>
          </a:prstGeom>
        </p:spPr>
      </p:pic>
    </p:spTree>
    <p:extLst>
      <p:ext uri="{BB962C8B-B14F-4D97-AF65-F5344CB8AC3E}">
        <p14:creationId xmlns:p14="http://schemas.microsoft.com/office/powerpoint/2010/main" val="180351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3905556"/>
          </a:xfrm>
          <a:prstGeom prst="rect">
            <a:avLst/>
          </a:prstGeom>
          <a:noFill/>
        </p:spPr>
        <p:txBody>
          <a:bodyPr wrap="square" rtlCol="0">
            <a:spAutoFit/>
          </a:bodyPr>
          <a:lstStyle/>
          <a:p>
            <a:pPr>
              <a:lnSpc>
                <a:spcPct val="125000"/>
              </a:lnSpc>
              <a:spcBef>
                <a:spcPts val="600"/>
              </a:spcBef>
              <a:spcAft>
                <a:spcPts val="600"/>
              </a:spcAft>
            </a:pPr>
            <a:r>
              <a:rPr lang="en-US" b="1" dirty="0"/>
              <a:t>How to do Integration Testing?</a:t>
            </a:r>
          </a:p>
          <a:p>
            <a:pPr>
              <a:lnSpc>
                <a:spcPct val="125000"/>
              </a:lnSpc>
              <a:spcBef>
                <a:spcPts val="600"/>
              </a:spcBef>
              <a:spcAft>
                <a:spcPts val="600"/>
              </a:spcAft>
            </a:pPr>
            <a:r>
              <a:rPr lang="en-US" dirty="0"/>
              <a:t>The Integration test procedure irrespective of the Software testing strategies (discussed above):</a:t>
            </a:r>
          </a:p>
          <a:p>
            <a:pPr>
              <a:lnSpc>
                <a:spcPct val="125000"/>
              </a:lnSpc>
              <a:spcBef>
                <a:spcPts val="600"/>
              </a:spcBef>
              <a:spcAft>
                <a:spcPts val="600"/>
              </a:spcAft>
            </a:pPr>
            <a:r>
              <a:rPr lang="en-US" dirty="0" smtClean="0"/>
              <a:t>1. Prepare </a:t>
            </a:r>
            <a:r>
              <a:rPr lang="en-US" dirty="0"/>
              <a:t>the Integration Tests Plan</a:t>
            </a:r>
          </a:p>
          <a:p>
            <a:pPr>
              <a:lnSpc>
                <a:spcPct val="125000"/>
              </a:lnSpc>
              <a:spcBef>
                <a:spcPts val="600"/>
              </a:spcBef>
              <a:spcAft>
                <a:spcPts val="600"/>
              </a:spcAft>
            </a:pPr>
            <a:r>
              <a:rPr lang="en-US" dirty="0" smtClean="0"/>
              <a:t>2. Design </a:t>
            </a:r>
            <a:r>
              <a:rPr lang="en-US" dirty="0"/>
              <a:t>the Test Scenarios, Cases, and Scripts.</a:t>
            </a:r>
          </a:p>
          <a:p>
            <a:pPr>
              <a:lnSpc>
                <a:spcPct val="125000"/>
              </a:lnSpc>
              <a:spcBef>
                <a:spcPts val="600"/>
              </a:spcBef>
              <a:spcAft>
                <a:spcPts val="600"/>
              </a:spcAft>
            </a:pPr>
            <a:r>
              <a:rPr lang="en-US" dirty="0" smtClean="0"/>
              <a:t>3. Executing </a:t>
            </a:r>
            <a:r>
              <a:rPr lang="en-US" dirty="0"/>
              <a:t>the test Cases followed by reporting the defects.</a:t>
            </a:r>
          </a:p>
          <a:p>
            <a:pPr>
              <a:lnSpc>
                <a:spcPct val="125000"/>
              </a:lnSpc>
              <a:spcBef>
                <a:spcPts val="600"/>
              </a:spcBef>
              <a:spcAft>
                <a:spcPts val="600"/>
              </a:spcAft>
            </a:pPr>
            <a:r>
              <a:rPr lang="en-US" dirty="0" smtClean="0"/>
              <a:t>4. Tracking </a:t>
            </a:r>
            <a:r>
              <a:rPr lang="en-US" dirty="0"/>
              <a:t>&amp; re-testing the defects.</a:t>
            </a:r>
          </a:p>
          <a:p>
            <a:pPr>
              <a:lnSpc>
                <a:spcPct val="125000"/>
              </a:lnSpc>
              <a:spcBef>
                <a:spcPts val="600"/>
              </a:spcBef>
              <a:spcAft>
                <a:spcPts val="600"/>
              </a:spcAft>
            </a:pPr>
            <a:r>
              <a:rPr lang="en-US" dirty="0" smtClean="0"/>
              <a:t>5. Steps </a:t>
            </a:r>
            <a:r>
              <a:rPr lang="en-US" dirty="0"/>
              <a:t>3 and 4 are repeated until the completion of Integration is successful.</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3085527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83628" y="1093316"/>
            <a:ext cx="11016343" cy="4405693"/>
          </a:xfrm>
          <a:prstGeom prst="rect">
            <a:avLst/>
          </a:prstGeom>
          <a:noFill/>
        </p:spPr>
        <p:txBody>
          <a:bodyPr wrap="square" rtlCol="0">
            <a:spAutoFit/>
          </a:bodyPr>
          <a:lstStyle/>
          <a:p>
            <a:pPr algn="just">
              <a:lnSpc>
                <a:spcPct val="125000"/>
              </a:lnSpc>
              <a:spcBef>
                <a:spcPts val="600"/>
              </a:spcBef>
              <a:spcAft>
                <a:spcPts val="600"/>
              </a:spcAft>
            </a:pPr>
            <a:r>
              <a:rPr lang="en-US" b="1" dirty="0"/>
              <a:t>Brief Description of Integration Test Plans:</a:t>
            </a:r>
          </a:p>
          <a:p>
            <a:pPr algn="just">
              <a:lnSpc>
                <a:spcPct val="125000"/>
              </a:lnSpc>
              <a:spcBef>
                <a:spcPts val="600"/>
              </a:spcBef>
              <a:spcAft>
                <a:spcPts val="600"/>
              </a:spcAft>
            </a:pPr>
            <a:r>
              <a:rPr lang="en-US" dirty="0"/>
              <a:t>It includes the following attributes:</a:t>
            </a:r>
          </a:p>
          <a:p>
            <a:pPr algn="just">
              <a:lnSpc>
                <a:spcPct val="125000"/>
              </a:lnSpc>
              <a:spcBef>
                <a:spcPts val="600"/>
              </a:spcBef>
              <a:spcAft>
                <a:spcPts val="600"/>
              </a:spcAft>
            </a:pPr>
            <a:r>
              <a:rPr lang="en-US" dirty="0" smtClean="0"/>
              <a:t>- Methods/Approaches </a:t>
            </a:r>
            <a:r>
              <a:rPr lang="en-US" dirty="0"/>
              <a:t>to testing (as discussed above).</a:t>
            </a:r>
          </a:p>
          <a:p>
            <a:pPr algn="just">
              <a:lnSpc>
                <a:spcPct val="125000"/>
              </a:lnSpc>
              <a:spcBef>
                <a:spcPts val="600"/>
              </a:spcBef>
              <a:spcAft>
                <a:spcPts val="600"/>
              </a:spcAft>
            </a:pPr>
            <a:r>
              <a:rPr lang="en-US" dirty="0" smtClean="0"/>
              <a:t>- Scopes </a:t>
            </a:r>
            <a:r>
              <a:rPr lang="en-US" dirty="0"/>
              <a:t>and Out of Scopes Items of Integration Testing.</a:t>
            </a:r>
          </a:p>
          <a:p>
            <a:pPr algn="just">
              <a:lnSpc>
                <a:spcPct val="125000"/>
              </a:lnSpc>
              <a:spcBef>
                <a:spcPts val="600"/>
              </a:spcBef>
              <a:spcAft>
                <a:spcPts val="600"/>
              </a:spcAft>
            </a:pPr>
            <a:r>
              <a:rPr lang="en-US" dirty="0" smtClean="0"/>
              <a:t>- Roles </a:t>
            </a:r>
            <a:r>
              <a:rPr lang="en-US" dirty="0"/>
              <a:t>and Responsibilities.</a:t>
            </a:r>
          </a:p>
          <a:p>
            <a:pPr algn="just">
              <a:lnSpc>
                <a:spcPct val="125000"/>
              </a:lnSpc>
              <a:spcBef>
                <a:spcPts val="600"/>
              </a:spcBef>
              <a:spcAft>
                <a:spcPts val="600"/>
              </a:spcAft>
            </a:pPr>
            <a:r>
              <a:rPr lang="en-US" dirty="0" smtClean="0"/>
              <a:t>- Pre-requisites </a:t>
            </a:r>
            <a:r>
              <a:rPr lang="en-US" dirty="0"/>
              <a:t>for Integration testing.</a:t>
            </a:r>
          </a:p>
          <a:p>
            <a:pPr algn="just">
              <a:lnSpc>
                <a:spcPct val="125000"/>
              </a:lnSpc>
              <a:spcBef>
                <a:spcPts val="600"/>
              </a:spcBef>
              <a:spcAft>
                <a:spcPts val="600"/>
              </a:spcAft>
            </a:pPr>
            <a:r>
              <a:rPr lang="en-US" dirty="0" smtClean="0"/>
              <a:t>- Testing </a:t>
            </a:r>
            <a:r>
              <a:rPr lang="en-US" dirty="0"/>
              <a:t>environment.</a:t>
            </a:r>
          </a:p>
          <a:p>
            <a:pPr algn="just">
              <a:lnSpc>
                <a:spcPct val="125000"/>
              </a:lnSpc>
              <a:spcBef>
                <a:spcPts val="600"/>
              </a:spcBef>
              <a:spcAft>
                <a:spcPts val="600"/>
              </a:spcAft>
            </a:pPr>
            <a:r>
              <a:rPr lang="en-US" dirty="0" smtClean="0"/>
              <a:t>- Risk </a:t>
            </a:r>
            <a:r>
              <a:rPr lang="en-US" dirty="0"/>
              <a:t>and Mitigation Plans.</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7036260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P6</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4405693"/>
          </a:xfrm>
          <a:prstGeom prst="rect">
            <a:avLst/>
          </a:prstGeom>
          <a:noFill/>
        </p:spPr>
        <p:txBody>
          <a:bodyPr wrap="square" rtlCol="0">
            <a:spAutoFit/>
          </a:bodyPr>
          <a:lstStyle/>
          <a:p>
            <a:pPr>
              <a:lnSpc>
                <a:spcPct val="125000"/>
              </a:lnSpc>
              <a:spcBef>
                <a:spcPts val="600"/>
              </a:spcBef>
              <a:spcAft>
                <a:spcPts val="600"/>
              </a:spcAft>
            </a:pPr>
            <a:r>
              <a:rPr lang="en-US" b="1" dirty="0"/>
              <a:t>Entry and Exit Criteria of Integration Testing</a:t>
            </a:r>
          </a:p>
          <a:p>
            <a:pPr>
              <a:lnSpc>
                <a:spcPct val="125000"/>
              </a:lnSpc>
              <a:spcBef>
                <a:spcPts val="600"/>
              </a:spcBef>
              <a:spcAft>
                <a:spcPts val="600"/>
              </a:spcAft>
            </a:pPr>
            <a:r>
              <a:rPr lang="en-US" dirty="0"/>
              <a:t>Entry and Exit Criteria to Integration testing phase in any software development </a:t>
            </a:r>
            <a:r>
              <a:rPr lang="en-US" dirty="0" smtClean="0"/>
              <a:t>model.</a:t>
            </a:r>
            <a:endParaRPr lang="en-US" dirty="0"/>
          </a:p>
          <a:p>
            <a:pPr>
              <a:lnSpc>
                <a:spcPct val="125000"/>
              </a:lnSpc>
              <a:spcBef>
                <a:spcPts val="600"/>
              </a:spcBef>
              <a:spcAft>
                <a:spcPts val="600"/>
              </a:spcAft>
            </a:pPr>
            <a:r>
              <a:rPr lang="en-US" b="1" dirty="0"/>
              <a:t>Entry Criteria:</a:t>
            </a:r>
            <a:endParaRPr lang="en-US" dirty="0"/>
          </a:p>
          <a:p>
            <a:pPr>
              <a:lnSpc>
                <a:spcPct val="125000"/>
              </a:lnSpc>
              <a:spcBef>
                <a:spcPts val="600"/>
              </a:spcBef>
              <a:spcAft>
                <a:spcPts val="600"/>
              </a:spcAft>
            </a:pPr>
            <a:r>
              <a:rPr lang="en-US" dirty="0" smtClean="0"/>
              <a:t>- Unit </a:t>
            </a:r>
            <a:r>
              <a:rPr lang="en-US" dirty="0"/>
              <a:t>Tested Components/Modules</a:t>
            </a:r>
          </a:p>
          <a:p>
            <a:pPr>
              <a:lnSpc>
                <a:spcPct val="125000"/>
              </a:lnSpc>
              <a:spcBef>
                <a:spcPts val="600"/>
              </a:spcBef>
              <a:spcAft>
                <a:spcPts val="600"/>
              </a:spcAft>
            </a:pPr>
            <a:r>
              <a:rPr lang="en-US" dirty="0" smtClean="0"/>
              <a:t>- All </a:t>
            </a:r>
            <a:r>
              <a:rPr lang="en-US" dirty="0"/>
              <a:t>High prioritized bugs fixed and closed</a:t>
            </a:r>
          </a:p>
          <a:p>
            <a:pPr>
              <a:lnSpc>
                <a:spcPct val="125000"/>
              </a:lnSpc>
              <a:spcBef>
                <a:spcPts val="600"/>
              </a:spcBef>
              <a:spcAft>
                <a:spcPts val="600"/>
              </a:spcAft>
            </a:pPr>
            <a:r>
              <a:rPr lang="en-US" dirty="0" smtClean="0"/>
              <a:t>- All </a:t>
            </a:r>
            <a:r>
              <a:rPr lang="en-US" dirty="0"/>
              <a:t>Modules to be code completed and integrated successfully.</a:t>
            </a:r>
          </a:p>
          <a:p>
            <a:pPr>
              <a:lnSpc>
                <a:spcPct val="125000"/>
              </a:lnSpc>
              <a:spcBef>
                <a:spcPts val="600"/>
              </a:spcBef>
              <a:spcAft>
                <a:spcPts val="600"/>
              </a:spcAft>
            </a:pPr>
            <a:r>
              <a:rPr lang="en-US" dirty="0" smtClean="0"/>
              <a:t>- Integration </a:t>
            </a:r>
            <a:r>
              <a:rPr lang="en-US" dirty="0"/>
              <a:t>tests Plan, test case, scenarios to be signed off and documented.</a:t>
            </a:r>
          </a:p>
          <a:p>
            <a:pPr>
              <a:lnSpc>
                <a:spcPct val="125000"/>
              </a:lnSpc>
              <a:spcBef>
                <a:spcPts val="600"/>
              </a:spcBef>
              <a:spcAft>
                <a:spcPts val="600"/>
              </a:spcAft>
            </a:pPr>
            <a:r>
              <a:rPr lang="en-US" dirty="0" smtClean="0"/>
              <a:t>- Required</a:t>
            </a:r>
            <a:r>
              <a:rPr lang="en-US" dirty="0"/>
              <a:t> Test Environment to be set up for Integration testing</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526342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12. Integration Testing – P7</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405419"/>
          </a:xfrm>
          <a:prstGeom prst="rect">
            <a:avLst/>
          </a:prstGeom>
          <a:noFill/>
        </p:spPr>
        <p:txBody>
          <a:bodyPr wrap="square" rtlCol="0">
            <a:spAutoFit/>
          </a:bodyPr>
          <a:lstStyle/>
          <a:p>
            <a:pPr>
              <a:lnSpc>
                <a:spcPct val="125000"/>
              </a:lnSpc>
              <a:spcBef>
                <a:spcPts val="600"/>
              </a:spcBef>
              <a:spcAft>
                <a:spcPts val="600"/>
              </a:spcAft>
            </a:pPr>
            <a:r>
              <a:rPr lang="en-US" b="1" dirty="0"/>
              <a:t>Entry and Exit Criteria of Integration Testing</a:t>
            </a:r>
          </a:p>
          <a:p>
            <a:pPr>
              <a:lnSpc>
                <a:spcPct val="125000"/>
              </a:lnSpc>
              <a:spcBef>
                <a:spcPts val="600"/>
              </a:spcBef>
              <a:spcAft>
                <a:spcPts val="600"/>
              </a:spcAft>
            </a:pPr>
            <a:r>
              <a:rPr lang="en-US" b="1" dirty="0"/>
              <a:t>Exit Criteria:</a:t>
            </a:r>
            <a:endParaRPr lang="en-US" dirty="0"/>
          </a:p>
          <a:p>
            <a:pPr>
              <a:lnSpc>
                <a:spcPct val="125000"/>
              </a:lnSpc>
              <a:spcBef>
                <a:spcPts val="600"/>
              </a:spcBef>
              <a:spcAft>
                <a:spcPts val="600"/>
              </a:spcAft>
            </a:pPr>
            <a:r>
              <a:rPr lang="en-US" dirty="0" smtClean="0"/>
              <a:t>- Successful </a:t>
            </a:r>
            <a:r>
              <a:rPr lang="en-US" dirty="0"/>
              <a:t>Testing of Integrated Application.</a:t>
            </a:r>
          </a:p>
          <a:p>
            <a:pPr>
              <a:lnSpc>
                <a:spcPct val="125000"/>
              </a:lnSpc>
              <a:spcBef>
                <a:spcPts val="600"/>
              </a:spcBef>
              <a:spcAft>
                <a:spcPts val="600"/>
              </a:spcAft>
            </a:pPr>
            <a:r>
              <a:rPr lang="en-US" dirty="0" smtClean="0"/>
              <a:t>- Executed </a:t>
            </a:r>
            <a:r>
              <a:rPr lang="en-US" dirty="0"/>
              <a:t>Test Cases are documented</a:t>
            </a:r>
          </a:p>
          <a:p>
            <a:pPr>
              <a:lnSpc>
                <a:spcPct val="125000"/>
              </a:lnSpc>
              <a:spcBef>
                <a:spcPts val="600"/>
              </a:spcBef>
              <a:spcAft>
                <a:spcPts val="600"/>
              </a:spcAft>
            </a:pPr>
            <a:r>
              <a:rPr lang="en-US" dirty="0" smtClean="0"/>
              <a:t>- All </a:t>
            </a:r>
            <a:r>
              <a:rPr lang="en-US" dirty="0"/>
              <a:t>High prioritized bugs fixed and closed</a:t>
            </a:r>
          </a:p>
          <a:p>
            <a:pPr>
              <a:lnSpc>
                <a:spcPct val="125000"/>
              </a:lnSpc>
              <a:spcBef>
                <a:spcPts val="600"/>
              </a:spcBef>
              <a:spcAft>
                <a:spcPts val="600"/>
              </a:spcAft>
            </a:pPr>
            <a:r>
              <a:rPr lang="en-US" dirty="0" smtClean="0"/>
              <a:t>- Technical </a:t>
            </a:r>
            <a:r>
              <a:rPr lang="en-US" dirty="0"/>
              <a:t>documents to be submitted followed by release Notes.</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190585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13. System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2823850"/>
          </a:xfrm>
          <a:prstGeom prst="rect">
            <a:avLst/>
          </a:prstGeom>
          <a:noFill/>
        </p:spPr>
        <p:txBody>
          <a:bodyPr wrap="square" rtlCol="0">
            <a:spAutoFit/>
          </a:bodyPr>
          <a:lstStyle/>
          <a:p>
            <a:pPr algn="just">
              <a:lnSpc>
                <a:spcPct val="125000"/>
              </a:lnSpc>
              <a:spcBef>
                <a:spcPts val="600"/>
              </a:spcBef>
              <a:spcAft>
                <a:spcPts val="600"/>
              </a:spcAft>
            </a:pPr>
            <a:r>
              <a:rPr lang="en-US" b="1" dirty="0" smtClean="0"/>
              <a:t>	SYSTEM </a:t>
            </a:r>
            <a:r>
              <a:rPr lang="en-US" b="1" dirty="0"/>
              <a:t>TESTING</a:t>
            </a:r>
            <a:r>
              <a:rPr lang="en-US" dirty="0"/>
              <a:t> is a level of testing that validates the complete and fully integrated software product. The purpose of a system test is to evaluate the end-to-end system specifications. Usually, the software is only one element of a larger computer-based system. Ultimately, the software is interfaced with other software/hardware systems. System Testing is actually a series of different tests whose sole purpose is to exercise the full computer-based system</a:t>
            </a:r>
            <a:r>
              <a:rPr lang="en-US" dirty="0" smtClean="0"/>
              <a:t>.</a:t>
            </a:r>
          </a:p>
          <a:p>
            <a:pPr algn="just">
              <a:lnSpc>
                <a:spcPct val="125000"/>
              </a:lnSpc>
              <a:spcBef>
                <a:spcPts val="600"/>
              </a:spcBef>
              <a:spcAft>
                <a:spcPts val="600"/>
              </a:spcAft>
            </a:pPr>
            <a:r>
              <a:rPr lang="en-US" b="1" dirty="0"/>
              <a:t>	</a:t>
            </a:r>
            <a:r>
              <a:rPr lang="en-US" b="1" dirty="0" smtClean="0"/>
              <a:t>System </a:t>
            </a:r>
            <a:r>
              <a:rPr lang="en-US" b="1" dirty="0"/>
              <a:t>Testing is </a:t>
            </a:r>
            <a:r>
              <a:rPr lang="en-US" b="1" dirty="0" smtClean="0"/>
              <a:t>Black box</a:t>
            </a:r>
            <a:endParaRPr lang="en-US" b="1" dirty="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42393273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13. System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251531"/>
          </a:xfrm>
          <a:prstGeom prst="rect">
            <a:avLst/>
          </a:prstGeom>
          <a:noFill/>
        </p:spPr>
        <p:txBody>
          <a:bodyPr wrap="square" rtlCol="0">
            <a:spAutoFit/>
          </a:bodyPr>
          <a:lstStyle/>
          <a:p>
            <a:pPr algn="just">
              <a:lnSpc>
                <a:spcPct val="125000"/>
              </a:lnSpc>
              <a:spcBef>
                <a:spcPts val="600"/>
              </a:spcBef>
              <a:spcAft>
                <a:spcPts val="600"/>
              </a:spcAft>
            </a:pPr>
            <a:r>
              <a:rPr lang="en-US" b="1" dirty="0"/>
              <a:t>What do you verify in System Testing?</a:t>
            </a:r>
          </a:p>
          <a:p>
            <a:pPr algn="just">
              <a:lnSpc>
                <a:spcPct val="125000"/>
              </a:lnSpc>
              <a:spcBef>
                <a:spcPts val="600"/>
              </a:spcBef>
              <a:spcAft>
                <a:spcPts val="600"/>
              </a:spcAft>
            </a:pPr>
            <a:r>
              <a:rPr lang="en-US" dirty="0"/>
              <a:t>System Testing involves testing the software code for </a:t>
            </a:r>
            <a:r>
              <a:rPr lang="en-US" dirty="0" smtClean="0"/>
              <a:t>following:</a:t>
            </a:r>
          </a:p>
          <a:p>
            <a:pPr algn="just">
              <a:lnSpc>
                <a:spcPct val="125000"/>
              </a:lnSpc>
              <a:spcBef>
                <a:spcPts val="600"/>
              </a:spcBef>
              <a:spcAft>
                <a:spcPts val="600"/>
              </a:spcAft>
            </a:pPr>
            <a:r>
              <a:rPr lang="en-US" dirty="0" smtClean="0"/>
              <a:t>- Testing </a:t>
            </a:r>
            <a:r>
              <a:rPr lang="en-US" dirty="0"/>
              <a:t>the fully integrated applications including external peripherals in order to check how components interact with one another and with the system as a whole. This is also called End to End testing scenario.</a:t>
            </a:r>
          </a:p>
          <a:p>
            <a:pPr algn="just">
              <a:lnSpc>
                <a:spcPct val="125000"/>
              </a:lnSpc>
              <a:spcBef>
                <a:spcPts val="600"/>
              </a:spcBef>
              <a:spcAft>
                <a:spcPts val="600"/>
              </a:spcAft>
            </a:pPr>
            <a:r>
              <a:rPr lang="en-US" dirty="0" smtClean="0"/>
              <a:t>- Verify </a:t>
            </a:r>
            <a:r>
              <a:rPr lang="en-US" dirty="0"/>
              <a:t>thorough testing of every input in the application to check for desired outputs.</a:t>
            </a:r>
          </a:p>
          <a:p>
            <a:pPr algn="just">
              <a:lnSpc>
                <a:spcPct val="125000"/>
              </a:lnSpc>
              <a:spcBef>
                <a:spcPts val="600"/>
              </a:spcBef>
              <a:spcAft>
                <a:spcPts val="600"/>
              </a:spcAft>
            </a:pPr>
            <a:r>
              <a:rPr lang="en-US" dirty="0" smtClean="0"/>
              <a:t>- Testing </a:t>
            </a:r>
            <a:r>
              <a:rPr lang="en-US" dirty="0"/>
              <a:t>of the user's experience with the application. </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0212425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13. System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251531"/>
          </a:xfrm>
          <a:prstGeom prst="rect">
            <a:avLst/>
          </a:prstGeom>
          <a:noFill/>
        </p:spPr>
        <p:txBody>
          <a:bodyPr wrap="square" rtlCol="0">
            <a:spAutoFit/>
          </a:bodyPr>
          <a:lstStyle/>
          <a:p>
            <a:pPr algn="just">
              <a:lnSpc>
                <a:spcPct val="125000"/>
              </a:lnSpc>
              <a:spcBef>
                <a:spcPts val="600"/>
              </a:spcBef>
              <a:spcAft>
                <a:spcPts val="600"/>
              </a:spcAft>
            </a:pPr>
            <a:r>
              <a:rPr lang="en-US" b="1" dirty="0"/>
              <a:t>What do you verify in System Testing?</a:t>
            </a:r>
          </a:p>
          <a:p>
            <a:pPr algn="just">
              <a:lnSpc>
                <a:spcPct val="125000"/>
              </a:lnSpc>
              <a:spcBef>
                <a:spcPts val="600"/>
              </a:spcBef>
              <a:spcAft>
                <a:spcPts val="600"/>
              </a:spcAft>
            </a:pPr>
            <a:r>
              <a:rPr lang="en-US" dirty="0"/>
              <a:t>System Testing involves testing the software code for </a:t>
            </a:r>
            <a:r>
              <a:rPr lang="en-US" dirty="0" smtClean="0"/>
              <a:t>following:</a:t>
            </a:r>
          </a:p>
          <a:p>
            <a:pPr algn="just">
              <a:lnSpc>
                <a:spcPct val="125000"/>
              </a:lnSpc>
              <a:spcBef>
                <a:spcPts val="600"/>
              </a:spcBef>
              <a:spcAft>
                <a:spcPts val="600"/>
              </a:spcAft>
            </a:pPr>
            <a:r>
              <a:rPr lang="en-US" dirty="0" smtClean="0"/>
              <a:t>- Testing </a:t>
            </a:r>
            <a:r>
              <a:rPr lang="en-US" dirty="0"/>
              <a:t>the fully integrated applications including external peripherals in order to check how components interact with one another and with the system as a whole. This is also called End to End testing scenario.</a:t>
            </a:r>
          </a:p>
          <a:p>
            <a:pPr algn="just">
              <a:lnSpc>
                <a:spcPct val="125000"/>
              </a:lnSpc>
              <a:spcBef>
                <a:spcPts val="600"/>
              </a:spcBef>
              <a:spcAft>
                <a:spcPts val="600"/>
              </a:spcAft>
            </a:pPr>
            <a:r>
              <a:rPr lang="en-US" dirty="0" smtClean="0"/>
              <a:t>- Verify </a:t>
            </a:r>
            <a:r>
              <a:rPr lang="en-US" dirty="0"/>
              <a:t>thorough testing of every input in the application to check for desired outputs.</a:t>
            </a:r>
          </a:p>
          <a:p>
            <a:pPr algn="just">
              <a:lnSpc>
                <a:spcPct val="125000"/>
              </a:lnSpc>
              <a:spcBef>
                <a:spcPts val="600"/>
              </a:spcBef>
              <a:spcAft>
                <a:spcPts val="600"/>
              </a:spcAft>
            </a:pPr>
            <a:r>
              <a:rPr lang="en-US" dirty="0" smtClean="0"/>
              <a:t>- Testing </a:t>
            </a:r>
            <a:r>
              <a:rPr lang="en-US" dirty="0"/>
              <a:t>of the user's experience with the application. </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5348624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13. System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948056"/>
          </a:xfrm>
          <a:prstGeom prst="rect">
            <a:avLst/>
          </a:prstGeom>
          <a:noFill/>
        </p:spPr>
        <p:txBody>
          <a:bodyPr wrap="square" rtlCol="0">
            <a:spAutoFit/>
          </a:bodyPr>
          <a:lstStyle/>
          <a:p>
            <a:r>
              <a:rPr lang="en-US" b="1" dirty="0"/>
              <a:t>Different Types of System </a:t>
            </a:r>
            <a:r>
              <a:rPr lang="en-US" b="1" dirty="0" smtClean="0"/>
              <a:t>Testing:</a:t>
            </a:r>
          </a:p>
          <a:p>
            <a:pPr algn="just">
              <a:spcBef>
                <a:spcPts val="300"/>
              </a:spcBef>
              <a:spcAft>
                <a:spcPts val="300"/>
              </a:spcAft>
            </a:pPr>
            <a:r>
              <a:rPr lang="en-US" dirty="0"/>
              <a:t>Below we have listed types of system testing a large software development company would typically </a:t>
            </a:r>
            <a:r>
              <a:rPr lang="en-US" dirty="0" smtClean="0"/>
              <a:t>use:</a:t>
            </a:r>
          </a:p>
          <a:p>
            <a:pPr algn="just">
              <a:spcBef>
                <a:spcPts val="300"/>
              </a:spcBef>
              <a:spcAft>
                <a:spcPts val="300"/>
              </a:spcAft>
            </a:pPr>
            <a:r>
              <a:rPr lang="en-US" dirty="0" smtClean="0"/>
              <a:t>1. Usability Testing - </a:t>
            </a:r>
            <a:r>
              <a:rPr lang="en-US" dirty="0"/>
              <a:t>mainly focuses on the user's ease to use the application, flexibility in handling controls and ability of the system to meet its </a:t>
            </a:r>
            <a:r>
              <a:rPr lang="en-US" dirty="0" smtClean="0"/>
              <a:t>objectives.</a:t>
            </a:r>
          </a:p>
          <a:p>
            <a:pPr algn="just">
              <a:spcBef>
                <a:spcPts val="300"/>
              </a:spcBef>
              <a:spcAft>
                <a:spcPts val="300"/>
              </a:spcAft>
            </a:pPr>
            <a:r>
              <a:rPr lang="en-US" dirty="0" smtClean="0"/>
              <a:t>2. Load Testing - </a:t>
            </a:r>
            <a:r>
              <a:rPr lang="en-US" dirty="0"/>
              <a:t>is necessary to know that a software solution will perform under real-life loads.</a:t>
            </a:r>
          </a:p>
          <a:p>
            <a:pPr algn="just">
              <a:spcBef>
                <a:spcPts val="300"/>
              </a:spcBef>
              <a:spcAft>
                <a:spcPts val="300"/>
              </a:spcAft>
            </a:pPr>
            <a:r>
              <a:rPr lang="en-US" dirty="0" smtClean="0"/>
              <a:t>3. Regression Testing - </a:t>
            </a:r>
            <a:r>
              <a:rPr lang="en-US" dirty="0"/>
              <a:t>involves testing done to make sure none of the changes made over the course of the development process have caused new bugs. It also makes sure no old bugs appear from the addition of new software modules over time</a:t>
            </a:r>
            <a:r>
              <a:rPr lang="en-US" dirty="0" smtClean="0"/>
              <a:t>.</a:t>
            </a:r>
          </a:p>
          <a:p>
            <a:pPr algn="just">
              <a:spcBef>
                <a:spcPts val="300"/>
              </a:spcBef>
              <a:spcAft>
                <a:spcPts val="300"/>
              </a:spcAft>
            </a:pPr>
            <a:r>
              <a:rPr lang="en-US" dirty="0" smtClean="0"/>
              <a:t>4. Recovery </a:t>
            </a:r>
            <a:r>
              <a:rPr lang="en-US" dirty="0"/>
              <a:t>testing - is done to demonstrate a software solution is reliable, trustworthy and can successfully recoup from possible crashes</a:t>
            </a:r>
            <a:r>
              <a:rPr lang="en-US" dirty="0" smtClean="0"/>
              <a:t>.</a:t>
            </a:r>
          </a:p>
          <a:p>
            <a:pPr algn="just">
              <a:spcBef>
                <a:spcPts val="300"/>
              </a:spcBef>
              <a:spcAft>
                <a:spcPts val="300"/>
              </a:spcAft>
            </a:pPr>
            <a:r>
              <a:rPr lang="en-US" dirty="0" smtClean="0"/>
              <a:t>5. Migration </a:t>
            </a:r>
            <a:r>
              <a:rPr lang="en-US" dirty="0"/>
              <a:t>testing- is done to ensure that the software can be moved from older system infrastructures to current system infrastructures without any issues.</a:t>
            </a:r>
          </a:p>
          <a:p>
            <a:pPr algn="just">
              <a:spcBef>
                <a:spcPts val="300"/>
              </a:spcBef>
              <a:spcAft>
                <a:spcPts val="300"/>
              </a:spcAft>
            </a:pPr>
            <a:r>
              <a:rPr lang="en-US" dirty="0" smtClean="0"/>
              <a:t>6. Functional </a:t>
            </a:r>
            <a:r>
              <a:rPr lang="en-US" dirty="0"/>
              <a:t>Testing - Also known as functional completeness testing, Functional Testing involves trying to think of any possible missing functions. Testers might make a list of additional functionalities that a product could have to improve it during functional testing</a:t>
            </a:r>
            <a:r>
              <a:rPr lang="en-US" dirty="0" smtClean="0"/>
              <a:t>.</a:t>
            </a:r>
          </a:p>
          <a:p>
            <a:pPr algn="just">
              <a:spcBef>
                <a:spcPts val="300"/>
              </a:spcBef>
              <a:spcAft>
                <a:spcPts val="300"/>
              </a:spcAft>
            </a:pPr>
            <a:r>
              <a:rPr lang="en-US" dirty="0" smtClean="0"/>
              <a:t>7. Hardware/Software </a:t>
            </a:r>
            <a:r>
              <a:rPr lang="en-US" dirty="0"/>
              <a:t>Testing - IBM refers to Hardware/Software testing as "HW/SW Testing". This is when the tester focuses his/her attention on the interactions between the hardware and software during system testing</a:t>
            </a:r>
            <a:r>
              <a:rPr lang="en-US" dirty="0" smtClean="0"/>
              <a:t>.</a:t>
            </a:r>
            <a:endParaRPr lang="en-US" dirty="0"/>
          </a:p>
          <a:p>
            <a:endParaRPr lang="en-US" dirty="0"/>
          </a:p>
          <a:p>
            <a:endParaRPr lang="en-US" dirty="0"/>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176845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13. System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848029"/>
          </a:xfrm>
          <a:prstGeom prst="rect">
            <a:avLst/>
          </a:prstGeom>
          <a:noFill/>
        </p:spPr>
        <p:txBody>
          <a:bodyPr wrap="square" rtlCol="0">
            <a:spAutoFit/>
          </a:bodyPr>
          <a:lstStyle/>
          <a:p>
            <a:pPr algn="just">
              <a:lnSpc>
                <a:spcPct val="125000"/>
              </a:lnSpc>
              <a:spcBef>
                <a:spcPts val="600"/>
              </a:spcBef>
              <a:spcAft>
                <a:spcPts val="600"/>
              </a:spcAft>
            </a:pPr>
            <a:r>
              <a:rPr lang="en-US" b="1" dirty="0"/>
              <a:t>What Types of System Testing Should Testers Use?</a:t>
            </a:r>
          </a:p>
          <a:p>
            <a:pPr algn="just">
              <a:lnSpc>
                <a:spcPct val="125000"/>
              </a:lnSpc>
              <a:spcBef>
                <a:spcPts val="600"/>
              </a:spcBef>
              <a:spcAft>
                <a:spcPts val="600"/>
              </a:spcAft>
            </a:pPr>
            <a:r>
              <a:rPr lang="en-US" dirty="0"/>
              <a:t>The specific types used by a tester depend on several variables. Those variables include:</a:t>
            </a:r>
          </a:p>
          <a:p>
            <a:pPr algn="just">
              <a:lnSpc>
                <a:spcPct val="125000"/>
              </a:lnSpc>
              <a:spcBef>
                <a:spcPts val="600"/>
              </a:spcBef>
              <a:spcAft>
                <a:spcPts val="600"/>
              </a:spcAft>
            </a:pPr>
            <a:r>
              <a:rPr lang="en-US" dirty="0" smtClean="0"/>
              <a:t>- Who </a:t>
            </a:r>
            <a:r>
              <a:rPr lang="en-US" dirty="0"/>
              <a:t>the tester works for - This is a major factor in determining the types of system testing a tester will use. Methods used by large companies are different than that used by medium and small companies.</a:t>
            </a:r>
          </a:p>
          <a:p>
            <a:pPr algn="just">
              <a:lnSpc>
                <a:spcPct val="125000"/>
              </a:lnSpc>
              <a:spcBef>
                <a:spcPts val="600"/>
              </a:spcBef>
              <a:spcAft>
                <a:spcPts val="600"/>
              </a:spcAft>
            </a:pPr>
            <a:r>
              <a:rPr lang="en-US" dirty="0" smtClean="0"/>
              <a:t>- Time </a:t>
            </a:r>
            <a:r>
              <a:rPr lang="en-US" dirty="0"/>
              <a:t>available for testing - Ultimately, all 50 testing types could be used. Time is often what limits us to using only the types that are most relevant for the software project.</a:t>
            </a:r>
          </a:p>
          <a:p>
            <a:pPr algn="just">
              <a:lnSpc>
                <a:spcPct val="125000"/>
              </a:lnSpc>
              <a:spcBef>
                <a:spcPts val="600"/>
              </a:spcBef>
              <a:spcAft>
                <a:spcPts val="600"/>
              </a:spcAft>
            </a:pPr>
            <a:r>
              <a:rPr lang="en-US" dirty="0" smtClean="0"/>
              <a:t>- Resources </a:t>
            </a:r>
            <a:r>
              <a:rPr lang="en-US" dirty="0"/>
              <a:t>available to the tester - Of course some testers will not have the necessary resources to conduct a testing type. For example, if you are a tester working for a large software development firm, you are likely to have expensive automated testing software not available to others.</a:t>
            </a:r>
          </a:p>
          <a:p>
            <a:pPr algn="just">
              <a:lnSpc>
                <a:spcPct val="125000"/>
              </a:lnSpc>
              <a:spcBef>
                <a:spcPts val="600"/>
              </a:spcBef>
              <a:spcAft>
                <a:spcPts val="600"/>
              </a:spcAft>
            </a:pPr>
            <a:r>
              <a:rPr lang="en-US" dirty="0" smtClean="0"/>
              <a:t>- Software </a:t>
            </a:r>
            <a:r>
              <a:rPr lang="en-US" dirty="0"/>
              <a:t>Tester's Education- There is a certain learning curve for each type of software testing </a:t>
            </a:r>
            <a:r>
              <a:rPr lang="en-US" dirty="0" smtClean="0"/>
              <a:t>available. To </a:t>
            </a:r>
            <a:r>
              <a:rPr lang="en-US" dirty="0"/>
              <a:t>use some of the software involved, a tester has to learn how to use it.</a:t>
            </a:r>
          </a:p>
          <a:p>
            <a:pPr algn="just">
              <a:lnSpc>
                <a:spcPct val="125000"/>
              </a:lnSpc>
              <a:spcBef>
                <a:spcPts val="600"/>
              </a:spcBef>
              <a:spcAft>
                <a:spcPts val="600"/>
              </a:spcAft>
            </a:pPr>
            <a:r>
              <a:rPr lang="en-US" dirty="0" smtClean="0"/>
              <a:t>- Testing </a:t>
            </a:r>
            <a:r>
              <a:rPr lang="en-US" dirty="0"/>
              <a:t>Budget - Money becomes a factor not just for smaller companies and individual software developers but large companies as well. </a:t>
            </a:r>
          </a:p>
          <a:p>
            <a:endParaRPr lang="en-US" dirty="0"/>
          </a:p>
          <a:p>
            <a:endParaRPr lang="en-US" dirty="0"/>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9089870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4401205"/>
          </a:xfrm>
          <a:prstGeom prst="rect">
            <a:avLst/>
          </a:prstGeom>
          <a:noFill/>
        </p:spPr>
        <p:txBody>
          <a:bodyPr wrap="square" rtlCol="0">
            <a:spAutoFit/>
          </a:bodyPr>
          <a:lstStyle/>
          <a:p>
            <a:pPr algn="just">
              <a:lnSpc>
                <a:spcPct val="125000"/>
              </a:lnSpc>
              <a:spcBef>
                <a:spcPts val="600"/>
              </a:spcBef>
              <a:spcAft>
                <a:spcPts val="600"/>
              </a:spcAft>
            </a:pPr>
            <a:r>
              <a:rPr lang="en-US" b="1" dirty="0" smtClean="0"/>
              <a:t>	User </a:t>
            </a:r>
            <a:r>
              <a:rPr lang="en-US" b="1" dirty="0"/>
              <a:t>Acceptance Testing (UAT)</a:t>
            </a:r>
            <a:r>
              <a:rPr lang="en-US" dirty="0"/>
              <a:t> is a type of testing performed by the end user or the client to verify/accept the software system before moving the software application to the production environment. UAT is done in the final phase of testing after functional, integration and system testing is done. </a:t>
            </a:r>
          </a:p>
          <a:p>
            <a:r>
              <a:rPr lang="en-US" dirty="0" smtClean="0"/>
              <a:t>	The </a:t>
            </a:r>
            <a:r>
              <a:rPr lang="en-US" dirty="0"/>
              <a:t>main </a:t>
            </a:r>
            <a:r>
              <a:rPr lang="en-US" b="1" dirty="0"/>
              <a:t>Purpose of UAT</a:t>
            </a:r>
            <a:r>
              <a:rPr lang="en-US" dirty="0"/>
              <a:t> is to validate end to end business flow. It does not focus on cosmetic errors, spelling mistakes or system testing. User Acceptance Testing is carried out in a separate testing environment with production-like data setup. It is kind of black box testing where two or more end-users will be involved</a:t>
            </a:r>
            <a:r>
              <a:rPr lang="en-US" dirty="0" smtClean="0"/>
              <a:t>.</a:t>
            </a:r>
          </a:p>
          <a:p>
            <a:endParaRPr lang="en-US" dirty="0"/>
          </a:p>
          <a:p>
            <a:r>
              <a:rPr lang="en-US" dirty="0" smtClean="0"/>
              <a:t>	</a:t>
            </a:r>
            <a:r>
              <a:rPr lang="en-US" b="1" dirty="0"/>
              <a:t>Who Performs UAT</a:t>
            </a:r>
            <a:r>
              <a:rPr lang="en-US" b="1" dirty="0" smtClean="0"/>
              <a:t>? =&gt; That is Clients, End User</a:t>
            </a:r>
            <a:endParaRPr lang="en-US" b="1" dirty="0"/>
          </a:p>
          <a:p>
            <a:endParaRPr lang="en-US" dirty="0"/>
          </a:p>
          <a:p>
            <a:endParaRPr lang="en-US" dirty="0"/>
          </a:p>
          <a:p>
            <a:endParaRPr lang="en-US" dirty="0"/>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4324334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5847755"/>
          </a:xfrm>
          <a:prstGeom prst="rect">
            <a:avLst/>
          </a:prstGeom>
          <a:noFill/>
        </p:spPr>
        <p:txBody>
          <a:bodyPr wrap="square" rtlCol="0">
            <a:spAutoFit/>
          </a:bodyPr>
          <a:lstStyle/>
          <a:p>
            <a:pPr algn="just">
              <a:lnSpc>
                <a:spcPct val="125000"/>
              </a:lnSpc>
              <a:spcBef>
                <a:spcPts val="600"/>
              </a:spcBef>
              <a:spcAft>
                <a:spcPts val="600"/>
              </a:spcAft>
            </a:pPr>
            <a:r>
              <a:rPr lang="en-US" b="1" dirty="0"/>
              <a:t>Need of User Acceptance </a:t>
            </a:r>
            <a:r>
              <a:rPr lang="en-US" b="1" dirty="0" smtClean="0"/>
              <a:t>Testing:</a:t>
            </a:r>
          </a:p>
          <a:p>
            <a:pPr algn="just">
              <a:lnSpc>
                <a:spcPct val="125000"/>
              </a:lnSpc>
              <a:spcBef>
                <a:spcPts val="600"/>
              </a:spcBef>
              <a:spcAft>
                <a:spcPts val="600"/>
              </a:spcAft>
            </a:pPr>
            <a:r>
              <a:rPr lang="en-US" b="1" dirty="0" smtClean="0"/>
              <a:t>	Need </a:t>
            </a:r>
            <a:r>
              <a:rPr lang="en-US" b="1" dirty="0"/>
              <a:t>of User Acceptance Testing</a:t>
            </a:r>
            <a:r>
              <a:rPr lang="en-US" dirty="0"/>
              <a:t> arises once software has undergone Unit, Integration and System testing because developers might have built software based on requirements document by their own understanding and further required changes during development may not be effectively communicated to them, so for testing whether the final product is accepted by client/end-user, user acceptance testing is needed</a:t>
            </a:r>
            <a:r>
              <a:rPr lang="en-US" dirty="0" smtClean="0"/>
              <a:t>.</a:t>
            </a:r>
          </a:p>
          <a:p>
            <a:pPr algn="just">
              <a:lnSpc>
                <a:spcPct val="125000"/>
              </a:lnSpc>
              <a:spcBef>
                <a:spcPts val="600"/>
              </a:spcBef>
              <a:spcAft>
                <a:spcPts val="600"/>
              </a:spcAft>
            </a:pPr>
            <a:r>
              <a:rPr lang="en-US" dirty="0" smtClean="0"/>
              <a:t>- Developers </a:t>
            </a:r>
            <a:r>
              <a:rPr lang="en-US" dirty="0"/>
              <a:t>code software based on requirements document which is their "own" understanding of the requirements and </a:t>
            </a:r>
            <a:r>
              <a:rPr lang="en-US" b="1" dirty="0"/>
              <a:t>may not actually be what the client needs from the software</a:t>
            </a:r>
            <a:r>
              <a:rPr lang="en-US" dirty="0"/>
              <a:t>.</a:t>
            </a:r>
          </a:p>
          <a:p>
            <a:pPr algn="just">
              <a:lnSpc>
                <a:spcPct val="125000"/>
              </a:lnSpc>
              <a:spcBef>
                <a:spcPts val="600"/>
              </a:spcBef>
              <a:spcAft>
                <a:spcPts val="600"/>
              </a:spcAft>
            </a:pPr>
            <a:r>
              <a:rPr lang="en-US" dirty="0" smtClean="0"/>
              <a:t>- Requirements </a:t>
            </a:r>
            <a:r>
              <a:rPr lang="en-US" dirty="0"/>
              <a:t>changes during the course of the project may not be communicated effectively to the developers.</a:t>
            </a:r>
          </a:p>
          <a:p>
            <a:pPr algn="just">
              <a:lnSpc>
                <a:spcPct val="125000"/>
              </a:lnSpc>
              <a:spcBef>
                <a:spcPts val="600"/>
              </a:spcBef>
              <a:spcAft>
                <a:spcPts val="600"/>
              </a:spcAft>
            </a:pPr>
            <a:endParaRPr lang="en-US" dirty="0"/>
          </a:p>
          <a:p>
            <a:endParaRPr lang="en-US" dirty="0"/>
          </a:p>
          <a:p>
            <a:endParaRPr lang="en-US" dirty="0"/>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7216163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2192908"/>
          </a:xfrm>
          <a:prstGeom prst="rect">
            <a:avLst/>
          </a:prstGeom>
          <a:noFill/>
        </p:spPr>
        <p:txBody>
          <a:bodyPr wrap="square" rtlCol="0">
            <a:spAutoFit/>
          </a:bodyPr>
          <a:lstStyle/>
          <a:p>
            <a:r>
              <a:rPr lang="en-US" b="1" dirty="0"/>
              <a:t>Acceptance Testing and </a:t>
            </a:r>
            <a:r>
              <a:rPr lang="en-US" b="1" dirty="0" smtClean="0"/>
              <a:t>V-Model:</a:t>
            </a:r>
            <a:endParaRPr lang="en-US" b="1" dirty="0"/>
          </a:p>
          <a:p>
            <a:pPr algn="just">
              <a:lnSpc>
                <a:spcPct val="125000"/>
              </a:lnSpc>
              <a:spcBef>
                <a:spcPts val="600"/>
              </a:spcBef>
              <a:spcAft>
                <a:spcPts val="600"/>
              </a:spcAft>
            </a:pPr>
            <a:r>
              <a:rPr lang="en-US" dirty="0"/>
              <a:t>In </a:t>
            </a:r>
            <a:r>
              <a:rPr lang="en-US" dirty="0" err="1"/>
              <a:t>VModel</a:t>
            </a:r>
            <a:r>
              <a:rPr lang="en-US" dirty="0"/>
              <a:t>, User acceptance testing corresponds to the requirement phase of the Software Development life cycle(SDLC).</a:t>
            </a:r>
          </a:p>
          <a:p>
            <a:endParaRPr lang="en-US" dirty="0"/>
          </a:p>
          <a:p>
            <a:endParaRPr lang="en-US" b="1" dirty="0" smtClean="0"/>
          </a:p>
          <a:p>
            <a:pPr algn="just">
              <a:lnSpc>
                <a:spcPct val="125000"/>
              </a:lnSpc>
              <a:spcBef>
                <a:spcPts val="600"/>
              </a:spcBef>
              <a:spcAft>
                <a:spcPts val="600"/>
              </a:spcAft>
            </a:pPr>
            <a:endParaRPr lang="en-US" b="1" dirty="0"/>
          </a:p>
        </p:txBody>
      </p:sp>
      <p:pic>
        <p:nvPicPr>
          <p:cNvPr id="2" name="Picture 1"/>
          <p:cNvPicPr>
            <a:picLocks noChangeAspect="1"/>
          </p:cNvPicPr>
          <p:nvPr/>
        </p:nvPicPr>
        <p:blipFill>
          <a:blip r:embed="rId3"/>
          <a:stretch>
            <a:fillRect/>
          </a:stretch>
        </p:blipFill>
        <p:spPr>
          <a:xfrm>
            <a:off x="3753086" y="2442427"/>
            <a:ext cx="4677428" cy="3362794"/>
          </a:xfrm>
          <a:prstGeom prst="rect">
            <a:avLst/>
          </a:prstGeom>
        </p:spPr>
      </p:pic>
    </p:spTree>
    <p:extLst>
      <p:ext uri="{BB962C8B-B14F-4D97-AF65-F5344CB8AC3E}">
        <p14:creationId xmlns:p14="http://schemas.microsoft.com/office/powerpoint/2010/main" val="296610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594113"/>
          </a:xfrm>
          <a:prstGeom prst="rect">
            <a:avLst/>
          </a:prstGeom>
          <a:noFill/>
        </p:spPr>
        <p:txBody>
          <a:bodyPr wrap="square" rtlCol="0">
            <a:spAutoFit/>
          </a:bodyPr>
          <a:lstStyle/>
          <a:p>
            <a:pPr algn="just">
              <a:spcBef>
                <a:spcPts val="600"/>
              </a:spcBef>
              <a:spcAft>
                <a:spcPts val="600"/>
              </a:spcAft>
            </a:pPr>
            <a:r>
              <a:rPr lang="en-US" b="1" dirty="0"/>
              <a:t>Acceptance Testing and </a:t>
            </a:r>
            <a:r>
              <a:rPr lang="en-US" b="1" dirty="0" smtClean="0"/>
              <a:t>V-Model:</a:t>
            </a:r>
            <a:endParaRPr lang="en-US" b="1" dirty="0"/>
          </a:p>
          <a:p>
            <a:pPr algn="just">
              <a:spcBef>
                <a:spcPts val="600"/>
              </a:spcBef>
              <a:spcAft>
                <a:spcPts val="600"/>
              </a:spcAft>
            </a:pPr>
            <a:r>
              <a:rPr lang="en-US" b="1" dirty="0"/>
              <a:t>Prerequisites of User Acceptance Testing:</a:t>
            </a:r>
          </a:p>
          <a:p>
            <a:pPr algn="just">
              <a:spcBef>
                <a:spcPts val="600"/>
              </a:spcBef>
              <a:spcAft>
                <a:spcPts val="600"/>
              </a:spcAft>
            </a:pPr>
            <a:r>
              <a:rPr lang="en-US" dirty="0"/>
              <a:t>Following are the entry criteria for User Acceptance Testing:</a:t>
            </a:r>
          </a:p>
          <a:p>
            <a:pPr algn="just">
              <a:spcBef>
                <a:spcPts val="600"/>
              </a:spcBef>
              <a:spcAft>
                <a:spcPts val="600"/>
              </a:spcAft>
            </a:pPr>
            <a:r>
              <a:rPr lang="en-US" dirty="0" smtClean="0"/>
              <a:t>- Business </a:t>
            </a:r>
            <a:r>
              <a:rPr lang="en-US" dirty="0"/>
              <a:t>Requirements must be available.</a:t>
            </a:r>
          </a:p>
          <a:p>
            <a:pPr algn="just">
              <a:spcBef>
                <a:spcPts val="600"/>
              </a:spcBef>
              <a:spcAft>
                <a:spcPts val="600"/>
              </a:spcAft>
            </a:pPr>
            <a:r>
              <a:rPr lang="en-US" dirty="0" smtClean="0"/>
              <a:t>- Application </a:t>
            </a:r>
            <a:r>
              <a:rPr lang="en-US" dirty="0"/>
              <a:t>Code should be fully developed</a:t>
            </a:r>
          </a:p>
          <a:p>
            <a:pPr algn="just">
              <a:spcBef>
                <a:spcPts val="600"/>
              </a:spcBef>
              <a:spcAft>
                <a:spcPts val="600"/>
              </a:spcAft>
            </a:pPr>
            <a:r>
              <a:rPr lang="en-US" dirty="0" smtClean="0"/>
              <a:t>- Unit </a:t>
            </a:r>
            <a:r>
              <a:rPr lang="en-US" dirty="0"/>
              <a:t>Testing, Integration Testing &amp; System Testing should be completed</a:t>
            </a:r>
          </a:p>
          <a:p>
            <a:pPr algn="just">
              <a:spcBef>
                <a:spcPts val="600"/>
              </a:spcBef>
              <a:spcAft>
                <a:spcPts val="600"/>
              </a:spcAft>
            </a:pPr>
            <a:r>
              <a:rPr lang="en-US" dirty="0" smtClean="0"/>
              <a:t>- No </a:t>
            </a:r>
            <a:r>
              <a:rPr lang="en-US" dirty="0"/>
              <a:t>Showstoppers, High, Medium defects in System Integration Test Phase -</a:t>
            </a:r>
          </a:p>
          <a:p>
            <a:pPr algn="just">
              <a:spcBef>
                <a:spcPts val="600"/>
              </a:spcBef>
              <a:spcAft>
                <a:spcPts val="600"/>
              </a:spcAft>
            </a:pPr>
            <a:r>
              <a:rPr lang="en-US" dirty="0" smtClean="0"/>
              <a:t>- Only </a:t>
            </a:r>
            <a:r>
              <a:rPr lang="en-US" dirty="0"/>
              <a:t>Cosmetic error is acceptable before UAT</a:t>
            </a:r>
          </a:p>
          <a:p>
            <a:pPr algn="just">
              <a:spcBef>
                <a:spcPts val="600"/>
              </a:spcBef>
              <a:spcAft>
                <a:spcPts val="600"/>
              </a:spcAft>
            </a:pPr>
            <a:r>
              <a:rPr lang="en-US" dirty="0" smtClean="0"/>
              <a:t>- Regression </a:t>
            </a:r>
            <a:r>
              <a:rPr lang="en-US" dirty="0"/>
              <a:t>Testing should be completed with no major defects</a:t>
            </a:r>
          </a:p>
          <a:p>
            <a:pPr algn="just">
              <a:spcBef>
                <a:spcPts val="600"/>
              </a:spcBef>
              <a:spcAft>
                <a:spcPts val="600"/>
              </a:spcAft>
            </a:pPr>
            <a:r>
              <a:rPr lang="en-US" dirty="0" smtClean="0"/>
              <a:t>- All </a:t>
            </a:r>
            <a:r>
              <a:rPr lang="en-US" dirty="0"/>
              <a:t>the reported defects should be fixed and tested before UAT</a:t>
            </a:r>
          </a:p>
          <a:p>
            <a:pPr algn="just">
              <a:spcBef>
                <a:spcPts val="600"/>
              </a:spcBef>
              <a:spcAft>
                <a:spcPts val="600"/>
              </a:spcAft>
            </a:pPr>
            <a:r>
              <a:rPr lang="en-US" dirty="0" smtClean="0"/>
              <a:t>- Traceability </a:t>
            </a:r>
            <a:r>
              <a:rPr lang="en-US" dirty="0"/>
              <a:t>matrix for all testing should be completed</a:t>
            </a:r>
          </a:p>
          <a:p>
            <a:pPr algn="just">
              <a:spcBef>
                <a:spcPts val="600"/>
              </a:spcBef>
              <a:spcAft>
                <a:spcPts val="600"/>
              </a:spcAft>
            </a:pPr>
            <a:r>
              <a:rPr lang="en-US" dirty="0" smtClean="0"/>
              <a:t>- UAT </a:t>
            </a:r>
            <a:r>
              <a:rPr lang="en-US" dirty="0"/>
              <a:t>Environment must be ready</a:t>
            </a:r>
          </a:p>
          <a:p>
            <a:pPr algn="just">
              <a:spcBef>
                <a:spcPts val="600"/>
              </a:spcBef>
              <a:spcAft>
                <a:spcPts val="600"/>
              </a:spcAft>
            </a:pPr>
            <a:r>
              <a:rPr lang="en-US" dirty="0" smtClean="0"/>
              <a:t>- Sign </a:t>
            </a:r>
            <a:r>
              <a:rPr lang="en-US" dirty="0"/>
              <a:t>off mail or communication from System Testing Team that the system is ready for UAT execution</a:t>
            </a:r>
          </a:p>
          <a:p>
            <a:endParaRPr lang="en-US" dirty="0"/>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9310891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2408352"/>
          </a:xfrm>
          <a:prstGeom prst="rect">
            <a:avLst/>
          </a:prstGeom>
          <a:noFill/>
        </p:spPr>
        <p:txBody>
          <a:bodyPr wrap="square" rtlCol="0">
            <a:spAutoFit/>
          </a:bodyPr>
          <a:lstStyle/>
          <a:p>
            <a:pPr algn="just">
              <a:lnSpc>
                <a:spcPct val="125000"/>
              </a:lnSpc>
              <a:spcBef>
                <a:spcPts val="600"/>
              </a:spcBef>
              <a:spcAft>
                <a:spcPts val="600"/>
              </a:spcAft>
            </a:pPr>
            <a:r>
              <a:rPr lang="en-US" b="1" dirty="0"/>
              <a:t>How to do UAT Testing</a:t>
            </a:r>
          </a:p>
          <a:p>
            <a:pPr algn="just">
              <a:lnSpc>
                <a:spcPct val="125000"/>
              </a:lnSpc>
              <a:spcBef>
                <a:spcPts val="600"/>
              </a:spcBef>
              <a:spcAft>
                <a:spcPts val="600"/>
              </a:spcAft>
            </a:pPr>
            <a:r>
              <a:rPr lang="en-US" dirty="0" smtClean="0"/>
              <a:t>	UAT </a:t>
            </a:r>
            <a:r>
              <a:rPr lang="en-US" dirty="0"/>
              <a:t>is done by the intended users of the system or software. This type of Software Testing usually happens at the client location which is known as Beta Testing. Once Entry criteria for UAT are satisfied, following are the tasks need to be performed by the testers:</a:t>
            </a:r>
          </a:p>
          <a:p>
            <a:endParaRPr lang="en-US" b="1" dirty="0" smtClean="0"/>
          </a:p>
          <a:p>
            <a:pPr algn="just">
              <a:lnSpc>
                <a:spcPct val="125000"/>
              </a:lnSpc>
              <a:spcBef>
                <a:spcPts val="600"/>
              </a:spcBef>
              <a:spcAft>
                <a:spcPts val="600"/>
              </a:spcAft>
            </a:pPr>
            <a:endParaRPr lang="en-US" b="1" dirty="0"/>
          </a:p>
        </p:txBody>
      </p:sp>
      <p:pic>
        <p:nvPicPr>
          <p:cNvPr id="2" name="Picture 1"/>
          <p:cNvPicPr>
            <a:picLocks noChangeAspect="1"/>
          </p:cNvPicPr>
          <p:nvPr/>
        </p:nvPicPr>
        <p:blipFill>
          <a:blip r:embed="rId3"/>
          <a:stretch>
            <a:fillRect/>
          </a:stretch>
        </p:blipFill>
        <p:spPr>
          <a:xfrm>
            <a:off x="3179384" y="2841612"/>
            <a:ext cx="5591955" cy="3439005"/>
          </a:xfrm>
          <a:prstGeom prst="rect">
            <a:avLst/>
          </a:prstGeom>
        </p:spPr>
      </p:pic>
    </p:spTree>
    <p:extLst>
      <p:ext uri="{BB962C8B-B14F-4D97-AF65-F5344CB8AC3E}">
        <p14:creationId xmlns:p14="http://schemas.microsoft.com/office/powerpoint/2010/main" val="521411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P6</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5855449"/>
          </a:xfrm>
          <a:prstGeom prst="rect">
            <a:avLst/>
          </a:prstGeom>
          <a:noFill/>
        </p:spPr>
        <p:txBody>
          <a:bodyPr wrap="square" rtlCol="0">
            <a:spAutoFit/>
          </a:bodyPr>
          <a:lstStyle/>
          <a:p>
            <a:pPr algn="just">
              <a:spcBef>
                <a:spcPts val="600"/>
              </a:spcBef>
              <a:spcAft>
                <a:spcPts val="600"/>
              </a:spcAft>
            </a:pPr>
            <a:r>
              <a:rPr lang="en-US" b="1" dirty="0"/>
              <a:t>How to do UAT Testing</a:t>
            </a:r>
          </a:p>
          <a:p>
            <a:pPr algn="just">
              <a:spcBef>
                <a:spcPts val="600"/>
              </a:spcBef>
              <a:spcAft>
                <a:spcPts val="600"/>
              </a:spcAft>
            </a:pPr>
            <a:r>
              <a:rPr lang="en-US" b="1" dirty="0"/>
              <a:t>Step </a:t>
            </a:r>
            <a:r>
              <a:rPr lang="en-US" b="1" dirty="0" smtClean="0"/>
              <a:t>1: </a:t>
            </a:r>
            <a:r>
              <a:rPr lang="en-US" b="1" dirty="0"/>
              <a:t>Analysis of Business Requirements</a:t>
            </a:r>
          </a:p>
          <a:p>
            <a:pPr algn="just">
              <a:spcBef>
                <a:spcPts val="600"/>
              </a:spcBef>
              <a:spcAft>
                <a:spcPts val="600"/>
              </a:spcAft>
            </a:pPr>
            <a:r>
              <a:rPr lang="en-US" dirty="0"/>
              <a:t>One of the most important activities in the UAT is to identify and develop test scenarios. These test scenarios are derived from the following documents:</a:t>
            </a:r>
          </a:p>
          <a:p>
            <a:pPr algn="just">
              <a:spcBef>
                <a:spcPts val="600"/>
              </a:spcBef>
              <a:spcAft>
                <a:spcPts val="600"/>
              </a:spcAft>
            </a:pPr>
            <a:r>
              <a:rPr lang="en-US" dirty="0" smtClean="0"/>
              <a:t>- Project </a:t>
            </a:r>
            <a:r>
              <a:rPr lang="en-US" dirty="0"/>
              <a:t>Charter</a:t>
            </a:r>
          </a:p>
          <a:p>
            <a:pPr algn="just">
              <a:spcBef>
                <a:spcPts val="600"/>
              </a:spcBef>
              <a:spcAft>
                <a:spcPts val="600"/>
              </a:spcAft>
            </a:pPr>
            <a:r>
              <a:rPr lang="en-US" dirty="0" smtClean="0"/>
              <a:t>- Business </a:t>
            </a:r>
            <a:r>
              <a:rPr lang="en-US" dirty="0"/>
              <a:t>Use Cases</a:t>
            </a:r>
          </a:p>
          <a:p>
            <a:pPr algn="just">
              <a:spcBef>
                <a:spcPts val="600"/>
              </a:spcBef>
              <a:spcAft>
                <a:spcPts val="600"/>
              </a:spcAft>
            </a:pPr>
            <a:r>
              <a:rPr lang="en-US" dirty="0" smtClean="0"/>
              <a:t>- Process </a:t>
            </a:r>
            <a:r>
              <a:rPr lang="en-US" dirty="0"/>
              <a:t>Flow Diagrams</a:t>
            </a:r>
          </a:p>
          <a:p>
            <a:pPr algn="just">
              <a:spcBef>
                <a:spcPts val="600"/>
              </a:spcBef>
              <a:spcAft>
                <a:spcPts val="600"/>
              </a:spcAft>
            </a:pPr>
            <a:r>
              <a:rPr lang="en-US" dirty="0" smtClean="0"/>
              <a:t>- Business </a:t>
            </a:r>
            <a:r>
              <a:rPr lang="en-US" dirty="0"/>
              <a:t>Requirements Document(BRD)</a:t>
            </a:r>
          </a:p>
          <a:p>
            <a:pPr algn="just">
              <a:spcBef>
                <a:spcPts val="600"/>
              </a:spcBef>
              <a:spcAft>
                <a:spcPts val="600"/>
              </a:spcAft>
            </a:pPr>
            <a:r>
              <a:rPr lang="en-US" dirty="0" smtClean="0"/>
              <a:t>- System </a:t>
            </a:r>
            <a:r>
              <a:rPr lang="en-US" dirty="0"/>
              <a:t>Requirements Specification(SRS)</a:t>
            </a:r>
          </a:p>
          <a:p>
            <a:pPr algn="just">
              <a:spcBef>
                <a:spcPts val="600"/>
              </a:spcBef>
              <a:spcAft>
                <a:spcPts val="600"/>
              </a:spcAft>
            </a:pPr>
            <a:r>
              <a:rPr lang="en-US" b="1" dirty="0"/>
              <a:t>Step </a:t>
            </a:r>
            <a:r>
              <a:rPr lang="en-US" b="1" dirty="0" smtClean="0"/>
              <a:t>2: </a:t>
            </a:r>
            <a:r>
              <a:rPr lang="en-US" b="1" dirty="0"/>
              <a:t>Creation of UAT Plan:</a:t>
            </a:r>
          </a:p>
          <a:p>
            <a:pPr algn="just">
              <a:spcBef>
                <a:spcPts val="600"/>
              </a:spcBef>
              <a:spcAft>
                <a:spcPts val="600"/>
              </a:spcAft>
            </a:pPr>
            <a:r>
              <a:rPr lang="en-US" dirty="0"/>
              <a:t>The UAT test plan outlines the strategy that will be used to verify and ensure an application meets its business requirements. It documents entry and </a:t>
            </a:r>
            <a:r>
              <a:rPr lang="en-US" b="1" dirty="0"/>
              <a:t>exit criteria for UAT, Test scenarios and test cases approach and timelines of testing</a:t>
            </a:r>
            <a:r>
              <a:rPr lang="en-US" dirty="0"/>
              <a:t>.</a:t>
            </a:r>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3566317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P7</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255559"/>
          </a:xfrm>
          <a:prstGeom prst="rect">
            <a:avLst/>
          </a:prstGeom>
          <a:noFill/>
        </p:spPr>
        <p:txBody>
          <a:bodyPr wrap="square" rtlCol="0">
            <a:spAutoFit/>
          </a:bodyPr>
          <a:lstStyle/>
          <a:p>
            <a:pPr algn="just">
              <a:spcBef>
                <a:spcPts val="600"/>
              </a:spcBef>
              <a:spcAft>
                <a:spcPts val="600"/>
              </a:spcAft>
            </a:pPr>
            <a:r>
              <a:rPr lang="en-US" b="1" dirty="0"/>
              <a:t>How to do UAT Testing</a:t>
            </a:r>
          </a:p>
          <a:p>
            <a:pPr algn="just">
              <a:spcBef>
                <a:spcPts val="600"/>
              </a:spcBef>
              <a:spcAft>
                <a:spcPts val="600"/>
              </a:spcAft>
            </a:pPr>
            <a:r>
              <a:rPr lang="en-US" b="1" dirty="0"/>
              <a:t>Step </a:t>
            </a:r>
            <a:r>
              <a:rPr lang="en-US" b="1" dirty="0" smtClean="0"/>
              <a:t>3: </a:t>
            </a:r>
            <a:r>
              <a:rPr lang="en-US" b="1" dirty="0"/>
              <a:t>Identify Test Scenarios and Test Cases:</a:t>
            </a:r>
          </a:p>
          <a:p>
            <a:pPr algn="just">
              <a:spcBef>
                <a:spcPts val="600"/>
              </a:spcBef>
              <a:spcAft>
                <a:spcPts val="600"/>
              </a:spcAft>
            </a:pPr>
            <a:r>
              <a:rPr lang="en-US" dirty="0"/>
              <a:t>Identify the test scenarios with respect to high-level business process and create test cases with clear test steps. Test Cases should sufficiently cover most of the UAT scenarios. Business Use cases are input for creating the test cases.</a:t>
            </a:r>
          </a:p>
          <a:p>
            <a:pPr algn="just">
              <a:spcBef>
                <a:spcPts val="600"/>
              </a:spcBef>
              <a:spcAft>
                <a:spcPts val="600"/>
              </a:spcAft>
            </a:pPr>
            <a:r>
              <a:rPr lang="en-US" b="1" dirty="0"/>
              <a:t>Step </a:t>
            </a:r>
            <a:r>
              <a:rPr lang="en-US" b="1" dirty="0" smtClean="0"/>
              <a:t>4: </a:t>
            </a:r>
            <a:r>
              <a:rPr lang="en-US" b="1" dirty="0"/>
              <a:t>Preparation of Test Data:</a:t>
            </a:r>
          </a:p>
          <a:p>
            <a:pPr algn="just">
              <a:spcBef>
                <a:spcPts val="600"/>
              </a:spcBef>
              <a:spcAft>
                <a:spcPts val="600"/>
              </a:spcAft>
            </a:pPr>
            <a:r>
              <a:rPr lang="en-US" dirty="0"/>
              <a:t>It is best advised to use live data for UAT. Data should be scrambled for privacy and security reasons. Tester should be familiar with the database flow.</a:t>
            </a:r>
          </a:p>
          <a:p>
            <a:pPr algn="just">
              <a:spcBef>
                <a:spcPts val="600"/>
              </a:spcBef>
              <a:spcAft>
                <a:spcPts val="600"/>
              </a:spcAft>
            </a:pPr>
            <a:r>
              <a:rPr lang="en-US" b="1" dirty="0"/>
              <a:t>Step </a:t>
            </a:r>
            <a:r>
              <a:rPr lang="en-US" b="1" dirty="0" smtClean="0"/>
              <a:t>5: </a:t>
            </a:r>
            <a:r>
              <a:rPr lang="en-US" b="1" dirty="0"/>
              <a:t>Run and record the results:</a:t>
            </a:r>
          </a:p>
          <a:p>
            <a:pPr algn="just">
              <a:spcBef>
                <a:spcPts val="600"/>
              </a:spcBef>
              <a:spcAft>
                <a:spcPts val="600"/>
              </a:spcAft>
            </a:pPr>
            <a:r>
              <a:rPr lang="en-US" dirty="0"/>
              <a:t>Execute test cases and report bugs if any. Re-test bugs once fixed. Test Management tools can be used for execution.</a:t>
            </a:r>
          </a:p>
          <a:p>
            <a:pPr algn="just">
              <a:spcBef>
                <a:spcPts val="600"/>
              </a:spcBef>
              <a:spcAft>
                <a:spcPts val="600"/>
              </a:spcAft>
            </a:pPr>
            <a:r>
              <a:rPr lang="en-US" b="1" dirty="0"/>
              <a:t>Step </a:t>
            </a:r>
            <a:r>
              <a:rPr lang="en-US" b="1" dirty="0" smtClean="0"/>
              <a:t>6: </a:t>
            </a:r>
            <a:r>
              <a:rPr lang="en-US" b="1" dirty="0"/>
              <a:t>Confirm Business Objectives met:</a:t>
            </a:r>
          </a:p>
          <a:p>
            <a:pPr algn="just">
              <a:spcBef>
                <a:spcPts val="600"/>
              </a:spcBef>
              <a:spcAft>
                <a:spcPts val="600"/>
              </a:spcAft>
            </a:pPr>
            <a:r>
              <a:rPr lang="en-US" dirty="0"/>
              <a:t>Business Analysts or UAT Testers needs to send a sign off mail after the UAT testing. After sign-off, the product is good to go for production. Deliverables for UAT testing are Test Plan, UAT Scenarios and Test Cases, Test Results and Defect Log</a:t>
            </a:r>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1357867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14. Acceptance Testing – P8</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216265"/>
          </a:xfrm>
          <a:prstGeom prst="rect">
            <a:avLst/>
          </a:prstGeom>
          <a:noFill/>
        </p:spPr>
        <p:txBody>
          <a:bodyPr wrap="square" rtlCol="0">
            <a:spAutoFit/>
          </a:bodyPr>
          <a:lstStyle/>
          <a:p>
            <a:pPr algn="just">
              <a:lnSpc>
                <a:spcPct val="125000"/>
              </a:lnSpc>
              <a:spcBef>
                <a:spcPts val="600"/>
              </a:spcBef>
              <a:spcAft>
                <a:spcPts val="600"/>
              </a:spcAft>
            </a:pPr>
            <a:r>
              <a:rPr lang="en-US" b="1" dirty="0"/>
              <a:t>Exit criteria for UAT:</a:t>
            </a:r>
          </a:p>
          <a:p>
            <a:pPr algn="just">
              <a:lnSpc>
                <a:spcPct val="125000"/>
              </a:lnSpc>
              <a:spcBef>
                <a:spcPts val="600"/>
              </a:spcBef>
              <a:spcAft>
                <a:spcPts val="600"/>
              </a:spcAft>
            </a:pPr>
            <a:r>
              <a:rPr lang="en-US" dirty="0"/>
              <a:t>Before moving into production, following needs to be considered:</a:t>
            </a:r>
          </a:p>
          <a:p>
            <a:pPr algn="just">
              <a:lnSpc>
                <a:spcPct val="125000"/>
              </a:lnSpc>
              <a:spcBef>
                <a:spcPts val="600"/>
              </a:spcBef>
              <a:spcAft>
                <a:spcPts val="600"/>
              </a:spcAft>
            </a:pPr>
            <a:r>
              <a:rPr lang="en-US" dirty="0" smtClean="0"/>
              <a:t>- No </a:t>
            </a:r>
            <a:r>
              <a:rPr lang="en-US" dirty="0"/>
              <a:t>critical defects open</a:t>
            </a:r>
          </a:p>
          <a:p>
            <a:pPr algn="just">
              <a:lnSpc>
                <a:spcPct val="125000"/>
              </a:lnSpc>
              <a:spcBef>
                <a:spcPts val="600"/>
              </a:spcBef>
              <a:spcAft>
                <a:spcPts val="600"/>
              </a:spcAft>
            </a:pPr>
            <a:r>
              <a:rPr lang="en-US" dirty="0" smtClean="0"/>
              <a:t>- Business </a:t>
            </a:r>
            <a:r>
              <a:rPr lang="en-US" dirty="0"/>
              <a:t>process works satisfactorily</a:t>
            </a:r>
          </a:p>
          <a:p>
            <a:pPr algn="just">
              <a:lnSpc>
                <a:spcPct val="125000"/>
              </a:lnSpc>
              <a:spcBef>
                <a:spcPts val="600"/>
              </a:spcBef>
              <a:spcAft>
                <a:spcPts val="600"/>
              </a:spcAft>
            </a:pPr>
            <a:r>
              <a:rPr lang="en-US" dirty="0" smtClean="0"/>
              <a:t>- UAT </a:t>
            </a:r>
            <a:r>
              <a:rPr lang="en-US" dirty="0"/>
              <a:t>Sign off meeting with all stakeholders</a:t>
            </a:r>
          </a:p>
          <a:p>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6595083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15. Regression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017032"/>
          </a:xfrm>
          <a:prstGeom prst="rect">
            <a:avLst/>
          </a:prstGeom>
          <a:noFill/>
        </p:spPr>
        <p:txBody>
          <a:bodyPr wrap="square" rtlCol="0">
            <a:spAutoFit/>
          </a:bodyPr>
          <a:lstStyle/>
          <a:p>
            <a:pPr algn="just">
              <a:lnSpc>
                <a:spcPct val="125000"/>
              </a:lnSpc>
              <a:spcBef>
                <a:spcPts val="600"/>
              </a:spcBef>
              <a:spcAft>
                <a:spcPts val="600"/>
              </a:spcAft>
            </a:pPr>
            <a:r>
              <a:rPr lang="en-US" b="1" dirty="0" smtClean="0"/>
              <a:t>	REGRESSION </a:t>
            </a:r>
            <a:r>
              <a:rPr lang="en-US" b="1" dirty="0"/>
              <a:t>TESTING</a:t>
            </a:r>
            <a:r>
              <a:rPr lang="en-US" dirty="0"/>
              <a:t> is defined as a type of software testing to confirm that a recent program or code change has not adversely affected existing features.</a:t>
            </a:r>
          </a:p>
          <a:p>
            <a:pPr algn="just">
              <a:lnSpc>
                <a:spcPct val="125000"/>
              </a:lnSpc>
              <a:spcBef>
                <a:spcPts val="600"/>
              </a:spcBef>
              <a:spcAft>
                <a:spcPts val="600"/>
              </a:spcAft>
            </a:pPr>
            <a:r>
              <a:rPr lang="en-US" dirty="0"/>
              <a:t>Regression Testing is nothing but a full or partial selection of already executed test cases which are re-executed to ensure existing functionalities work fine.</a:t>
            </a:r>
          </a:p>
          <a:p>
            <a:pPr algn="just">
              <a:lnSpc>
                <a:spcPct val="125000"/>
              </a:lnSpc>
              <a:spcBef>
                <a:spcPts val="600"/>
              </a:spcBef>
              <a:spcAft>
                <a:spcPts val="600"/>
              </a:spcAft>
            </a:pPr>
            <a:r>
              <a:rPr lang="en-US" dirty="0"/>
              <a:t>This testing is done to make sure that new code changes should not have side effects on the existing functionalities. It ensures that the old code still works once the latest code changes are done</a:t>
            </a:r>
            <a:r>
              <a:rPr lang="en-US" dirty="0" smtClean="0"/>
              <a:t>.</a:t>
            </a:r>
          </a:p>
          <a:p>
            <a:pPr algn="just">
              <a:lnSpc>
                <a:spcPct val="125000"/>
              </a:lnSpc>
              <a:spcBef>
                <a:spcPts val="600"/>
              </a:spcBef>
              <a:spcAft>
                <a:spcPts val="600"/>
              </a:spcAft>
            </a:pPr>
            <a:endParaRPr lang="en-US" dirty="0" smtClean="0"/>
          </a:p>
          <a:p>
            <a:pPr algn="just">
              <a:lnSpc>
                <a:spcPct val="125000"/>
              </a:lnSpc>
              <a:spcBef>
                <a:spcPts val="600"/>
              </a:spcBef>
              <a:spcAft>
                <a:spcPts val="600"/>
              </a:spcAft>
            </a:pPr>
            <a:r>
              <a:rPr lang="en-US" b="1" dirty="0"/>
              <a:t>Need of Regression </a:t>
            </a:r>
            <a:r>
              <a:rPr lang="en-US" b="1" dirty="0" smtClean="0"/>
              <a:t>Testing:</a:t>
            </a:r>
          </a:p>
          <a:p>
            <a:pPr algn="just">
              <a:lnSpc>
                <a:spcPct val="125000"/>
              </a:lnSpc>
              <a:spcBef>
                <a:spcPts val="600"/>
              </a:spcBef>
              <a:spcAft>
                <a:spcPts val="600"/>
              </a:spcAft>
            </a:pPr>
            <a:r>
              <a:rPr lang="en-US" dirty="0" smtClean="0"/>
              <a:t>The</a:t>
            </a:r>
            <a:r>
              <a:rPr lang="en-US" dirty="0"/>
              <a:t> </a:t>
            </a:r>
            <a:r>
              <a:rPr lang="en-US" b="1" dirty="0"/>
              <a:t>Need of Regression Testing</a:t>
            </a:r>
            <a:r>
              <a:rPr lang="en-US" dirty="0"/>
              <a:t> mainly arises whenever there is requirement to change the code and we need to test whether the modified code affects the other part of software application or not. Moreover, regression testing is needed, when a new feature is added to the software application and for defect fixing as well as performance issue fixing.</a:t>
            </a:r>
          </a:p>
          <a:p>
            <a:pPr algn="just">
              <a:lnSpc>
                <a:spcPct val="125000"/>
              </a:lnSpc>
              <a:spcBef>
                <a:spcPts val="600"/>
              </a:spcBef>
              <a:spcAft>
                <a:spcPts val="600"/>
              </a:spcAft>
            </a:pPr>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11790133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15. Regression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4170372"/>
          </a:xfrm>
          <a:prstGeom prst="rect">
            <a:avLst/>
          </a:prstGeom>
          <a:noFill/>
        </p:spPr>
        <p:txBody>
          <a:bodyPr wrap="square" rtlCol="0">
            <a:spAutoFit/>
          </a:bodyPr>
          <a:lstStyle/>
          <a:p>
            <a:pPr algn="just">
              <a:lnSpc>
                <a:spcPct val="125000"/>
              </a:lnSpc>
              <a:spcBef>
                <a:spcPts val="600"/>
              </a:spcBef>
              <a:spcAft>
                <a:spcPts val="600"/>
              </a:spcAft>
            </a:pPr>
            <a:r>
              <a:rPr lang="en-US" b="1" dirty="0"/>
              <a:t>How to do Regression </a:t>
            </a:r>
            <a:r>
              <a:rPr lang="en-US" b="1" dirty="0" smtClean="0"/>
              <a:t>Testing:</a:t>
            </a:r>
          </a:p>
          <a:p>
            <a:pPr algn="just">
              <a:lnSpc>
                <a:spcPct val="125000"/>
              </a:lnSpc>
              <a:spcBef>
                <a:spcPts val="600"/>
              </a:spcBef>
              <a:spcAft>
                <a:spcPts val="600"/>
              </a:spcAft>
            </a:pPr>
            <a:r>
              <a:rPr lang="en-US" dirty="0"/>
              <a:t>In order </a:t>
            </a:r>
            <a:r>
              <a:rPr lang="en-US" b="1" dirty="0"/>
              <a:t>to do Regression Testing</a:t>
            </a:r>
            <a:r>
              <a:rPr lang="en-US" dirty="0"/>
              <a:t> process, we need to first debug the code to identify the bugs. Once the bugs are identified, required changes are made to fix it, then the regression testing is done by selecting relevant test cases from the test suite that covers both modified and affected parts of the code.</a:t>
            </a:r>
          </a:p>
          <a:p>
            <a:pPr algn="just">
              <a:lnSpc>
                <a:spcPct val="125000"/>
              </a:lnSpc>
              <a:spcBef>
                <a:spcPts val="600"/>
              </a:spcBef>
              <a:spcAft>
                <a:spcPts val="600"/>
              </a:spcAft>
            </a:pPr>
            <a:r>
              <a:rPr lang="en-US" dirty="0"/>
              <a:t>Software maintenance is an activity which includes enhancements, error corrections, optimization and deletion of existing features. These modifications may cause the system to work incorrectly. Therefore, Regression Testing becomes necessary. Regression Testing can be carried out using the following techniques:</a:t>
            </a:r>
          </a:p>
          <a:p>
            <a:pPr algn="just">
              <a:lnSpc>
                <a:spcPct val="125000"/>
              </a:lnSpc>
              <a:spcBef>
                <a:spcPts val="600"/>
              </a:spcBef>
              <a:spcAft>
                <a:spcPts val="600"/>
              </a:spcAft>
            </a:pPr>
            <a:endParaRPr lang="en-US" b="1" dirty="0" smtClean="0"/>
          </a:p>
          <a:p>
            <a:pPr algn="just">
              <a:lnSpc>
                <a:spcPct val="125000"/>
              </a:lnSpc>
              <a:spcBef>
                <a:spcPts val="600"/>
              </a:spcBef>
              <a:spcAft>
                <a:spcPts val="600"/>
              </a:spcAft>
            </a:pPr>
            <a:endParaRPr lang="en-US" b="1" dirty="0"/>
          </a:p>
        </p:txBody>
      </p:sp>
      <p:pic>
        <p:nvPicPr>
          <p:cNvPr id="2" name="Picture 1"/>
          <p:cNvPicPr>
            <a:picLocks noChangeAspect="1"/>
          </p:cNvPicPr>
          <p:nvPr/>
        </p:nvPicPr>
        <p:blipFill>
          <a:blip r:embed="rId3"/>
          <a:stretch>
            <a:fillRect/>
          </a:stretch>
        </p:blipFill>
        <p:spPr>
          <a:xfrm>
            <a:off x="4425376" y="4029874"/>
            <a:ext cx="3267531" cy="2457793"/>
          </a:xfrm>
          <a:prstGeom prst="rect">
            <a:avLst/>
          </a:prstGeom>
        </p:spPr>
      </p:pic>
    </p:spTree>
    <p:extLst>
      <p:ext uri="{BB962C8B-B14F-4D97-AF65-F5344CB8AC3E}">
        <p14:creationId xmlns:p14="http://schemas.microsoft.com/office/powerpoint/2010/main" val="11994672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15. Regression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4947508"/>
          </a:xfrm>
          <a:prstGeom prst="rect">
            <a:avLst/>
          </a:prstGeom>
          <a:noFill/>
        </p:spPr>
        <p:txBody>
          <a:bodyPr wrap="square" rtlCol="0">
            <a:spAutoFit/>
          </a:bodyPr>
          <a:lstStyle/>
          <a:p>
            <a:pPr algn="just">
              <a:lnSpc>
                <a:spcPct val="125000"/>
              </a:lnSpc>
              <a:spcBef>
                <a:spcPts val="600"/>
              </a:spcBef>
              <a:spcAft>
                <a:spcPts val="600"/>
              </a:spcAft>
            </a:pPr>
            <a:r>
              <a:rPr lang="en-US" b="1" dirty="0"/>
              <a:t>How to do Regression </a:t>
            </a:r>
            <a:r>
              <a:rPr lang="en-US" b="1" dirty="0" smtClean="0"/>
              <a:t>Testing:</a:t>
            </a:r>
          </a:p>
          <a:p>
            <a:pPr algn="just">
              <a:lnSpc>
                <a:spcPct val="125000"/>
              </a:lnSpc>
              <a:spcBef>
                <a:spcPts val="600"/>
              </a:spcBef>
              <a:spcAft>
                <a:spcPts val="600"/>
              </a:spcAft>
            </a:pPr>
            <a:r>
              <a:rPr lang="en-US" b="1" dirty="0"/>
              <a:t>Retest </a:t>
            </a:r>
            <a:r>
              <a:rPr lang="en-US" b="1" dirty="0" smtClean="0"/>
              <a:t>All: </a:t>
            </a:r>
            <a:r>
              <a:rPr lang="en-US" dirty="0"/>
              <a:t>t</a:t>
            </a:r>
            <a:r>
              <a:rPr lang="en-US" dirty="0" smtClean="0"/>
              <a:t>his </a:t>
            </a:r>
            <a:r>
              <a:rPr lang="en-US" dirty="0"/>
              <a:t>is one of the methods for Regression Testing in which all the tests in the existing test bucket or suite should be re-executed. This is very expensive as it requires huge time and resources</a:t>
            </a:r>
            <a:r>
              <a:rPr lang="en-US" dirty="0" smtClean="0"/>
              <a:t>.</a:t>
            </a:r>
          </a:p>
          <a:p>
            <a:pPr algn="just">
              <a:lnSpc>
                <a:spcPct val="125000"/>
              </a:lnSpc>
              <a:spcBef>
                <a:spcPts val="600"/>
              </a:spcBef>
              <a:spcAft>
                <a:spcPts val="600"/>
              </a:spcAft>
            </a:pPr>
            <a:r>
              <a:rPr lang="en-US" b="1" dirty="0"/>
              <a:t>Regression Test Selection</a:t>
            </a:r>
            <a:r>
              <a:rPr lang="en-US" dirty="0"/>
              <a:t> is a technique in which some selected test cases from test suite are executed to test whether the modified code affects the software application or not. Test cases are categorized into two parts, reusable test cases which can be used in further regression cycles and obsolete test cases which can not be used in succeeding cycles</a:t>
            </a:r>
            <a:r>
              <a:rPr lang="en-US" dirty="0" smtClean="0"/>
              <a:t>.</a:t>
            </a:r>
          </a:p>
          <a:p>
            <a:pPr algn="just">
              <a:lnSpc>
                <a:spcPct val="125000"/>
              </a:lnSpc>
              <a:spcBef>
                <a:spcPts val="600"/>
              </a:spcBef>
              <a:spcAft>
                <a:spcPts val="600"/>
              </a:spcAft>
            </a:pPr>
            <a:r>
              <a:rPr lang="en-US" b="1" dirty="0"/>
              <a:t>Prioritize the test cases </a:t>
            </a:r>
            <a:r>
              <a:rPr lang="en-US" dirty="0"/>
              <a:t>depending on business impact, critical &amp; frequently used functionalities. Selection of test cases based on priority will greatly reduce the regression test suite.</a:t>
            </a:r>
          </a:p>
          <a:p>
            <a:endParaRPr lang="en-US" dirty="0"/>
          </a:p>
          <a:p>
            <a:pPr algn="just">
              <a:lnSpc>
                <a:spcPct val="125000"/>
              </a:lnSpc>
              <a:spcBef>
                <a:spcPts val="600"/>
              </a:spcBef>
              <a:spcAft>
                <a:spcPts val="600"/>
              </a:spcAft>
            </a:pPr>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4610912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15. Regression Testing – P4</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6640279"/>
          </a:xfrm>
          <a:prstGeom prst="rect">
            <a:avLst/>
          </a:prstGeom>
          <a:noFill/>
        </p:spPr>
        <p:txBody>
          <a:bodyPr wrap="square" rtlCol="0">
            <a:spAutoFit/>
          </a:bodyPr>
          <a:lstStyle/>
          <a:p>
            <a:pPr algn="just">
              <a:lnSpc>
                <a:spcPct val="125000"/>
              </a:lnSpc>
              <a:spcAft>
                <a:spcPts val="600"/>
              </a:spcAft>
            </a:pPr>
            <a:r>
              <a:rPr lang="en-US" b="1" dirty="0"/>
              <a:t>Selecting test cases for regression </a:t>
            </a:r>
            <a:r>
              <a:rPr lang="en-US" b="1" dirty="0" smtClean="0"/>
              <a:t>testing:</a:t>
            </a:r>
          </a:p>
          <a:p>
            <a:pPr algn="just">
              <a:lnSpc>
                <a:spcPct val="125000"/>
              </a:lnSpc>
              <a:spcAft>
                <a:spcPts val="600"/>
              </a:spcAft>
            </a:pPr>
            <a:r>
              <a:rPr lang="en-US" dirty="0"/>
              <a:t>It was found from industry data that a good number of the defects reported by customers were due to last minute bug fixes creating side effects and hence selecting the Test Case for regression testing is an art and not that easy.  Effective Regression Tests can be done by selecting the following test </a:t>
            </a:r>
            <a:r>
              <a:rPr lang="en-US" dirty="0" smtClean="0"/>
              <a:t>cases:</a:t>
            </a:r>
            <a:endParaRPr lang="en-US" dirty="0"/>
          </a:p>
          <a:p>
            <a:pPr algn="just">
              <a:lnSpc>
                <a:spcPct val="125000"/>
              </a:lnSpc>
              <a:spcAft>
                <a:spcPts val="600"/>
              </a:spcAft>
            </a:pPr>
            <a:r>
              <a:rPr lang="en-US" dirty="0" smtClean="0"/>
              <a:t>- Test </a:t>
            </a:r>
            <a:r>
              <a:rPr lang="en-US" dirty="0"/>
              <a:t>cases which have frequent defects</a:t>
            </a:r>
          </a:p>
          <a:p>
            <a:pPr algn="just">
              <a:lnSpc>
                <a:spcPct val="125000"/>
              </a:lnSpc>
              <a:spcAft>
                <a:spcPts val="600"/>
              </a:spcAft>
            </a:pPr>
            <a:r>
              <a:rPr lang="en-US" dirty="0" smtClean="0"/>
              <a:t>- Functionalities </a:t>
            </a:r>
            <a:r>
              <a:rPr lang="en-US" dirty="0"/>
              <a:t>which are more visible to the users</a:t>
            </a:r>
          </a:p>
          <a:p>
            <a:pPr algn="just">
              <a:lnSpc>
                <a:spcPct val="125000"/>
              </a:lnSpc>
              <a:spcAft>
                <a:spcPts val="600"/>
              </a:spcAft>
            </a:pPr>
            <a:r>
              <a:rPr lang="en-US" dirty="0" smtClean="0"/>
              <a:t>- Test </a:t>
            </a:r>
            <a:r>
              <a:rPr lang="en-US" dirty="0"/>
              <a:t>cases which verify core features of the product</a:t>
            </a:r>
          </a:p>
          <a:p>
            <a:pPr algn="just">
              <a:lnSpc>
                <a:spcPct val="125000"/>
              </a:lnSpc>
              <a:spcAft>
                <a:spcPts val="600"/>
              </a:spcAft>
            </a:pPr>
            <a:r>
              <a:rPr lang="en-US" dirty="0" smtClean="0"/>
              <a:t>- Test </a:t>
            </a:r>
            <a:r>
              <a:rPr lang="en-US" dirty="0"/>
              <a:t>cases of Functionalities which has undergone more and recent changes</a:t>
            </a:r>
          </a:p>
          <a:p>
            <a:pPr algn="just">
              <a:lnSpc>
                <a:spcPct val="125000"/>
              </a:lnSpc>
              <a:spcAft>
                <a:spcPts val="600"/>
              </a:spcAft>
            </a:pPr>
            <a:r>
              <a:rPr lang="en-US" dirty="0" smtClean="0"/>
              <a:t>- All </a:t>
            </a:r>
            <a:r>
              <a:rPr lang="en-US" dirty="0"/>
              <a:t>Integration Test Cases</a:t>
            </a:r>
          </a:p>
          <a:p>
            <a:pPr algn="just">
              <a:lnSpc>
                <a:spcPct val="125000"/>
              </a:lnSpc>
              <a:spcAft>
                <a:spcPts val="600"/>
              </a:spcAft>
            </a:pPr>
            <a:r>
              <a:rPr lang="en-US" dirty="0" smtClean="0"/>
              <a:t>- All </a:t>
            </a:r>
            <a:r>
              <a:rPr lang="en-US" dirty="0"/>
              <a:t>Complex Test Cases</a:t>
            </a:r>
          </a:p>
          <a:p>
            <a:pPr algn="just">
              <a:lnSpc>
                <a:spcPct val="125000"/>
              </a:lnSpc>
              <a:spcAft>
                <a:spcPts val="600"/>
              </a:spcAft>
            </a:pPr>
            <a:r>
              <a:rPr lang="en-US" dirty="0" smtClean="0"/>
              <a:t>- Boundary </a:t>
            </a:r>
            <a:r>
              <a:rPr lang="en-US" dirty="0"/>
              <a:t>value test cases</a:t>
            </a:r>
          </a:p>
          <a:p>
            <a:pPr algn="just">
              <a:lnSpc>
                <a:spcPct val="125000"/>
              </a:lnSpc>
              <a:spcAft>
                <a:spcPts val="600"/>
              </a:spcAft>
            </a:pPr>
            <a:r>
              <a:rPr lang="en-US" dirty="0" smtClean="0"/>
              <a:t>- A </a:t>
            </a:r>
            <a:r>
              <a:rPr lang="en-US" dirty="0"/>
              <a:t>sample of Successful test cases</a:t>
            </a:r>
          </a:p>
          <a:p>
            <a:pPr algn="just">
              <a:lnSpc>
                <a:spcPct val="125000"/>
              </a:lnSpc>
              <a:spcAft>
                <a:spcPts val="600"/>
              </a:spcAft>
            </a:pPr>
            <a:r>
              <a:rPr lang="en-US" dirty="0" smtClean="0"/>
              <a:t>- A </a:t>
            </a:r>
            <a:r>
              <a:rPr lang="en-US" dirty="0"/>
              <a:t>sample of Failure test cases</a:t>
            </a:r>
          </a:p>
          <a:p>
            <a:endParaRPr lang="en-US" dirty="0"/>
          </a:p>
          <a:p>
            <a:pPr algn="just">
              <a:lnSpc>
                <a:spcPct val="125000"/>
              </a:lnSpc>
              <a:spcBef>
                <a:spcPts val="600"/>
              </a:spcBef>
              <a:spcAft>
                <a:spcPts val="600"/>
              </a:spcAft>
            </a:pPr>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369813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15. Regression Testing – P5</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262432"/>
          </a:xfrm>
          <a:prstGeom prst="rect">
            <a:avLst/>
          </a:prstGeom>
          <a:noFill/>
        </p:spPr>
        <p:txBody>
          <a:bodyPr wrap="square" rtlCol="0">
            <a:spAutoFit/>
          </a:bodyPr>
          <a:lstStyle/>
          <a:p>
            <a:r>
              <a:rPr lang="en-US" b="1" dirty="0"/>
              <a:t>Difference between Re-Testing and Regression Testing:</a:t>
            </a:r>
          </a:p>
          <a:p>
            <a:pPr algn="just">
              <a:lnSpc>
                <a:spcPct val="125000"/>
              </a:lnSpc>
              <a:spcBef>
                <a:spcPts val="600"/>
              </a:spcBef>
              <a:spcAft>
                <a:spcPts val="600"/>
              </a:spcAft>
            </a:pPr>
            <a:r>
              <a:rPr lang="en-US" dirty="0"/>
              <a:t>Retesting means testing the functionality or bug again to ensure the code is fixed. If it is not fixed, Defect needs to be re-opened. If fixed, Defect is closed.</a:t>
            </a:r>
          </a:p>
          <a:p>
            <a:pPr algn="just">
              <a:lnSpc>
                <a:spcPct val="125000"/>
              </a:lnSpc>
              <a:spcBef>
                <a:spcPts val="600"/>
              </a:spcBef>
              <a:spcAft>
                <a:spcPts val="600"/>
              </a:spcAft>
            </a:pPr>
            <a:r>
              <a:rPr lang="en-US" dirty="0"/>
              <a:t>Regression testing means testing your software application when it undergoes a code change to ensure that the new code has not affected other parts of the software.</a:t>
            </a:r>
          </a:p>
          <a:p>
            <a:endParaRPr lang="en-US" dirty="0"/>
          </a:p>
          <a:p>
            <a:pPr algn="just">
              <a:lnSpc>
                <a:spcPct val="125000"/>
              </a:lnSpc>
              <a:spcBef>
                <a:spcPts val="600"/>
              </a:spcBef>
              <a:spcAft>
                <a:spcPts val="600"/>
              </a:spcAft>
            </a:pPr>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20708816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16. Ad hoc Testing – P1</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3162404"/>
          </a:xfrm>
          <a:prstGeom prst="rect">
            <a:avLst/>
          </a:prstGeom>
          <a:noFill/>
        </p:spPr>
        <p:txBody>
          <a:bodyPr wrap="square" rtlCol="0">
            <a:spAutoFit/>
          </a:bodyPr>
          <a:lstStyle/>
          <a:p>
            <a:pPr algn="just"/>
            <a:r>
              <a:rPr lang="en-US" b="1" dirty="0" smtClean="0"/>
              <a:t>	Ad </a:t>
            </a:r>
            <a:r>
              <a:rPr lang="en-US" b="1" dirty="0"/>
              <a:t>hoc Testing</a:t>
            </a:r>
            <a:r>
              <a:rPr lang="en-US" dirty="0"/>
              <a:t> is an informal or unstructured software testing type that aims to break the testing process in order to find possible defects or errors at an early possible stage. Ad hoc testing is done randomly and it is usually an unplanned activity which does not follow any documentation and test design techniques to create test cases.</a:t>
            </a:r>
          </a:p>
          <a:p>
            <a:pPr algn="just">
              <a:lnSpc>
                <a:spcPct val="125000"/>
              </a:lnSpc>
              <a:spcBef>
                <a:spcPts val="600"/>
              </a:spcBef>
              <a:spcAft>
                <a:spcPts val="600"/>
              </a:spcAft>
            </a:pPr>
            <a:r>
              <a:rPr lang="en-US" dirty="0" smtClean="0"/>
              <a:t>	Ad </a:t>
            </a:r>
            <a:r>
              <a:rPr lang="en-US" dirty="0"/>
              <a:t>hoc Testing does not follow any structured way of testing and it is randomly done on any part of application. Main aim of this testing is to find defects by random checking. </a:t>
            </a:r>
            <a:r>
              <a:rPr lang="en-US" dirty="0" smtClean="0"/>
              <a:t>Ad hoc </a:t>
            </a:r>
            <a:r>
              <a:rPr lang="en-US" dirty="0"/>
              <a:t>testing can be achieved with the Software testing technique called </a:t>
            </a:r>
            <a:r>
              <a:rPr lang="en-US" b="1" dirty="0"/>
              <a:t>Error Guessing.</a:t>
            </a:r>
            <a:r>
              <a:rPr lang="en-US" dirty="0"/>
              <a:t> Error guessing can be done by the people having enough experience on the system to "guess" the most likely source of errors.</a:t>
            </a:r>
            <a:endParaRPr lang="en-US" b="1" dirty="0" smtClean="0"/>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13020190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16. Ad hoc Testing – P2</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550971" y="1093316"/>
            <a:ext cx="11016343" cy="1069524"/>
          </a:xfrm>
          <a:prstGeom prst="rect">
            <a:avLst/>
          </a:prstGeom>
          <a:noFill/>
        </p:spPr>
        <p:txBody>
          <a:bodyPr wrap="square" rtlCol="0">
            <a:spAutoFit/>
          </a:bodyPr>
          <a:lstStyle/>
          <a:p>
            <a:r>
              <a:rPr lang="en-US" b="1" dirty="0"/>
              <a:t>Types of </a:t>
            </a:r>
            <a:r>
              <a:rPr lang="en-US" b="1" dirty="0" smtClean="0"/>
              <a:t>Ad hoc </a:t>
            </a:r>
            <a:r>
              <a:rPr lang="en-US" b="1" dirty="0"/>
              <a:t>testing</a:t>
            </a:r>
          </a:p>
          <a:p>
            <a:r>
              <a:rPr lang="en-US" dirty="0"/>
              <a:t>There are different types of </a:t>
            </a:r>
            <a:r>
              <a:rPr lang="en-US" dirty="0" smtClean="0"/>
              <a:t>Ad hoc </a:t>
            </a:r>
            <a:r>
              <a:rPr lang="en-US" dirty="0"/>
              <a:t>testing and they are listed as below:</a:t>
            </a:r>
          </a:p>
          <a:p>
            <a:pPr algn="just">
              <a:lnSpc>
                <a:spcPct val="125000"/>
              </a:lnSpc>
              <a:spcBef>
                <a:spcPts val="600"/>
              </a:spcBef>
              <a:spcAft>
                <a:spcPts val="600"/>
              </a:spcAft>
            </a:pPr>
            <a:endParaRPr lang="en-US" b="1" dirty="0"/>
          </a:p>
        </p:txBody>
      </p:sp>
      <p:graphicFrame>
        <p:nvGraphicFramePr>
          <p:cNvPr id="2" name="Table 1"/>
          <p:cNvGraphicFramePr>
            <a:graphicFrameLocks noGrp="1"/>
          </p:cNvGraphicFramePr>
          <p:nvPr>
            <p:extLst>
              <p:ext uri="{D42A27DB-BD31-4B8C-83A1-F6EECF244321}">
                <p14:modId xmlns:p14="http://schemas.microsoft.com/office/powerpoint/2010/main" val="1735181738"/>
              </p:ext>
            </p:extLst>
          </p:nvPr>
        </p:nvGraphicFramePr>
        <p:xfrm>
          <a:off x="1399822" y="1853936"/>
          <a:ext cx="8128000" cy="4273408"/>
        </p:xfrm>
        <a:graphic>
          <a:graphicData uri="http://schemas.openxmlformats.org/drawingml/2006/table">
            <a:tbl>
              <a:tblPr firstRow="1" bandRow="1">
                <a:tableStyleId>{5C22544A-7EE6-4342-B048-85BDC9FD1C3A}</a:tableStyleId>
              </a:tblPr>
              <a:tblGrid>
                <a:gridCol w="1603022">
                  <a:extLst>
                    <a:ext uri="{9D8B030D-6E8A-4147-A177-3AD203B41FA5}">
                      <a16:colId xmlns:a16="http://schemas.microsoft.com/office/drawing/2014/main" val="2981493616"/>
                    </a:ext>
                  </a:extLst>
                </a:gridCol>
                <a:gridCol w="6524978">
                  <a:extLst>
                    <a:ext uri="{9D8B030D-6E8A-4147-A177-3AD203B41FA5}">
                      <a16:colId xmlns:a16="http://schemas.microsoft.com/office/drawing/2014/main" val="3050456920"/>
                    </a:ext>
                  </a:extLst>
                </a:gridCol>
              </a:tblGrid>
              <a:tr h="1149056">
                <a:tc>
                  <a:txBody>
                    <a:bodyPr/>
                    <a:lstStyle/>
                    <a:p>
                      <a:pPr algn="just" fontAlgn="t"/>
                      <a:r>
                        <a:rPr lang="en-US" b="1" dirty="0">
                          <a:solidFill>
                            <a:schemeClr val="tx1"/>
                          </a:solidFill>
                          <a:effectLst/>
                        </a:rPr>
                        <a:t>Buddy Testing</a:t>
                      </a:r>
                      <a:endParaRPr lang="en-US" dirty="0">
                        <a:solidFill>
                          <a:schemeClr val="tx1"/>
                        </a:solidFill>
                        <a:effectLst/>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fontAlgn="t"/>
                      <a:r>
                        <a:rPr lang="en-US" b="0" dirty="0">
                          <a:solidFill>
                            <a:schemeClr val="tx1"/>
                          </a:solidFill>
                          <a:effectLst/>
                        </a:rPr>
                        <a:t>Two buddies mutually work on identifying defects in the same module. Mostly one buddy will be from development team and another person will be from testing team. Buddy testing helps the testers develop better test cases and development team can also make design changes early. This testing usually happens after </a:t>
                      </a:r>
                      <a:r>
                        <a:rPr lang="en-US" b="0" u="none" strike="noStrike" dirty="0">
                          <a:solidFill>
                            <a:schemeClr val="tx1"/>
                          </a:solidFill>
                          <a:effectLst/>
                        </a:rPr>
                        <a:t>Unit </a:t>
                      </a:r>
                      <a:r>
                        <a:rPr lang="en-US" b="0" u="none" strike="noStrike" dirty="0" smtClean="0">
                          <a:solidFill>
                            <a:schemeClr val="tx1"/>
                          </a:solidFill>
                          <a:effectLst/>
                        </a:rPr>
                        <a:t>Testing</a:t>
                      </a:r>
                      <a:r>
                        <a:rPr lang="en-US" b="0" dirty="0">
                          <a:solidFill>
                            <a:schemeClr val="tx1"/>
                          </a:solidFill>
                          <a:effectLst/>
                        </a:rPr>
                        <a:t> completion.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6376176"/>
                  </a:ext>
                </a:extLst>
              </a:tr>
              <a:tr h="1953395">
                <a:tc>
                  <a:txBody>
                    <a:bodyPr/>
                    <a:lstStyle/>
                    <a:p>
                      <a:pPr algn="just" fontAlgn="t"/>
                      <a:r>
                        <a:rPr lang="en-US" b="1" dirty="0">
                          <a:solidFill>
                            <a:schemeClr val="tx1"/>
                          </a:solidFill>
                          <a:effectLst/>
                        </a:rPr>
                        <a:t>Pair testing</a:t>
                      </a:r>
                      <a:endParaRPr lang="en-US" dirty="0">
                        <a:solidFill>
                          <a:schemeClr val="tx1"/>
                        </a:solidFill>
                        <a:effectLst/>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fontAlgn="t"/>
                      <a:r>
                        <a:rPr lang="en-US" dirty="0">
                          <a:solidFill>
                            <a:schemeClr val="tx1"/>
                          </a:solidFill>
                          <a:effectLst/>
                        </a:rPr>
                        <a:t>Two testers are assigned modules, share ideas and work on the same machines to find defects. One person can execute the tests and another person can take notes on the findings. Roles of the persons can be a tester and scriber </a:t>
                      </a:r>
                      <a:r>
                        <a:rPr lang="en-US" dirty="0" smtClean="0">
                          <a:solidFill>
                            <a:schemeClr val="tx1"/>
                          </a:solidFill>
                          <a:effectLst/>
                        </a:rPr>
                        <a:t>during</a:t>
                      </a:r>
                      <a:r>
                        <a:rPr lang="en-US" baseline="0" dirty="0" smtClean="0">
                          <a:solidFill>
                            <a:schemeClr val="tx1"/>
                          </a:solidFill>
                          <a:effectLst/>
                        </a:rPr>
                        <a:t> testing.</a:t>
                      </a:r>
                    </a:p>
                    <a:p>
                      <a:pPr algn="just" fontAlgn="t"/>
                      <a:endParaRPr lang="en-US" baseline="0" dirty="0" smtClean="0">
                        <a:solidFill>
                          <a:schemeClr val="tx1"/>
                        </a:solidFill>
                        <a:effectLst/>
                      </a:endParaRPr>
                    </a:p>
                    <a:p>
                      <a:pPr algn="just" fontAlgn="t"/>
                      <a:r>
                        <a:rPr lang="en-US" dirty="0" smtClean="0">
                          <a:solidFill>
                            <a:schemeClr val="tx1"/>
                          </a:solidFill>
                          <a:effectLst/>
                        </a:rPr>
                        <a:t>Comparison Buddy and Pair Testing: Buddy testing is combination of unit and System Testing together with developers and testers but Pair testing is done only with the testers with different knowledge levels. (Experienced and non-experienced to share their ideas and views)</a:t>
                      </a:r>
                      <a:endParaRPr lang="en-US" dirty="0">
                        <a:solidFill>
                          <a:schemeClr val="tx1"/>
                        </a:solidFill>
                        <a:effectLst/>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6627176"/>
                  </a:ext>
                </a:extLst>
              </a:tr>
              <a:tr h="981568">
                <a:tc>
                  <a:txBody>
                    <a:bodyPr/>
                    <a:lstStyle/>
                    <a:p>
                      <a:pPr algn="just" fontAlgn="t"/>
                      <a:r>
                        <a:rPr lang="en-US" b="1" u="none" strike="noStrike" dirty="0">
                          <a:solidFill>
                            <a:schemeClr val="tx1"/>
                          </a:solidFill>
                          <a:effectLst/>
                        </a:rPr>
                        <a:t>Monkey Testing</a:t>
                      </a:r>
                      <a:endParaRPr lang="en-US" dirty="0">
                        <a:solidFill>
                          <a:schemeClr val="tx1"/>
                        </a:solidFill>
                        <a:effectLst/>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fontAlgn="t"/>
                      <a:r>
                        <a:rPr lang="en-US" dirty="0">
                          <a:solidFill>
                            <a:schemeClr val="tx1"/>
                          </a:solidFill>
                          <a:effectLst/>
                        </a:rPr>
                        <a:t>Randomly test the product or application without test cases </a:t>
                      </a:r>
                      <a:r>
                        <a:rPr lang="en-US" b="1" dirty="0">
                          <a:solidFill>
                            <a:schemeClr val="tx1"/>
                          </a:solidFill>
                          <a:effectLst/>
                        </a:rPr>
                        <a:t>with a goal to </a:t>
                      </a:r>
                      <a:r>
                        <a:rPr lang="en-US" dirty="0">
                          <a:solidFill>
                            <a:schemeClr val="tx1"/>
                          </a:solidFill>
                          <a:effectLst/>
                        </a:rPr>
                        <a:t>break the system.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6270939"/>
                  </a:ext>
                </a:extLst>
              </a:tr>
            </a:tbl>
          </a:graphicData>
        </a:graphic>
      </p:graphicFrame>
    </p:spTree>
    <p:extLst>
      <p:ext uri="{BB962C8B-B14F-4D97-AF65-F5344CB8AC3E}">
        <p14:creationId xmlns:p14="http://schemas.microsoft.com/office/powerpoint/2010/main" val="29746754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r>
              <a:rPr lang="en-US" sz="3600" dirty="0" smtClean="0"/>
              <a:t>16. Ad hoc Testing – P3</a:t>
            </a:r>
            <a:endParaRPr lang="en-US" sz="36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761993" lvl="1" indent="0">
              <a:lnSpc>
                <a:spcPct val="104000"/>
              </a:lnSpc>
              <a:spcBef>
                <a:spcPts val="0"/>
              </a:spcBef>
              <a:buSzPts val="1500"/>
              <a:buNone/>
            </a:pPr>
            <a:endParaRPr lang="en-US" dirty="0"/>
          </a:p>
          <a:p>
            <a:pPr marL="761993" lvl="1" indent="0">
              <a:lnSpc>
                <a:spcPct val="104000"/>
              </a:lnSpc>
              <a:spcBef>
                <a:spcPts val="0"/>
              </a:spcBef>
              <a:buSzPts val="1500"/>
              <a:buNone/>
            </a:pPr>
            <a:endParaRPr lang="en-US" dirty="0"/>
          </a:p>
        </p:txBody>
      </p:sp>
      <p:sp>
        <p:nvSpPr>
          <p:cNvPr id="6" name="TextBox 5"/>
          <p:cNvSpPr txBox="1"/>
          <p:nvPr/>
        </p:nvSpPr>
        <p:spPr>
          <a:xfrm>
            <a:off x="436595" y="1093316"/>
            <a:ext cx="11016343" cy="5636800"/>
          </a:xfrm>
          <a:prstGeom prst="rect">
            <a:avLst/>
          </a:prstGeom>
          <a:noFill/>
        </p:spPr>
        <p:txBody>
          <a:bodyPr wrap="square" rtlCol="0">
            <a:spAutoFit/>
          </a:bodyPr>
          <a:lstStyle/>
          <a:p>
            <a:pPr algn="just">
              <a:lnSpc>
                <a:spcPct val="125000"/>
              </a:lnSpc>
              <a:spcBef>
                <a:spcPts val="600"/>
              </a:spcBef>
              <a:spcAft>
                <a:spcPts val="600"/>
              </a:spcAft>
            </a:pPr>
            <a:r>
              <a:rPr lang="en-US" b="1" dirty="0"/>
              <a:t>Good business knowledge</a:t>
            </a:r>
          </a:p>
          <a:p>
            <a:pPr algn="just">
              <a:lnSpc>
                <a:spcPct val="125000"/>
              </a:lnSpc>
              <a:spcBef>
                <a:spcPts val="600"/>
              </a:spcBef>
              <a:spcAft>
                <a:spcPts val="600"/>
              </a:spcAft>
            </a:pPr>
            <a:r>
              <a:rPr lang="en-US" dirty="0"/>
              <a:t>Testers should have good knowledge of the business and clear understanding of the requirements- Detailed knowledge of the end to end business process will help find defects easily. Experienced testers find more defects as they are better at error guessing.</a:t>
            </a:r>
          </a:p>
          <a:p>
            <a:pPr algn="just">
              <a:lnSpc>
                <a:spcPct val="125000"/>
              </a:lnSpc>
              <a:spcBef>
                <a:spcPts val="600"/>
              </a:spcBef>
              <a:spcAft>
                <a:spcPts val="600"/>
              </a:spcAft>
            </a:pPr>
            <a:r>
              <a:rPr lang="en-US" b="1" dirty="0"/>
              <a:t>Test Key Modules</a:t>
            </a:r>
          </a:p>
          <a:p>
            <a:pPr algn="just">
              <a:lnSpc>
                <a:spcPct val="125000"/>
              </a:lnSpc>
              <a:spcBef>
                <a:spcPts val="600"/>
              </a:spcBef>
              <a:spcAft>
                <a:spcPts val="600"/>
              </a:spcAft>
            </a:pPr>
            <a:r>
              <a:rPr lang="en-US" dirty="0"/>
              <a:t>Key business modules should be identified and targeted for ad-hoc testing. Business critical modules should be tested first to gain confidence on the quality of the system.</a:t>
            </a:r>
          </a:p>
          <a:p>
            <a:pPr algn="just">
              <a:lnSpc>
                <a:spcPct val="125000"/>
              </a:lnSpc>
              <a:spcBef>
                <a:spcPts val="600"/>
              </a:spcBef>
              <a:spcAft>
                <a:spcPts val="600"/>
              </a:spcAft>
            </a:pPr>
            <a:r>
              <a:rPr lang="en-US" b="1" dirty="0"/>
              <a:t>Record Defects</a:t>
            </a:r>
          </a:p>
          <a:p>
            <a:pPr algn="just">
              <a:lnSpc>
                <a:spcPct val="125000"/>
              </a:lnSpc>
              <a:spcBef>
                <a:spcPts val="600"/>
              </a:spcBef>
              <a:spcAft>
                <a:spcPts val="600"/>
              </a:spcAft>
            </a:pPr>
            <a:r>
              <a:rPr lang="en-US" dirty="0"/>
              <a:t>All defects need to be recorded or written in a notepad. Defects must be assigned to developers for fixing. For each valid defect, corresponding test cases must be written &amp; must be added to planned test cases.</a:t>
            </a:r>
          </a:p>
          <a:p>
            <a:pPr algn="just">
              <a:lnSpc>
                <a:spcPct val="125000"/>
              </a:lnSpc>
              <a:spcBef>
                <a:spcPts val="600"/>
              </a:spcBef>
              <a:spcAft>
                <a:spcPts val="600"/>
              </a:spcAft>
            </a:pPr>
            <a:r>
              <a:rPr lang="en-US" dirty="0"/>
              <a:t>These Defect findings should be made as lesson learned and these should be reflected in our next system while we are planning for test cases.</a:t>
            </a:r>
          </a:p>
          <a:p>
            <a:pPr algn="just">
              <a:lnSpc>
                <a:spcPct val="125000"/>
              </a:lnSpc>
              <a:spcBef>
                <a:spcPts val="600"/>
              </a:spcBef>
              <a:spcAft>
                <a:spcPts val="600"/>
              </a:spcAft>
            </a:pPr>
            <a:endParaRPr lang="en-US" b="1" dirty="0"/>
          </a:p>
        </p:txBody>
      </p:sp>
    </p:spTree>
    <p:extLst>
      <p:ext uri="{BB962C8B-B14F-4D97-AF65-F5344CB8AC3E}">
        <p14:creationId xmlns:p14="http://schemas.microsoft.com/office/powerpoint/2010/main" val="19878474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6000"/>
              <a:buFont typeface="Roboto Condensed"/>
              <a:buNone/>
            </a:pPr>
            <a:r>
              <a:rPr lang="en-US"/>
              <a:t>Thank You!!</a:t>
            </a:r>
            <a:endParaRPr/>
          </a:p>
        </p:txBody>
      </p:sp>
    </p:spTree>
    <p:extLst>
      <p:ext uri="{BB962C8B-B14F-4D97-AF65-F5344CB8AC3E}">
        <p14:creationId xmlns:p14="http://schemas.microsoft.com/office/powerpoint/2010/main" val="68814127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3222</TotalTime>
  <Words>3625</Words>
  <Application>Microsoft Office PowerPoint</Application>
  <PresentationFormat>Widescreen</PresentationFormat>
  <Paragraphs>681</Paragraphs>
  <Slides>82</Slides>
  <Notes>82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82</vt:i4>
      </vt:variant>
    </vt:vector>
  </HeadingPairs>
  <TitlesOfParts>
    <vt:vector size="89" baseType="lpstr">
      <vt:lpstr>ＭＳ ゴシック</vt:lpstr>
      <vt:lpstr>Arial</vt:lpstr>
      <vt:lpstr>Calibri</vt:lpstr>
      <vt:lpstr>Roboto Condensed</vt:lpstr>
      <vt:lpstr>Wingdings</vt:lpstr>
      <vt:lpstr>1_Office Theme</vt:lpstr>
      <vt:lpstr>2_Office Theme</vt:lpstr>
      <vt:lpstr>Testing Overview</vt:lpstr>
      <vt:lpstr>Revision</vt:lpstr>
      <vt:lpstr>Agenda</vt:lpstr>
      <vt:lpstr>1. Software Testing Life Cycle (STLC) – P1</vt:lpstr>
      <vt:lpstr>1. Software Testing Life Cycle (STLC) – P2</vt:lpstr>
      <vt:lpstr>1. Software Testing Life Cycle (STLC) – P3</vt:lpstr>
      <vt:lpstr>1. Software Testing Life Cycle (STLC) – P4</vt:lpstr>
      <vt:lpstr>1. Software Testing Life Cycle (STLC) – P5</vt:lpstr>
      <vt:lpstr>1. Software Testing Life Cycle (STLC) – P6</vt:lpstr>
      <vt:lpstr>1. Software Testing Life Cycle (STLC) – P7</vt:lpstr>
      <vt:lpstr>1. Software Testing Life Cycle (STLC) – P8</vt:lpstr>
      <vt:lpstr>2. Test Case – P1</vt:lpstr>
      <vt:lpstr>2. Test Case – P2</vt:lpstr>
      <vt:lpstr>2. Test Case – P3</vt:lpstr>
      <vt:lpstr>3. Test Suite – P1</vt:lpstr>
      <vt:lpstr>3. Test Suite – P2</vt:lpstr>
      <vt:lpstr>4. Test Scenario – P1</vt:lpstr>
      <vt:lpstr>4. Test Scenario – P2</vt:lpstr>
      <vt:lpstr>5. Defect Life Cycle – P1</vt:lpstr>
      <vt:lpstr>5. Defect Life Cycle – P2</vt:lpstr>
      <vt:lpstr>5. Defect Life Cycle – P3</vt:lpstr>
      <vt:lpstr>5. Defect Life Cycle – P4</vt:lpstr>
      <vt:lpstr>5. Defect Life Cycle – P5</vt:lpstr>
      <vt:lpstr>5. Defect Life Cycle – P6</vt:lpstr>
      <vt:lpstr>5. Defect Life Cycle – P7</vt:lpstr>
      <vt:lpstr>6. Manual Testing – P1</vt:lpstr>
      <vt:lpstr>6. Manual Testing – P2</vt:lpstr>
      <vt:lpstr>6. Manual Testing – P3</vt:lpstr>
      <vt:lpstr>6. Manual Testing – P4</vt:lpstr>
      <vt:lpstr>7. Automation Testing – P1</vt:lpstr>
      <vt:lpstr>7. Automation Testing – P2</vt:lpstr>
      <vt:lpstr>7. Automation Testing – P3</vt:lpstr>
      <vt:lpstr>7. Automation Testing – P4</vt:lpstr>
      <vt:lpstr>7. Automation Testing – P4</vt:lpstr>
      <vt:lpstr>7. Automation Testing – P4</vt:lpstr>
      <vt:lpstr>7. Automation Testing – P5</vt:lpstr>
      <vt:lpstr>7. Automation Testing – P6</vt:lpstr>
      <vt:lpstr>8. Black Box Testing – P1</vt:lpstr>
      <vt:lpstr>8. Black Box Testing – P2</vt:lpstr>
      <vt:lpstr>8. Black Box Testing – P3</vt:lpstr>
      <vt:lpstr>8. Black Box Testing – P4</vt:lpstr>
      <vt:lpstr>8. Black Box Testing – P5</vt:lpstr>
      <vt:lpstr>9. White Box Testing – P1</vt:lpstr>
      <vt:lpstr>9. White Box Testing – P2</vt:lpstr>
      <vt:lpstr>9. White Box Testing – P3</vt:lpstr>
      <vt:lpstr>9. White Box Testing – P4</vt:lpstr>
      <vt:lpstr>9. White Box Testing – P5</vt:lpstr>
      <vt:lpstr>10. Levels of Testing – P1</vt:lpstr>
      <vt:lpstr>10. Levels of Testing – P2</vt:lpstr>
      <vt:lpstr>10. Levels of Testing – P3</vt:lpstr>
      <vt:lpstr>11. Unit Testing – P1</vt:lpstr>
      <vt:lpstr>11. Unit Testing – P2</vt:lpstr>
      <vt:lpstr>11. Unit Testing – P3</vt:lpstr>
      <vt:lpstr>12. Integration Testing – P1</vt:lpstr>
      <vt:lpstr>12. Integration Testing – P2</vt:lpstr>
      <vt:lpstr>12. Integration Testing – P3</vt:lpstr>
      <vt:lpstr>12. Integration Testing – P4</vt:lpstr>
      <vt:lpstr>12. Integration Testing – P5</vt:lpstr>
      <vt:lpstr>12. Integration Testing – P6</vt:lpstr>
      <vt:lpstr>12. Integration Testing – P7</vt:lpstr>
      <vt:lpstr>13. System Testing – P1</vt:lpstr>
      <vt:lpstr>13. System Testing – P2</vt:lpstr>
      <vt:lpstr>13. System Testing – P3</vt:lpstr>
      <vt:lpstr>13. System Testing – P4</vt:lpstr>
      <vt:lpstr>13. System Testing – P5</vt:lpstr>
      <vt:lpstr>14. Acceptance Testing – P1</vt:lpstr>
      <vt:lpstr>14. Acceptance Testing – P2</vt:lpstr>
      <vt:lpstr>14. Acceptance Testing – P3</vt:lpstr>
      <vt:lpstr>14. Acceptance Testing – P4</vt:lpstr>
      <vt:lpstr>14. Acceptance Testing – P5</vt:lpstr>
      <vt:lpstr>14. Acceptance Testing – P6</vt:lpstr>
      <vt:lpstr>14. Acceptance Testing – P7</vt:lpstr>
      <vt:lpstr>14. Acceptance Testing – P8</vt:lpstr>
      <vt:lpstr>15. Regression Testing – P1</vt:lpstr>
      <vt:lpstr>15. Regression Testing – P2</vt:lpstr>
      <vt:lpstr>15. Regression Testing – P3</vt:lpstr>
      <vt:lpstr>15. Regression Testing – P4</vt:lpstr>
      <vt:lpstr>15. Regression Testing – P5</vt:lpstr>
      <vt:lpstr>16. Ad hoc Testing – P1</vt:lpstr>
      <vt:lpstr>16. Ad hoc Testing – P2</vt:lpstr>
      <vt:lpstr>16. Ad hoc Testing – P3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Bash Basic</dc:title>
  <dc:creator>Nguyen Trung Hieu</dc:creator>
  <cp:lastModifiedBy>Pham Ngoc Dinh</cp:lastModifiedBy>
  <cp:revision>336</cp:revision>
  <dcterms:created xsi:type="dcterms:W3CDTF">2020-01-03T03:31:54Z</dcterms:created>
  <dcterms:modified xsi:type="dcterms:W3CDTF">2020-11-03T04:39:52Z</dcterms:modified>
</cp:coreProperties>
</file>